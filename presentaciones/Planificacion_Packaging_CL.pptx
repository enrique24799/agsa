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17"/>
  </p:notesMasterIdLst>
  <p:sldIdLst>
    <p:sldId id="257" r:id="rId6"/>
    <p:sldId id="2964" r:id="rId7"/>
    <p:sldId id="2971" r:id="rId8"/>
    <p:sldId id="2969" r:id="rId9"/>
    <p:sldId id="2975" r:id="rId10"/>
    <p:sldId id="2983" r:id="rId11"/>
    <p:sldId id="2981" r:id="rId12"/>
    <p:sldId id="2985" r:id="rId22"/>
    <p:sldId id="2986" r:id="rId23"/>
    <p:sldId id="2987" r:id="rId24"/>
    <p:sldId id="2982" r:id="rId13"/>
    <p:sldId id="2972" r:id="rId14"/>
    <p:sldId id="2984" r:id="rId15"/>
    <p:sldId id="2963" r:id="rId1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</c:v>
                </c:pt>
              </c:strCache>
            </c:strRef>
          </c:tx>
          <c:spPr>
            <a:ln w="28575">
              <a:solidFill>
                <a:srgbClr val="B14C5A"/>
              </a:solidFill>
            </a:ln>
          </c:spPr>
          <c:marker>
            <c:symbol val="circle"/>
            <c:size val="6"/>
            <c:spPr>
              <a:solidFill>
                <a:srgbClr val="B14C5A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1"/>
              <c:tx>
                <c:rich>
                  <a:bodyPr/>
                  <a:lstStyle/>
                  <a:p>
                    <a:r>
                      <a:t>86%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  <c:pt idx="21">
                  <c:v>Oct 26</c:v>
                </c:pt>
              </c:strCache>
            </c:strRef>
          </c:cat>
          <c:val>
            <c:numRef>
              <c:f>Sheet1!$B$2:$B$23</c:f>
              <c:numCache>
                <c:formatCode>0%</c:formatCode>
                <c:ptCount val="22"/>
                <c:pt idx="0">
                  <c:v>0.61</c:v>
                </c:pt>
                <c:pt idx="1">
                  <c:v>0.68</c:v>
                </c:pt>
                <c:pt idx="2">
                  <c:v>0.59</c:v>
                </c:pt>
                <c:pt idx="3">
                  <c:v>0.53</c:v>
                </c:pt>
                <c:pt idx="4">
                  <c:v>0.61</c:v>
                </c:pt>
                <c:pt idx="5">
                  <c:v>0.57</c:v>
                </c:pt>
                <c:pt idx="6">
                  <c:v>0.61</c:v>
                </c:pt>
                <c:pt idx="7">
                  <c:v>0.57</c:v>
                </c:pt>
                <c:pt idx="8">
                  <c:v>0.5</c:v>
                </c:pt>
                <c:pt idx="9">
                  <c:v>0.48</c:v>
                </c:pt>
                <c:pt idx="10">
                  <c:v>0.52</c:v>
                </c:pt>
                <c:pt idx="11">
                  <c:v>0.54</c:v>
                </c:pt>
                <c:pt idx="12">
                  <c:v>0.59</c:v>
                </c:pt>
                <c:pt idx="13">
                  <c:v>0.52</c:v>
                </c:pt>
                <c:pt idx="14">
                  <c:v>0.55</c:v>
                </c:pt>
                <c:pt idx="15">
                  <c:v>0.67</c:v>
                </c:pt>
                <c:pt idx="16">
                  <c:v>0.65</c:v>
                </c:pt>
                <c:pt idx="17">
                  <c:v>0.69</c:v>
                </c:pt>
                <c:pt idx="18">
                  <c:v>0.72</c:v>
                </c:pt>
                <c:pt idx="19">
                  <c:v>0.62</c:v>
                </c:pt>
                <c:pt idx="20">
                  <c:v>0.86</c:v>
                </c:pt>
                <c:pt idx="21">
                  <c:v>0.86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</c:v>
                </c:pt>
              </c:strCache>
            </c:strRef>
          </c:tx>
          <c:spPr>
            <a:ln w="22225">
              <a:solidFill>
                <a:srgbClr val="1A5DA6"/>
              </a:solidFill>
            </a:ln>
          </c:spPr>
          <c:marker>
            <c:symbol val="circle"/>
            <c:size val="6"/>
            <c:spPr>
              <a:solidFill>
                <a:srgbClr val="1A5DA6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1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  <c:pt idx="21">
                  <c:v>Oct 26</c:v>
                </c:pt>
              </c:strCache>
            </c:strRef>
          </c:cat>
          <c:val>
            <c:numRef>
              <c:f>Sheet1!$C$2:$C$23</c:f>
              <c:numCache>
                <c:formatCode>0%</c:formatCode>
                <c:ptCount val="22"/>
                <c:pt idx="0">
                  <c:v>0.76</c:v>
                </c:pt>
                <c:pt idx="1">
                  <c:v>0.72</c:v>
                </c:pt>
                <c:pt idx="2">
                  <c:v>0.65</c:v>
                </c:pt>
                <c:pt idx="3">
                  <c:v>0.63</c:v>
                </c:pt>
                <c:pt idx="4">
                  <c:v>0.7</c:v>
                </c:pt>
                <c:pt idx="5">
                  <c:v>0.68</c:v>
                </c:pt>
                <c:pt idx="6">
                  <c:v>0.73</c:v>
                </c:pt>
                <c:pt idx="7">
                  <c:v>0.57</c:v>
                </c:pt>
                <c:pt idx="8">
                  <c:v>0.68</c:v>
                </c:pt>
                <c:pt idx="9">
                  <c:v>0.68</c:v>
                </c:pt>
                <c:pt idx="10">
                  <c:v>0.62</c:v>
                </c:pt>
                <c:pt idx="11">
                  <c:v>0.54</c:v>
                </c:pt>
                <c:pt idx="12">
                  <c:v>0.58</c:v>
                </c:pt>
                <c:pt idx="13">
                  <c:v>0.5</c:v>
                </c:pt>
                <c:pt idx="14">
                  <c:v>0.5</c:v>
                </c:pt>
                <c:pt idx="15">
                  <c:v>0.43</c:v>
                </c:pt>
                <c:pt idx="16">
                  <c:v>0.49</c:v>
                </c:pt>
                <c:pt idx="17">
                  <c:v>0.54</c:v>
                </c:pt>
                <c:pt idx="18">
                  <c:v>0.65</c:v>
                </c:pt>
                <c:pt idx="19">
                  <c:v>0.45</c:v>
                </c:pt>
                <c:pt idx="20">
                  <c:v>0.96</c:v>
                </c:pt>
                <c:pt idx="21">
                  <c:v>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</c:v>
                </c:pt>
              </c:strCache>
            </c:strRef>
          </c:tx>
          <c:spPr>
            <a:ln w="22225">
              <a:solidFill>
                <a:srgbClr val="4AA3E3"/>
              </a:solidFill>
            </a:ln>
          </c:spPr>
          <c:marker>
            <c:symbol val="circle"/>
            <c:size val="6"/>
            <c:spPr>
              <a:solidFill>
                <a:srgbClr val="4AA3E3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1"/>
              <c:tx>
                <c:rich>
                  <a:bodyPr/>
                  <a:lstStyle/>
                  <a:p>
                    <a:r>
                      <a:t>78%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  <c:pt idx="21">
                  <c:v>Oct 26</c:v>
                </c:pt>
              </c:strCache>
            </c:strRef>
          </c:cat>
          <c:val>
            <c:numRef>
              <c:f>Sheet1!$D$2:$D$23</c:f>
              <c:numCache>
                <c:formatCode>0%</c:formatCode>
                <c:ptCount val="22"/>
                <c:pt idx="0">
                  <c:v>0.51</c:v>
                </c:pt>
                <c:pt idx="1">
                  <c:v>0.65</c:v>
                </c:pt>
                <c:pt idx="2">
                  <c:v>0.55</c:v>
                </c:pt>
                <c:pt idx="3">
                  <c:v>0.46</c:v>
                </c:pt>
                <c:pt idx="4">
                  <c:v>0.55</c:v>
                </c:pt>
                <c:pt idx="5">
                  <c:v>0.51</c:v>
                </c:pt>
                <c:pt idx="6">
                  <c:v>0.53</c:v>
                </c:pt>
                <c:pt idx="7">
                  <c:v>0.57</c:v>
                </c:pt>
                <c:pt idx="8">
                  <c:v>0.37</c:v>
                </c:pt>
                <c:pt idx="9">
                  <c:v>0.38</c:v>
                </c:pt>
                <c:pt idx="10">
                  <c:v>0.44</c:v>
                </c:pt>
                <c:pt idx="11">
                  <c:v>0.54</c:v>
                </c:pt>
                <c:pt idx="12">
                  <c:v>0.59</c:v>
                </c:pt>
                <c:pt idx="13">
                  <c:v>0.54</c:v>
                </c:pt>
                <c:pt idx="14">
                  <c:v>0.59</c:v>
                </c:pt>
                <c:pt idx="15">
                  <c:v>0.79</c:v>
                </c:pt>
                <c:pt idx="16">
                  <c:v>0.72</c:v>
                </c:pt>
                <c:pt idx="17">
                  <c:v>0.78</c:v>
                </c:pt>
                <c:pt idx="18">
                  <c:v>0.77</c:v>
                </c:pt>
                <c:pt idx="19">
                  <c:v>0.78</c:v>
                </c:pt>
                <c:pt idx="20">
                  <c:v>0.82</c:v>
                </c:pt>
                <c:pt idx="21">
                  <c:v>0.78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FE5"/>
            </a:solidFill>
          </a:ln>
        </c:spPr>
        <c:crossAx val="2140495176"/>
        <c:crosses val="autoZero"/>
        <c:auto val="1"/>
        <c:lblAlgn val="ctr"/>
        <c:lblOffset val="100"/>
        <c:tickLblSkip val="3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E3E8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5B6B78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theme" Target="../theme/theme2.xml"/><Relationship Id="rId8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boxopen_white.png"/><Relationship Id="rId3" Type="http://schemas.openxmlformats.org/officeDocument/2006/relationships/image" Target="../media/icon_boxopen_white.png"/><Relationship Id="rId4" Type="http://schemas.openxmlformats.org/officeDocument/2006/relationships/image" Target="../media/icon_industry_white.png"/><Relationship Id="rId5" Type="http://schemas.openxmlformats.org/officeDocument/2006/relationships/image" Target="../media/icon_industry_white.png"/><Relationship Id="rId6" Type="http://schemas.openxmlformats.org/officeDocument/2006/relationships/image" Target="../media/icon_sync_navy.png"/><Relationship Id="rId7" Type="http://schemas.openxmlformats.org/officeDocument/2006/relationships/image" Target="../media/icon_eye_navy.png"/><Relationship Id="rId8" Type="http://schemas.openxmlformats.org/officeDocument/2006/relationships/image" Target="../media/icon_link_navy.png"/><Relationship Id="rId9" Type="http://schemas.openxmlformats.org/officeDocument/2006/relationships/image" Target="../media/icon_warehouse_navy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industry_white.png"/><Relationship Id="rId4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puzzle_white.png"/><Relationship Id="rId4" Type="http://schemas.openxmlformats.org/officeDocument/2006/relationships/image" Target="../media/icon_usersclock_white.png"/><Relationship Id="rId5" Type="http://schemas.openxmlformats.org/officeDocument/2006/relationships/image" Target="../media/icon_check_white.png"/><Relationship Id="rId6" Type="http://schemas.openxmlformats.org/officeDocument/2006/relationships/image" Target="../media/icon_check_white.png"/><Relationship Id="rId7" Type="http://schemas.openxmlformats.org/officeDocument/2006/relationships/image" Target="../media/icon_check_white.png"/><Relationship Id="rId8" Type="http://schemas.openxmlformats.org/officeDocument/2006/relationships/image" Target="../media/icon_check_white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716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71600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9628632" y="162763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2395728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777240" y="257860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10" name="Shape 10"/>
          <p:cNvSpPr txBox="1"/>
          <p:nvPr/>
        </p:nvSpPr>
        <p:spPr>
          <a:xfrm>
            <a:off x="1463040" y="2395728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1" name="Shape 11"/>
          <p:cNvSpPr txBox="1"/>
          <p:nvPr/>
        </p:nvSpPr>
        <p:spPr>
          <a:xfrm>
            <a:off x="4206240" y="239572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12" name="Shape 12"/>
          <p:cNvSpPr/>
          <p:nvPr/>
        </p:nvSpPr>
        <p:spPr>
          <a:xfrm>
            <a:off x="9628632" y="26517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13" name="Shape 13"/>
          <p:cNvSpPr/>
          <p:nvPr/>
        </p:nvSpPr>
        <p:spPr>
          <a:xfrm>
            <a:off x="548640" y="3419856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602736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1463040" y="3419856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16" name="Shape 16"/>
          <p:cNvSpPr txBox="1"/>
          <p:nvPr/>
        </p:nvSpPr>
        <p:spPr>
          <a:xfrm>
            <a:off x="4206240" y="3419856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Papeleras: integración intercompany, SIGPA y Papresa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548640" y="4443984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777240" y="4626864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19" name="Shape 19"/>
          <p:cNvSpPr txBox="1"/>
          <p:nvPr/>
        </p:nvSpPr>
        <p:spPr>
          <a:xfrm>
            <a:off x="1463040" y="4443984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Anexo</a:t>
            </a:r>
            <a:endParaRPr lang="es-ES" sz="1600" dirty="0"/>
          </a:p>
        </p:txBody>
      </p:sp>
      <p:sp>
        <p:nvSpPr>
          <p:cNvPr id="20" name="Shape 20"/>
          <p:cNvSpPr txBox="1"/>
          <p:nvPr/>
        </p:nvSpPr>
        <p:spPr>
          <a:xfrm>
            <a:off x="4206240" y="4443984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Próximos pasos detallados y proyectos 2027</a:t>
            </a:r>
            <a:endParaRPr lang="es-ES" sz="1100" dirty="0"/>
          </a:p>
        </p:txBody>
      </p:sp>
      <p:sp>
        <p:nvSpPr>
          <p:cNvPr id="21" name="Shape 2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547872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535424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029200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Próximos pasos detallados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60" name="Shape 6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Cajas de cartón · onduladora y converting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Ondupack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6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Velocidades objetivo de onduladora y converting, con propuesta según las reales; calendario de turnos, días y paradas por máquina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5F7F8"/>
          </a:solidFill>
          <a:ln w="1587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AA9B4"/>
                </a:solidFill>
                <a:latin typeface="Montserrat"/>
                <a:cs typeface="Montserrat"/>
              </a:rPr>
              <a:t>SIN ABORDAR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Se planifica contra los pedidos de cartera; sin desarrollos de previsión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dirty="0" err="1">
                <a:solidFill>
                  <a:srgbClr val="00263A"/>
                </a:solidFill>
                <a:latin typeface="Montserrat"/>
                <a:cs typeface="Montserrat"/>
              </a:rPr>
              <a:t>Visualización</a:t>
            </a:r>
            <a:r>
              <a:rPr lang="es-ES" sz="900" dirty="0">
                <a:solidFill>
                  <a:srgbClr val="00263A"/>
                </a:solidFill>
                <a:latin typeface="Montserrat"/>
                <a:cs typeface="Montserrat"/>
              </a:rPr>
              <a:t> </a:t>
            </a: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pendientes y selección hacia Combiplan, el pool de pedidos que combinan bien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Faltas de cartón para converting detectadas en el control de producción, con su efecto en fechas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5" name="Shape 35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6" name="Shape 36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Carga diaria por máquina (lanzado y cartera) y saturación prevista de los almacenes de WIP y producto terminado</a:t>
            </a:r>
            <a:endParaRPr lang="es-ES" sz="900" dirty="0"/>
          </a:p>
        </p:txBody>
      </p:sp>
      <p:sp>
        <p:nvSpPr>
          <p:cNvPr id="37" name="Shape 37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8" name="Shape 38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9" name="Shape 39"/>
          <p:cNvSpPr/>
          <p:nvPr/>
        </p:nvSpPr>
        <p:spPr>
          <a:xfrm>
            <a:off x="9015984" y="4041648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Fechas de inicio y fin con velocidades y tiempos de cambio reales; combinación de pedidos en Combiplan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automática (propuesta 2027)</a:t>
            </a:r>
            <a:endParaRPr lang="es-ES" sz="9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7" name="Shape 47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8" name="Shape 48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sobre la carga de capacidad de cada máquina</a:t>
            </a:r>
            <a:endParaRPr lang="es-ES" sz="900" dirty="0"/>
          </a:p>
        </p:txBody>
      </p:sp>
      <p:sp>
        <p:nvSpPr>
          <p:cNvPr id="50" name="Shape 50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1" name="Shape 51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3" name="Shape 53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4" name="Shape 54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55" name="Shape 55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OEE por máquina (disponibilidad, rendimiento y calidad), con propuestas según los valores reales</a:t>
            </a:r>
            <a:endParaRPr lang="es-ES" sz="900" dirty="0"/>
          </a:p>
        </p:txBody>
      </p:sp>
      <p:sp>
        <p:nvSpPr>
          <p:cNvPr id="56" name="Shape 56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7" name="Shape 57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Proyectos 2027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integración de necesidades con Ondupack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Integración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PROYECTO INTERCOMPANY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250" b="1" i="0" dirty="0">
                <a:solidFill>
                  <a:srgbClr val="98C9EB"/>
                </a:solidFill>
                <a:latin typeface="Montserrat"/>
                <a:cs typeface="Montserrat"/>
              </a:rPr>
              <a:t>Objetivo:  </a:t>
            </a: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un sistema pull para que Ondupack Almendralejo y Navalmoral no rompan stock en sus referencias planificadas, abastecidas por MGT y PDA.</a:t>
            </a:r>
            <a:endParaRPr lang="es-ES" sz="1250" dirty="0"/>
          </a:p>
        </p:txBody>
      </p:sp>
      <p:sp>
        <p:nvSpPr>
          <p:cNvPr id="5" name="Shape 5"/>
          <p:cNvSpPr txBox="1"/>
          <p:nvPr/>
        </p:nvSpPr>
        <p:spPr>
          <a:xfrm>
            <a:off x="548640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CARTONERAS · CONSUMEN PAPEL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8805672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PAPELERAS · SUMINISTRAN</a:t>
            </a:r>
            <a:endParaRPr lang="es-ES" sz="850" dirty="0"/>
          </a:p>
        </p:txBody>
      </p:sp>
      <p:sp>
        <p:nvSpPr>
          <p:cNvPr id="7" name="Shape 7"/>
          <p:cNvSpPr/>
          <p:nvPr/>
        </p:nvSpPr>
        <p:spPr>
          <a:xfrm>
            <a:off x="548640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8" name="Shape 8"/>
          <p:cNvSpPr/>
          <p:nvPr/>
        </p:nvSpPr>
        <p:spPr>
          <a:xfrm>
            <a:off x="685800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9" name="Icono 9" descr="Icono boxop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20340"/>
            <a:ext cx="219456" cy="219456"/>
          </a:xfrm>
          <a:prstGeom prst="rect">
            <a:avLst/>
          </a:prstGeom>
        </p:spPr>
      </p:pic>
      <p:sp>
        <p:nvSpPr>
          <p:cNvPr id="10" name="Shape 10"/>
          <p:cNvSpPr txBox="1"/>
          <p:nvPr/>
        </p:nvSpPr>
        <p:spPr>
          <a:xfrm>
            <a:off x="1261872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Almendralejo</a:t>
            </a:r>
            <a:endParaRPr lang="es-ES" sz="1150" dirty="0"/>
          </a:p>
        </p:txBody>
      </p:sp>
      <p:sp>
        <p:nvSpPr>
          <p:cNvPr id="11" name="Shape 11"/>
          <p:cNvSpPr txBox="1"/>
          <p:nvPr/>
        </p:nvSpPr>
        <p:spPr>
          <a:xfrm>
            <a:off x="1261872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2" name="Shape 12"/>
          <p:cNvSpPr/>
          <p:nvPr/>
        </p:nvSpPr>
        <p:spPr>
          <a:xfrm>
            <a:off x="548640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685800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4" name="Icono 14" descr="Icono box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543300"/>
            <a:ext cx="219456" cy="219456"/>
          </a:xfrm>
          <a:prstGeom prst="rect">
            <a:avLst/>
          </a:prstGeom>
        </p:spPr>
      </p:pic>
      <p:sp>
        <p:nvSpPr>
          <p:cNvPr id="15" name="Shape 15"/>
          <p:cNvSpPr txBox="1"/>
          <p:nvPr/>
        </p:nvSpPr>
        <p:spPr>
          <a:xfrm>
            <a:off x="1261872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Navalmoral</a:t>
            </a:r>
            <a:endParaRPr lang="es-ES" sz="1150" dirty="0"/>
          </a:p>
        </p:txBody>
      </p:sp>
      <p:sp>
        <p:nvSpPr>
          <p:cNvPr id="16" name="Shape 16"/>
          <p:cNvSpPr txBox="1"/>
          <p:nvPr/>
        </p:nvSpPr>
        <p:spPr>
          <a:xfrm>
            <a:off x="1261872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7" name="Shape 17"/>
          <p:cNvSpPr/>
          <p:nvPr/>
        </p:nvSpPr>
        <p:spPr>
          <a:xfrm>
            <a:off x="8805672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8942832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9" name="Icono 19" descr="Icono indust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720340"/>
            <a:ext cx="219456" cy="219456"/>
          </a:xfrm>
          <a:prstGeom prst="rect">
            <a:avLst/>
          </a:prstGeom>
        </p:spPr>
      </p:pic>
      <p:sp>
        <p:nvSpPr>
          <p:cNvPr id="20" name="Shape 20"/>
          <p:cNvSpPr txBox="1"/>
          <p:nvPr/>
        </p:nvSpPr>
        <p:spPr>
          <a:xfrm>
            <a:off x="9518904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MGT</a:t>
            </a:r>
            <a:endParaRPr lang="es-ES" sz="1150" dirty="0"/>
          </a:p>
        </p:txBody>
      </p:sp>
      <p:sp>
        <p:nvSpPr>
          <p:cNvPr id="21" name="Shape 21"/>
          <p:cNvSpPr txBox="1"/>
          <p:nvPr/>
        </p:nvSpPr>
        <p:spPr>
          <a:xfrm>
            <a:off x="9518904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8805672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8942832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indust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543300"/>
            <a:ext cx="219456" cy="219456"/>
          </a:xfrm>
          <a:prstGeom prst="rect">
            <a:avLst/>
          </a:prstGeom>
        </p:spPr>
      </p:pic>
      <p:sp>
        <p:nvSpPr>
          <p:cNvPr id="25" name="Shape 25"/>
          <p:cNvSpPr txBox="1"/>
          <p:nvPr/>
        </p:nvSpPr>
        <p:spPr>
          <a:xfrm>
            <a:off x="9518904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PDA</a:t>
            </a:r>
            <a:endParaRPr lang="es-ES" sz="1150" dirty="0"/>
          </a:p>
        </p:txBody>
      </p:sp>
      <p:sp>
        <p:nvSpPr>
          <p:cNvPr id="26" name="Shape 26"/>
          <p:cNvSpPr txBox="1"/>
          <p:nvPr/>
        </p:nvSpPr>
        <p:spPr>
          <a:xfrm>
            <a:off x="9518904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7" name="Shape 27"/>
          <p:cNvSpPr/>
          <p:nvPr/>
        </p:nvSpPr>
        <p:spPr>
          <a:xfrm>
            <a:off x="4206240" y="2487168"/>
            <a:ext cx="3776472" cy="1508760"/>
          </a:xfrm>
          <a:prstGeom prst="roundRect">
            <a:avLst>
              <a:gd name="adj" fmla="val 484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8" name="Shape 28"/>
          <p:cNvSpPr/>
          <p:nvPr/>
        </p:nvSpPr>
        <p:spPr>
          <a:xfrm>
            <a:off x="4434840" y="267004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9" name="Icono 29" descr="Icono syn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9140" y="2784348"/>
            <a:ext cx="228600" cy="228600"/>
          </a:xfrm>
          <a:prstGeom prst="rect">
            <a:avLst/>
          </a:prstGeom>
        </p:spPr>
      </p:pic>
      <p:sp>
        <p:nvSpPr>
          <p:cNvPr id="30" name="Shape 30"/>
          <p:cNvSpPr txBox="1"/>
          <p:nvPr/>
        </p:nvSpPr>
        <p:spPr>
          <a:xfrm>
            <a:off x="5029200" y="2670048"/>
            <a:ext cx="27706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SAP · Integración de necesidades</a:t>
            </a:r>
            <a:endParaRPr lang="es-ES" sz="1200" dirty="0"/>
          </a:p>
        </p:txBody>
      </p:sp>
      <p:sp>
        <p:nvSpPr>
          <p:cNvPr id="31" name="Shape 31"/>
          <p:cNvSpPr txBox="1"/>
          <p:nvPr/>
        </p:nvSpPr>
        <p:spPr>
          <a:xfrm>
            <a:off x="4480560" y="3236976"/>
            <a:ext cx="331927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Mapeo de materiales y mínimos/máximos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Trigger automático de necesidad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Pedidos de compra y venta mapeados, en Salesforce</a:t>
            </a:r>
            <a:endParaRPr lang="es-ES" sz="950" dirty="0"/>
          </a:p>
        </p:txBody>
      </p:sp>
      <p:cxnSp>
        <p:nvCxnSpPr>
          <p:cNvPr id="32" name="Conector 32"/>
          <p:cNvCxnSpPr/>
          <p:nvPr/>
        </p:nvCxnSpPr>
        <p:spPr>
          <a:xfrm>
            <a:off x="3383280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3" name="Conector 33"/>
          <p:cNvCxnSpPr/>
          <p:nvPr/>
        </p:nvCxnSpPr>
        <p:spPr>
          <a:xfrm>
            <a:off x="3794760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4" name="Conector 34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5" name="Conector 35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 flipV="1">
            <a:off x="8394192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7" name="Conector 37"/>
          <p:cNvCxnSpPr/>
          <p:nvPr/>
        </p:nvCxnSpPr>
        <p:spPr>
          <a:xfrm>
            <a:off x="8394192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3383280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 flipV="1">
            <a:off x="3794760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>
            <a:off x="8394192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394192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 flipH="1">
            <a:off x="3520440" y="4224528"/>
            <a:ext cx="5148072" cy="0"/>
          </a:xfrm>
          <a:prstGeom prst="straightConnector1">
            <a:avLst/>
          </a:prstGeom>
          <a:ln w="25400" cap="rnd">
            <a:solidFill>
              <a:srgbClr val="00263A"/>
            </a:solidFill>
            <a:tailEnd type="triangle" w="med" len="med"/>
          </a:ln>
        </p:spPr>
      </p:cxnSp>
      <p:sp>
        <p:nvSpPr>
          <p:cNvPr id="45" name="Shape 45"/>
          <p:cNvSpPr txBox="1"/>
          <p:nvPr/>
        </p:nvSpPr>
        <p:spPr>
          <a:xfrm>
            <a:off x="3383280" y="4279392"/>
            <a:ext cx="54223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Suministro de papel contra pedido</a:t>
            </a:r>
            <a:endParaRPr lang="es-ES" sz="900" dirty="0"/>
          </a:p>
        </p:txBody>
      </p:sp>
      <p:sp>
        <p:nvSpPr>
          <p:cNvPr id="46" name="Shape 46"/>
          <p:cNvSpPr/>
          <p:nvPr/>
        </p:nvSpPr>
        <p:spPr>
          <a:xfrm>
            <a:off x="548640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8" name="Icono 48" descr="Icono ey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49" name="Shape 49"/>
          <p:cNvSpPr txBox="1"/>
          <p:nvPr/>
        </p:nvSpPr>
        <p:spPr>
          <a:xfrm>
            <a:off x="1325880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Visibilidad completa</a:t>
            </a:r>
            <a:endParaRPr lang="es-ES" sz="1100" dirty="0"/>
          </a:p>
        </p:txBody>
      </p:sp>
      <p:sp>
        <p:nvSpPr>
          <p:cNvPr id="50" name="Shape 50"/>
          <p:cNvSpPr txBox="1"/>
          <p:nvPr/>
        </p:nvSpPr>
        <p:spPr>
          <a:xfrm>
            <a:off x="1325880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Stock propio y externo, mínimos, máximos y propuestas de carga por material.</a:t>
            </a:r>
            <a:endParaRPr lang="es-ES" sz="850" dirty="0"/>
          </a:p>
        </p:txBody>
      </p:sp>
      <p:sp>
        <p:nvSpPr>
          <p:cNvPr id="51" name="Shape 51"/>
          <p:cNvSpPr/>
          <p:nvPr/>
        </p:nvSpPr>
        <p:spPr>
          <a:xfrm>
            <a:off x="4322064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04944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3" name="Icono 53" descr="Icono lin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9244" y="4942332"/>
            <a:ext cx="228600" cy="228600"/>
          </a:xfrm>
          <a:prstGeom prst="rect">
            <a:avLst/>
          </a:prstGeom>
        </p:spPr>
      </p:pic>
      <p:sp>
        <p:nvSpPr>
          <p:cNvPr id="54" name="Shape 54"/>
          <p:cNvSpPr txBox="1"/>
          <p:nvPr/>
        </p:nvSpPr>
        <p:spPr>
          <a:xfrm>
            <a:off x="5099304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Pedidos automáticos y trazables</a:t>
            </a:r>
            <a:endParaRPr lang="es-ES" sz="1100" dirty="0"/>
          </a:p>
        </p:txBody>
      </p:sp>
      <p:sp>
        <p:nvSpPr>
          <p:cNvPr id="55" name="Shape 55"/>
          <p:cNvSpPr txBox="1"/>
          <p:nvPr/>
        </p:nvSpPr>
        <p:spPr>
          <a:xfrm>
            <a:off x="5099304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Compra y venta se generan solos, mapeados entre plantas y visibles en Salesforce.</a:t>
            </a:r>
            <a:endParaRPr lang="es-ES" sz="850" dirty="0"/>
          </a:p>
        </p:txBody>
      </p:sp>
      <p:sp>
        <p:nvSpPr>
          <p:cNvPr id="56" name="Shape 56"/>
          <p:cNvSpPr/>
          <p:nvPr/>
        </p:nvSpPr>
        <p:spPr>
          <a:xfrm>
            <a:off x="8095488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278368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8" name="Icono 58" descr="Icono warehou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668" y="4942332"/>
            <a:ext cx="228600" cy="228600"/>
          </a:xfrm>
          <a:prstGeom prst="rect">
            <a:avLst/>
          </a:prstGeom>
        </p:spPr>
      </p:pic>
      <p:sp>
        <p:nvSpPr>
          <p:cNvPr id="59" name="Shape 59"/>
          <p:cNvSpPr txBox="1"/>
          <p:nvPr/>
        </p:nvSpPr>
        <p:spPr>
          <a:xfrm>
            <a:off x="8872728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Papeleras que se anticipan</a:t>
            </a:r>
            <a:endParaRPr lang="es-ES" sz="1100" dirty="0"/>
          </a:p>
        </p:txBody>
      </p:sp>
      <p:sp>
        <p:nvSpPr>
          <p:cNvPr id="60" name="Shape 60"/>
          <p:cNvSpPr txBox="1"/>
          <p:nvPr/>
        </p:nvSpPr>
        <p:spPr>
          <a:xfrm>
            <a:off x="8872728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Planifican contra pedidos de stock y reservan el material para las cartoneras.</a:t>
            </a:r>
            <a:endParaRPr lang="es-ES" sz="850" dirty="0"/>
          </a:p>
        </p:txBody>
      </p:sp>
      <p:sp>
        <p:nvSpPr>
          <p:cNvPr id="61" name="Shape 6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Flujo del pull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PULL SYSTEM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548640" y="132588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" name="Shape 6"/>
          <p:cNvSpPr txBox="1"/>
          <p:nvPr/>
        </p:nvSpPr>
        <p:spPr>
          <a:xfrm>
            <a:off x="713232" y="160020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Cartoneras</a:t>
            </a:r>
            <a:endParaRPr lang="es-ES" sz="1250" dirty="0"/>
          </a:p>
        </p:txBody>
      </p:sp>
      <p:sp>
        <p:nvSpPr>
          <p:cNvPr id="7" name="Shape 7"/>
          <p:cNvSpPr txBox="1"/>
          <p:nvPr/>
        </p:nvSpPr>
        <p:spPr>
          <a:xfrm>
            <a:off x="713232" y="1892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98C9EB"/>
                </a:solidFill>
                <a:latin typeface="Montserrat"/>
                <a:cs typeface="Montserrat"/>
              </a:rPr>
              <a:t>Ondupack Almendralejo · Navalmoral</a:t>
            </a:r>
            <a:endParaRPr lang="es-ES" sz="800" dirty="0"/>
          </a:p>
        </p:txBody>
      </p:sp>
      <p:sp>
        <p:nvSpPr>
          <p:cNvPr id="8" name="Shape 8"/>
          <p:cNvSpPr/>
          <p:nvPr/>
        </p:nvSpPr>
        <p:spPr>
          <a:xfrm>
            <a:off x="548640" y="2542032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548640" y="2542032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98C9EB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0" name="Shape 10"/>
          <p:cNvSpPr txBox="1"/>
          <p:nvPr/>
        </p:nvSpPr>
        <p:spPr>
          <a:xfrm>
            <a:off x="713232" y="281635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SAP</a:t>
            </a:r>
            <a:endParaRPr lang="es-ES" sz="1250" dirty="0"/>
          </a:p>
        </p:txBody>
      </p:sp>
      <p:sp>
        <p:nvSpPr>
          <p:cNvPr id="11" name="Shape 11"/>
          <p:cNvSpPr txBox="1"/>
          <p:nvPr/>
        </p:nvSpPr>
        <p:spPr>
          <a:xfrm>
            <a:off x="713232" y="31089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244C5A"/>
                </a:solidFill>
                <a:latin typeface="Montserrat"/>
                <a:cs typeface="Montserrat"/>
              </a:rPr>
              <a:t>Integración intercompany</a:t>
            </a:r>
            <a:endParaRPr lang="es-ES" sz="800" dirty="0"/>
          </a:p>
        </p:txBody>
      </p:sp>
      <p:sp>
        <p:nvSpPr>
          <p:cNvPr id="12" name="Shape 12"/>
          <p:cNvSpPr/>
          <p:nvPr/>
        </p:nvSpPr>
        <p:spPr>
          <a:xfrm>
            <a:off x="548640" y="3758184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548640" y="3758184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244C5A"/>
          </a:solidFill>
          <a:ln w="9525">
            <a:solidFill>
              <a:srgbClr val="244C5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 txBox="1"/>
          <p:nvPr/>
        </p:nvSpPr>
        <p:spPr>
          <a:xfrm>
            <a:off x="713232" y="40325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Papeleras</a:t>
            </a:r>
            <a:endParaRPr lang="es-ES" sz="1250" dirty="0"/>
          </a:p>
        </p:txBody>
      </p:sp>
      <p:sp>
        <p:nvSpPr>
          <p:cNvPr id="15" name="Shape 15"/>
          <p:cNvSpPr txBox="1"/>
          <p:nvPr/>
        </p:nvSpPr>
        <p:spPr>
          <a:xfrm>
            <a:off x="713232" y="43251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DCE7EF"/>
                </a:solidFill>
                <a:latin typeface="Montserrat"/>
                <a:cs typeface="Montserrat"/>
              </a:rPr>
              <a:t>MGT · PDA</a:t>
            </a:r>
            <a:endParaRPr lang="es-ES" sz="800" dirty="0"/>
          </a:p>
        </p:txBody>
      </p:sp>
      <p:sp>
        <p:nvSpPr>
          <p:cNvPr id="16" name="Shape 16"/>
          <p:cNvSpPr/>
          <p:nvPr/>
        </p:nvSpPr>
        <p:spPr>
          <a:xfrm>
            <a:off x="2212848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7" name="Shape 17"/>
          <p:cNvSpPr/>
          <p:nvPr/>
        </p:nvSpPr>
        <p:spPr>
          <a:xfrm>
            <a:off x="2304288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8" name="Shape 18"/>
          <p:cNvSpPr txBox="1"/>
          <p:nvPr/>
        </p:nvSpPr>
        <p:spPr>
          <a:xfrm>
            <a:off x="2304288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Fijan mínimo y máximo por referencia</a:t>
            </a:r>
            <a:endParaRPr lang="es-ES" sz="850" dirty="0"/>
          </a:p>
        </p:txBody>
      </p:sp>
      <p:sp>
        <p:nvSpPr>
          <p:cNvPr id="19" name="Shape 19"/>
          <p:cNvSpPr/>
          <p:nvPr/>
        </p:nvSpPr>
        <p:spPr>
          <a:xfrm>
            <a:off x="3765804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0" name="Shape 20"/>
          <p:cNvSpPr/>
          <p:nvPr/>
        </p:nvSpPr>
        <p:spPr>
          <a:xfrm>
            <a:off x="3857244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21" name="Shape 21"/>
          <p:cNvSpPr txBox="1"/>
          <p:nvPr/>
        </p:nvSpPr>
        <p:spPr>
          <a:xfrm>
            <a:off x="3857244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Stock bajo mínimo: calcula la necesidad y propone la carga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5318760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5410200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4" name="Shape 24"/>
          <p:cNvSpPr txBox="1"/>
          <p:nvPr/>
        </p:nvSpPr>
        <p:spPr>
          <a:xfrm>
            <a:off x="5410200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Crea pedidos de compra y venta mapeados, en Salesforce</a:t>
            </a:r>
            <a:endParaRPr lang="es-ES" sz="850" dirty="0"/>
          </a:p>
        </p:txBody>
      </p:sp>
      <p:sp>
        <p:nvSpPr>
          <p:cNvPr id="25" name="Shape 25"/>
          <p:cNvSpPr/>
          <p:nvPr/>
        </p:nvSpPr>
        <p:spPr>
          <a:xfrm>
            <a:off x="6871716" y="3835908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6" name="Shape 26"/>
          <p:cNvSpPr/>
          <p:nvPr/>
        </p:nvSpPr>
        <p:spPr>
          <a:xfrm>
            <a:off x="6963156" y="3927348"/>
            <a:ext cx="274320" cy="274320"/>
          </a:xfrm>
          <a:prstGeom prst="ellipse">
            <a:avLst/>
          </a:prstGeom>
          <a:solidFill>
            <a:srgbClr val="244C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7" name="Shape 27"/>
          <p:cNvSpPr txBox="1"/>
          <p:nvPr/>
        </p:nvSpPr>
        <p:spPr>
          <a:xfrm>
            <a:off x="6963156" y="4247388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Planifican contra pedidos de stock y reservan material</a:t>
            </a:r>
            <a:endParaRPr lang="es-ES" sz="850" dirty="0"/>
          </a:p>
        </p:txBody>
      </p:sp>
      <p:sp>
        <p:nvSpPr>
          <p:cNvPr id="28" name="Shape 28"/>
          <p:cNvSpPr/>
          <p:nvPr/>
        </p:nvSpPr>
        <p:spPr>
          <a:xfrm>
            <a:off x="8424672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9" name="Shape 29"/>
          <p:cNvSpPr/>
          <p:nvPr/>
        </p:nvSpPr>
        <p:spPr>
          <a:xfrm>
            <a:off x="8516112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0" name="Shape 30"/>
          <p:cNvSpPr txBox="1"/>
          <p:nvPr/>
        </p:nvSpPr>
        <p:spPr>
          <a:xfrm>
            <a:off x="8516112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Reciben el material con la recepción mejorada</a:t>
            </a:r>
            <a:endParaRPr lang="es-ES" sz="850" dirty="0"/>
          </a:p>
        </p:txBody>
      </p:sp>
      <p:sp>
        <p:nvSpPr>
          <p:cNvPr id="31" name="Shape 31"/>
          <p:cNvSpPr/>
          <p:nvPr/>
        </p:nvSpPr>
        <p:spPr>
          <a:xfrm>
            <a:off x="9977628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10069068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33" name="Shape 33"/>
          <p:cNvSpPr txBox="1"/>
          <p:nvPr/>
        </p:nvSpPr>
        <p:spPr>
          <a:xfrm>
            <a:off x="10069068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Controla apertura y cierre de pedidos (cierre manual)</a:t>
            </a:r>
            <a:endParaRPr lang="es-ES" sz="850" dirty="0"/>
          </a:p>
        </p:txBody>
      </p:sp>
      <p:cxnSp>
        <p:nvCxnSpPr>
          <p:cNvPr id="34" name="Conector 34"/>
          <p:cNvCxnSpPr/>
          <p:nvPr/>
        </p:nvCxnSpPr>
        <p:spPr>
          <a:xfrm>
            <a:off x="3454908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5" name="Conector 35"/>
          <p:cNvCxnSpPr/>
          <p:nvPr/>
        </p:nvCxnSpPr>
        <p:spPr>
          <a:xfrm>
            <a:off x="3610356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>
            <a:off x="3610356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7" name="Conector 37"/>
          <p:cNvCxnSpPr/>
          <p:nvPr/>
        </p:nvCxnSpPr>
        <p:spPr>
          <a:xfrm>
            <a:off x="5007864" y="3113532"/>
            <a:ext cx="310896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656082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>
            <a:off x="6716268" y="3113532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6716268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8113776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 flipV="1">
            <a:off x="8269224" y="1897380"/>
            <a:ext cx="0" cy="2432304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269224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>
            <a:off x="9666732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5" name="Conector 45"/>
          <p:cNvCxnSpPr/>
          <p:nvPr/>
        </p:nvCxnSpPr>
        <p:spPr>
          <a:xfrm>
            <a:off x="9822180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6" name="Conector 46"/>
          <p:cNvCxnSpPr/>
          <p:nvPr/>
        </p:nvCxnSpPr>
        <p:spPr>
          <a:xfrm>
            <a:off x="982218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sp>
        <p:nvSpPr>
          <p:cNvPr id="47" name="Shape 47"/>
          <p:cNvSpPr/>
          <p:nvPr/>
        </p:nvSpPr>
        <p:spPr>
          <a:xfrm>
            <a:off x="548640" y="5056632"/>
            <a:ext cx="11091672" cy="603504"/>
          </a:xfrm>
          <a:prstGeom prst="roundRect">
            <a:avLst>
              <a:gd name="adj" fmla="val 12121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Base del sistema:  </a:t>
            </a:r>
            <a:r>
              <a:rPr lang="es-ES" sz="1000" b="0" i="0" dirty="0">
                <a:solidFill>
                  <a:srgbClr val="00263A"/>
                </a:solidFill>
                <a:latin typeface="Montserrat"/>
                <a:cs typeface="Montserrat"/>
              </a:rPr>
              <a:t>tabla Z de mapeo de materiales entre cartoneras y papeleras, y 4 flujos en SAP con stock propio y externo, mínimos, máximos y propuestas de carga por material.</a:t>
            </a:r>
            <a:endParaRPr lang="es-ES" sz="1000" dirty="0"/>
          </a:p>
        </p:txBody>
      </p:sp>
      <p:sp>
        <p:nvSpPr>
          <p:cNvPr id="48" name="Shape 4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9</a:t>
            </a:r>
            <a:endParaRPr lang="es-E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Hitos y objetivos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Objetivo estratégico:  </a:t>
            </a: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que todos los pedidos de Ondupack, al menos de SQ y DU, se sirvan desde MGT, PDA o Papresa.</a:t>
            </a:r>
            <a:endParaRPr lang="es-ES" sz="1200" dirty="0"/>
          </a:p>
        </p:txBody>
      </p:sp>
      <p:sp>
        <p:nvSpPr>
          <p:cNvPr id="4" name="Shape 4"/>
          <p:cNvSpPr/>
          <p:nvPr/>
        </p:nvSpPr>
        <p:spPr>
          <a:xfrm>
            <a:off x="548640" y="2194560"/>
            <a:ext cx="4206240" cy="1645920"/>
          </a:xfrm>
          <a:prstGeom prst="roundRect">
            <a:avLst>
              <a:gd name="adj" fmla="val 4444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491740"/>
            <a:ext cx="228600" cy="228600"/>
          </a:xfrm>
          <a:prstGeom prst="rect">
            <a:avLst/>
          </a:prstGeom>
        </p:spPr>
      </p:pic>
      <p:sp>
        <p:nvSpPr>
          <p:cNvPr id="7" name="Shape 7"/>
          <p:cNvSpPr txBox="1"/>
          <p:nvPr/>
        </p:nvSpPr>
        <p:spPr>
          <a:xfrm>
            <a:off x="1371600" y="237744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SIGPA · Planificación en web</a:t>
            </a:r>
            <a:endParaRPr lang="es-ES" sz="12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944368"/>
            <a:ext cx="37490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Toda la planificación de MGT y PDA migrada de GIO (escritorio) a SIGPA (web).</a:t>
            </a:r>
            <a:endParaRPr lang="es-ES" sz="9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341071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integrado</a:t>
            </a:r>
            <a:endParaRPr lang="es-ES" sz="950" dirty="0"/>
          </a:p>
        </p:txBody>
      </p:sp>
      <p:sp>
        <p:nvSpPr>
          <p:cNvPr id="10" name="Shape 10"/>
          <p:cNvSpPr/>
          <p:nvPr/>
        </p:nvSpPr>
        <p:spPr>
          <a:xfrm>
            <a:off x="3291840" y="34290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 PRUEBAS</a:t>
            </a:r>
            <a:endParaRPr lang="es-ES" sz="750" dirty="0"/>
          </a:p>
        </p:txBody>
      </p:sp>
      <p:sp>
        <p:nvSpPr>
          <p:cNvPr id="11" name="Shape 11"/>
          <p:cNvSpPr/>
          <p:nvPr/>
        </p:nvSpPr>
        <p:spPr>
          <a:xfrm>
            <a:off x="548640" y="397764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2" name="Shape 12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3" name="Icono 13" descr="Icono indus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4274820"/>
            <a:ext cx="228600" cy="228600"/>
          </a:xfrm>
          <a:prstGeom prst="rect">
            <a:avLst/>
          </a:prstGeom>
        </p:spPr>
      </p:pic>
      <p:sp>
        <p:nvSpPr>
          <p:cNvPr id="14" name="Shape 14"/>
          <p:cNvSpPr txBox="1"/>
          <p:nvPr/>
        </p:nvSpPr>
        <p:spPr>
          <a:xfrm>
            <a:off x="1371600" y="416052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Papresa · Nueva papelera</a:t>
            </a:r>
            <a:endParaRPr lang="es-ES" sz="1250" dirty="0"/>
          </a:p>
        </p:txBody>
      </p:sp>
      <p:sp>
        <p:nvSpPr>
          <p:cNvPr id="15" name="Shape 15"/>
          <p:cNvSpPr txBox="1"/>
          <p:nvPr/>
        </p:nvSpPr>
        <p:spPr>
          <a:xfrm>
            <a:off x="777240" y="4727448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Entra en el mismo flujo intercompany. Sin SAP, la trazabilidad compra-venta se cruza hoy en un HTML conectado a los distintos ERP.</a:t>
            </a:r>
            <a:endParaRPr lang="es-ES" sz="950" dirty="0"/>
          </a:p>
        </p:txBody>
      </p:sp>
      <p:sp>
        <p:nvSpPr>
          <p:cNvPr id="16" name="Shape 16"/>
          <p:cNvSpPr txBox="1"/>
          <p:nvPr/>
        </p:nvSpPr>
        <p:spPr>
          <a:xfrm>
            <a:off x="777240" y="5285232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Objetivo de integración</a:t>
            </a:r>
            <a:endParaRPr lang="es-ES" sz="950" dirty="0"/>
          </a:p>
        </p:txBody>
      </p:sp>
      <p:sp>
        <p:nvSpPr>
          <p:cNvPr id="17" name="Shape 17"/>
          <p:cNvSpPr/>
          <p:nvPr/>
        </p:nvSpPr>
        <p:spPr>
          <a:xfrm>
            <a:off x="2788920" y="5303520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SAP · 01/01/2027</a:t>
            </a:r>
            <a:endParaRPr lang="es-ES" sz="750" dirty="0"/>
          </a:p>
        </p:txBody>
      </p:sp>
      <p:sp>
        <p:nvSpPr>
          <p:cNvPr id="18" name="Shape 18"/>
          <p:cNvSpPr/>
          <p:nvPr/>
        </p:nvSpPr>
        <p:spPr>
          <a:xfrm>
            <a:off x="4983480" y="2194560"/>
            <a:ext cx="6656832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 txBox="1"/>
          <p:nvPr/>
        </p:nvSpPr>
        <p:spPr>
          <a:xfrm>
            <a:off x="5212080" y="2359152"/>
            <a:ext cx="42793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% de integración en Ondupack</a:t>
            </a:r>
            <a:endParaRPr lang="es-ES" sz="1200" dirty="0"/>
          </a:p>
        </p:txBody>
      </p:sp>
      <p:sp>
        <p:nvSpPr>
          <p:cNvPr id="20" name="Shape 20"/>
          <p:cNvSpPr txBox="1"/>
          <p:nvPr/>
        </p:nvSpPr>
        <p:spPr>
          <a:xfrm>
            <a:off x="5212080" y="2633472"/>
            <a:ext cx="42793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Recepciones servidas por MGT, PDA y Papresa · evolución mensual</a:t>
            </a:r>
            <a:endParaRPr lang="es-ES" sz="850" dirty="0"/>
          </a:p>
        </p:txBody>
      </p:sp>
      <p:sp>
        <p:nvSpPr>
          <p:cNvPr id="21" name="Shape 21"/>
          <p:cNvSpPr/>
          <p:nvPr/>
        </p:nvSpPr>
        <p:spPr>
          <a:xfrm>
            <a:off x="9674352" y="242316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00" b="1" i="0" spc="40" dirty="0">
                <a:solidFill>
                  <a:srgbClr val="244C5A"/>
                </a:solidFill>
                <a:latin typeface="Montserrat"/>
                <a:cs typeface="Montserrat"/>
              </a:rPr>
              <a:t>META OCT-26: ≈ 100%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10</a:t>
            </a:r>
            <a:endParaRPr lang="es-ES" sz="900" dirty="0"/>
          </a:p>
        </p:txBody>
      </p:sp>
      <p:graphicFrame>
        <p:nvGraphicFramePr>
          <p:cNvPr id="23" name="Grafico integracion"/>
          <p:cNvGraphicFramePr>
            <a:graphicFrameLocks noGrp="1"/>
          </p:cNvGraphicFramePr>
          <p:nvPr/>
        </p:nvGraphicFramePr>
        <p:xfrm>
          <a:off x="5074920" y="2926080"/>
          <a:ext cx="6428232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50BB-C186-2811-D9AF-F569E357C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EF7C8-FEB2-E98C-2C37-B3D12D291FA3}"/>
              </a:ext>
            </a:extLst>
          </p:cNvPr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7FBF1-834B-FFDA-65C3-BFF103FD6937}"/>
              </a:ext>
            </a:extLst>
          </p:cNvPr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8A323-4ECB-FC5D-D8EB-5622CE16BA3D}"/>
              </a:ext>
            </a:extLst>
          </p:cNvPr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513DF5-9298-7C9B-5216-B15E2987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DD7FDC2-9D58-DC28-F6AA-9C84AA9DD249}"/>
              </a:ext>
            </a:extLst>
          </p:cNvPr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F8D91-83FB-40B3-6567-207DD67D5BD2}"/>
              </a:ext>
            </a:extLst>
          </p:cNvPr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3400" b="1" i="0" dirty="0">
                <a:solidFill>
                  <a:srgbClr val="00263A"/>
                </a:solidFill>
                <a:latin typeface="Montserrat"/>
              </a:rPr>
              <a:t>Anexo</a:t>
            </a:r>
            <a:endParaRPr sz="3400" b="1" i="0" dirty="0">
              <a:solidFill>
                <a:srgbClr val="00263A"/>
              </a:solidFill>
              <a:latin typeface="Montserrat"/>
            </a:endParaRPr>
          </a:p>
        </p:txBody>
      </p:sp>
      <p:sp>
        <p:nvSpPr>
          <p:cNvPr id="51" name="Shape 51">
            <a:extLst>
              <a:ext uri="{FF2B5EF4-FFF2-40B4-BE49-F238E27FC236}">
                <a16:creationId xmlns:a16="http://schemas.microsoft.com/office/drawing/2014/main" id="{BE82DFA5-96C1-60B3-FCB1-88E39A52A197}"/>
              </a:ext>
            </a:extLst>
          </p:cNvPr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27534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12</a:t>
            </a:r>
            <a:endParaRPr lang="es-E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Anexo · Proyectos 2027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POR VALIDAR CON NEGOCIO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276758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8" name="Shape 8"/>
          <p:cNvSpPr/>
          <p:nvPr/>
        </p:nvSpPr>
        <p:spPr>
          <a:xfrm>
            <a:off x="157886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Migración a aplicación web</a:t>
            </a:r>
            <a:endParaRPr lang="es-ES" sz="135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Pasar las pantallas de planificación de la aplicación de escritorio a una aplicación web.</a:t>
            </a:r>
            <a:endParaRPr lang="es-ES" sz="95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3" name="Shape 13"/>
          <p:cNvSpPr txBox="1"/>
          <p:nvPr/>
        </p:nvSpPr>
        <p:spPr>
          <a:xfrm>
            <a:off x="777240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Acceso desde el navegador, despliegue más sencillo, base común para las plantas, bases de datos separadas y mayor velocidad.</a:t>
            </a:r>
            <a:endParaRPr lang="es-ES" sz="950" dirty="0"/>
          </a:p>
        </p:txBody>
      </p:sp>
      <p:sp>
        <p:nvSpPr>
          <p:cNvPr id="14" name="Shape 14"/>
          <p:cNvSpPr/>
          <p:nvPr/>
        </p:nvSpPr>
        <p:spPr>
          <a:xfrm>
            <a:off x="4322064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455066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6" name="Icono 16" descr="Icono puzz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824" y="1691640"/>
            <a:ext cx="274320" cy="274320"/>
          </a:xfrm>
          <a:prstGeom prst="rect">
            <a:avLst/>
          </a:prstGeom>
        </p:spPr>
      </p:pic>
      <p:sp>
        <p:nvSpPr>
          <p:cNvPr id="17" name="Shape 17"/>
          <p:cNvSpPr/>
          <p:nvPr/>
        </p:nvSpPr>
        <p:spPr>
          <a:xfrm>
            <a:off x="6541008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550664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</a:t>
            </a:r>
            <a:endParaRPr lang="es-ES" sz="1350" dirty="0"/>
          </a:p>
        </p:txBody>
      </p:sp>
      <p:sp>
        <p:nvSpPr>
          <p:cNvPr id="19" name="Shape 19"/>
          <p:cNvSpPr txBox="1"/>
          <p:nvPr/>
        </p:nvSpPr>
        <p:spPr>
          <a:xfrm>
            <a:off x="4550664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0" name="Shape 20"/>
          <p:cNvSpPr txBox="1"/>
          <p:nvPr/>
        </p:nvSpPr>
        <p:spPr>
          <a:xfrm>
            <a:off x="4550664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Combinación automática de pedidos que mejora la planificación sin intervención manual.</a:t>
            </a:r>
            <a:endParaRPr lang="es-ES" sz="950" dirty="0"/>
          </a:p>
        </p:txBody>
      </p:sp>
      <p:sp>
        <p:nvSpPr>
          <p:cNvPr id="21" name="Shape 21"/>
          <p:cNvSpPr txBox="1"/>
          <p:nvPr/>
        </p:nvSpPr>
        <p:spPr>
          <a:xfrm>
            <a:off x="4550664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4550664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Mejores combinaciones en menos tiempo y menos trabajo manual en Combiplan.</a:t>
            </a:r>
            <a:endParaRPr lang="es-ES" sz="950" dirty="0"/>
          </a:p>
        </p:txBody>
      </p:sp>
      <p:sp>
        <p:nvSpPr>
          <p:cNvPr id="23" name="Shape 23"/>
          <p:cNvSpPr/>
          <p:nvPr/>
        </p:nvSpPr>
        <p:spPr>
          <a:xfrm>
            <a:off x="8095488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/>
          <p:nvPr/>
        </p:nvSpPr>
        <p:spPr>
          <a:xfrm>
            <a:off x="832408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5" name="Icono 25" descr="Icono usersc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1691640"/>
            <a:ext cx="274320" cy="274320"/>
          </a:xfrm>
          <a:prstGeom prst="rect">
            <a:avLst/>
          </a:prstGeom>
        </p:spPr>
      </p:pic>
      <p:sp>
        <p:nvSpPr>
          <p:cNvPr id="26" name="Shape 26"/>
          <p:cNvSpPr/>
          <p:nvPr/>
        </p:nvSpPr>
        <p:spPr>
          <a:xfrm>
            <a:off x="10314432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27" name="Shape 27"/>
          <p:cNvSpPr txBox="1"/>
          <p:nvPr/>
        </p:nvSpPr>
        <p:spPr>
          <a:xfrm>
            <a:off x="8324088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PRAE</a:t>
            </a:r>
            <a:endParaRPr lang="es-ES" sz="1350" dirty="0"/>
          </a:p>
        </p:txBody>
      </p:sp>
      <p:sp>
        <p:nvSpPr>
          <p:cNvPr id="28" name="Shape 28"/>
          <p:cNvSpPr txBox="1"/>
          <p:nvPr/>
        </p:nvSpPr>
        <p:spPr>
          <a:xfrm>
            <a:off x="8324088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9" name="Shape 29"/>
          <p:cNvSpPr txBox="1"/>
          <p:nvPr/>
        </p:nvSpPr>
        <p:spPr>
          <a:xfrm>
            <a:off x="8324088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Asignación de personas, con nombre y apellidos, a turnos y máquinas.</a:t>
            </a:r>
            <a:endParaRPr lang="es-ES" sz="950" dirty="0"/>
          </a:p>
        </p:txBody>
      </p:sp>
      <p:sp>
        <p:nvSpPr>
          <p:cNvPr id="30" name="Shape 30"/>
          <p:cNvSpPr txBox="1"/>
          <p:nvPr/>
        </p:nvSpPr>
        <p:spPr>
          <a:xfrm>
            <a:off x="8324088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1" name="Shape 31"/>
          <p:cNvSpPr txBox="1"/>
          <p:nvPr/>
        </p:nvSpPr>
        <p:spPr>
          <a:xfrm>
            <a:off x="8324088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Planificar también la mano de obra: quién está en cada turno y en cada máquina.</a:t>
            </a:r>
            <a:endParaRPr lang="es-ES" sz="950" dirty="0"/>
          </a:p>
        </p:txBody>
      </p:sp>
      <p:sp>
        <p:nvSpPr>
          <p:cNvPr id="32" name="Shape 32"/>
          <p:cNvSpPr/>
          <p:nvPr/>
        </p:nvSpPr>
        <p:spPr>
          <a:xfrm>
            <a:off x="548640" y="44348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 txBox="1"/>
          <p:nvPr/>
        </p:nvSpPr>
        <p:spPr>
          <a:xfrm>
            <a:off x="2926080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Migración a aplicación web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5739384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Algoritmo de combinación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8552688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PRAE</a:t>
            </a:r>
            <a:endParaRPr lang="es-ES" sz="900" dirty="0"/>
          </a:p>
        </p:txBody>
      </p:sp>
      <p:sp>
        <p:nvSpPr>
          <p:cNvPr id="36" name="Shape 36"/>
          <p:cNvSpPr txBox="1"/>
          <p:nvPr/>
        </p:nvSpPr>
        <p:spPr>
          <a:xfrm>
            <a:off x="822960" y="481888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1050" dirty="0"/>
          </a:p>
        </p:txBody>
      </p:sp>
      <p:sp>
        <p:nvSpPr>
          <p:cNvPr id="37" name="Shape 37"/>
          <p:cNvSpPr/>
          <p:nvPr/>
        </p:nvSpPr>
        <p:spPr>
          <a:xfrm>
            <a:off x="4204716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8" name="Icono 38" descr="Icono 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323" y="4885639"/>
            <a:ext cx="140818" cy="140818"/>
          </a:xfrm>
          <a:prstGeom prst="rect">
            <a:avLst/>
          </a:prstGeom>
        </p:spPr>
      </p:pic>
      <p:sp>
        <p:nvSpPr>
          <p:cNvPr id="39" name="Shape 39"/>
          <p:cNvSpPr/>
          <p:nvPr/>
        </p:nvSpPr>
        <p:spPr>
          <a:xfrm>
            <a:off x="7100316" y="4910328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9831324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1" name="Icono 41" descr="Icono che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8931" y="4885639"/>
            <a:ext cx="140818" cy="140818"/>
          </a:xfrm>
          <a:prstGeom prst="rect">
            <a:avLst/>
          </a:prstGeom>
        </p:spPr>
      </p:pic>
      <p:sp>
        <p:nvSpPr>
          <p:cNvPr id="42" name="Shape 42"/>
          <p:cNvSpPr txBox="1"/>
          <p:nvPr/>
        </p:nvSpPr>
        <p:spPr>
          <a:xfrm>
            <a:off x="822960" y="51206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050" dirty="0"/>
          </a:p>
        </p:txBody>
      </p:sp>
      <p:sp>
        <p:nvSpPr>
          <p:cNvPr id="43" name="Shape 43"/>
          <p:cNvSpPr/>
          <p:nvPr/>
        </p:nvSpPr>
        <p:spPr>
          <a:xfrm>
            <a:off x="4204716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4" name="Icono 44" descr="Icono che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2323" y="5187391"/>
            <a:ext cx="140818" cy="140818"/>
          </a:xfrm>
          <a:prstGeom prst="rect">
            <a:avLst/>
          </a:prstGeom>
        </p:spPr>
      </p:pic>
      <p:sp>
        <p:nvSpPr>
          <p:cNvPr id="45" name="Shape 45"/>
          <p:cNvSpPr/>
          <p:nvPr/>
        </p:nvSpPr>
        <p:spPr>
          <a:xfrm>
            <a:off x="7018020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6" name="Icono 46" descr="Icono che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5627" y="5187391"/>
            <a:ext cx="140818" cy="140818"/>
          </a:xfrm>
          <a:prstGeom prst="rect">
            <a:avLst/>
          </a:prstGeom>
        </p:spPr>
      </p:pic>
      <p:sp>
        <p:nvSpPr>
          <p:cNvPr id="47" name="Shape 47"/>
          <p:cNvSpPr/>
          <p:nvPr/>
        </p:nvSpPr>
        <p:spPr>
          <a:xfrm>
            <a:off x="9913620" y="5212080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8" name="Shape 48"/>
          <p:cNvSpPr txBox="1"/>
          <p:nvPr/>
        </p:nvSpPr>
        <p:spPr>
          <a:xfrm>
            <a:off x="822960" y="54223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050" dirty="0"/>
          </a:p>
        </p:txBody>
      </p:sp>
      <p:sp>
        <p:nvSpPr>
          <p:cNvPr id="49" name="Shape 49"/>
          <p:cNvSpPr txBox="1"/>
          <p:nvPr/>
        </p:nvSpPr>
        <p:spPr>
          <a:xfrm>
            <a:off x="2926080" y="5422392"/>
            <a:ext cx="84399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244C5A"/>
                </a:solidFill>
                <a:latin typeface="Montserrat"/>
                <a:cs typeface="Montserrat"/>
              </a:rPr>
              <a:t>Ya en SIGPA (web)</a:t>
            </a:r>
            <a:r>
              <a:rPr lang="es-ES" sz="950" b="0" i="1" dirty="0">
                <a:solidFill>
                  <a:srgbClr val="244C5A"/>
                </a:solidFill>
                <a:latin typeface="Montserrat"/>
                <a:cs typeface="Montserrat"/>
              </a:rPr>
              <a:t>  ·  algoritmo de combinación en pruebas</a:t>
            </a:r>
            <a:endParaRPr lang="es-ES" sz="950" dirty="0"/>
          </a:p>
        </p:txBody>
      </p:sp>
      <p:sp>
        <p:nvSpPr>
          <p:cNvPr id="50" name="Shape 5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13</a:t>
            </a:r>
            <a:endParaRPr lang="es-E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8869</TotalTime>
  <Words>778</Words>
  <Application>Microsoft Office PowerPoint</Application>
  <PresentationFormat>Panorámica</PresentationFormat>
  <Paragraphs>197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Planificación de Packaging Mejoras realizadas y próximos pasos por planta Ondupet  ·  Ondupack  ·  MGT + PDA  |  Octubre 2026</vt:lpstr>
      <vt:lpstr>Índice</vt:lpstr>
      <vt:lpstr>Presentación de PowerPoint</vt:lpstr>
      <vt:lpstr>Ondupet · Matriz de procesos</vt:lpstr>
      <vt:lpstr>Presentación de PowerPoint</vt:lpstr>
      <vt:lpstr>Ondupack · Matriz de procesos</vt:lpstr>
      <vt:lpstr>Presentación de PowerPoint</vt:lpstr>
      <vt:lpstr>Presentación de PowerPoint</vt:lpstr>
      <vt:lpstr>Ondupet · Próximos pasos</vt:lpstr>
      <vt:lpstr>Anexo · Proyectos 2027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7</cp:revision>
  <dcterms:created xsi:type="dcterms:W3CDTF">2024-06-09T19:11:53Z</dcterms:created>
  <dcterms:modified xsi:type="dcterms:W3CDTF">2026-10-01T14:33:14Z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