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67" r:id="rId4"/>
    <p:sldMasterId id="2147483685" r:id="rId5"/>
  </p:sldMasterIdLst>
  <p:notesMasterIdLst>
    <p:notesMasterId r:id="rId17"/>
  </p:notesMasterIdLst>
  <p:sldIdLst>
    <p:sldId id="257" r:id="rId6"/>
    <p:sldId id="2964" r:id="rId7"/>
    <p:sldId id="2971" r:id="rId8"/>
    <p:sldId id="2969" r:id="rId9"/>
    <p:sldId id="2975" r:id="rId10"/>
    <p:sldId id="2983" r:id="rId11"/>
    <p:sldId id="2981" r:id="rId12"/>
    <p:sldId id="2985" r:id="rId22"/>
    <p:sldId id="2986" r:id="rId23"/>
    <p:sldId id="2987" r:id="rId24"/>
    <p:sldId id="2982" r:id="rId13"/>
    <p:sldId id="2972" r:id="rId14"/>
    <p:sldId id="2984" r:id="rId15"/>
    <p:sldId id="2963" r:id="rId16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1" d="100"/>
          <a:sy n="101" d="100"/>
        </p:scale>
        <p:origin x="954" y="114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Global</c:v>
                </c:pt>
              </c:strCache>
            </c:strRef>
          </c:tx>
          <c:spPr>
            <a:ln w="28575">
              <a:solidFill>
                <a:srgbClr val="B14C5A"/>
              </a:solidFill>
            </a:ln>
          </c:spPr>
          <c:marker>
            <c:symbol val="circle"/>
            <c:size val="6"/>
            <c:spPr>
              <a:solidFill>
                <a:srgbClr val="B14C5A"/>
              </a:solidFill>
              <a:ln w="9525">
                <a:solidFill>
                  <a:srgbClr val="FFFFFF"/>
                </a:solidFill>
              </a:ln>
            </c:spPr>
          </c:marker>
          <c:dLbls>
            <c:dLbl>
              <c:idx val="20"/>
              <c:tx>
                <c:rich>
                  <a:bodyPr/>
                  <a:lstStyle/>
                  <a:p>
                    <a:r>
                      <a:t>86%</a:t>
                    </a:r>
                  </a:p>
                </c:rich>
              </c:tx>
              <c:txPr>
                <a:bodyPr/>
                <a:lstStyle/>
                <a:p>
                  <a:pPr>
                    <a:defRPr sz="900" b="1">
                      <a:solidFill>
                        <a:srgbClr val="00263A"/>
                      </a:solidFill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Ene 25</c:v>
                </c:pt>
                <c:pt idx="1">
                  <c:v>Feb 25</c:v>
                </c:pt>
                <c:pt idx="2">
                  <c:v>Mar 25</c:v>
                </c:pt>
                <c:pt idx="3">
                  <c:v>Abr 25</c:v>
                </c:pt>
                <c:pt idx="4">
                  <c:v>May 25</c:v>
                </c:pt>
                <c:pt idx="5">
                  <c:v>Jun 25</c:v>
                </c:pt>
                <c:pt idx="6">
                  <c:v>Jul 25</c:v>
                </c:pt>
                <c:pt idx="7">
                  <c:v>Ago 25</c:v>
                </c:pt>
                <c:pt idx="8">
                  <c:v>Sep 25</c:v>
                </c:pt>
                <c:pt idx="9">
                  <c:v>Oct 25</c:v>
                </c:pt>
                <c:pt idx="10">
                  <c:v>Nov 25</c:v>
                </c:pt>
                <c:pt idx="11">
                  <c:v>Dic 25</c:v>
                </c:pt>
                <c:pt idx="12">
                  <c:v>Ene 26</c:v>
                </c:pt>
                <c:pt idx="13">
                  <c:v>Feb 26</c:v>
                </c:pt>
                <c:pt idx="14">
                  <c:v>Mar 26</c:v>
                </c:pt>
                <c:pt idx="15">
                  <c:v>Abr 26</c:v>
                </c:pt>
                <c:pt idx="16">
                  <c:v>May 26</c:v>
                </c:pt>
                <c:pt idx="17">
                  <c:v>Jun 26</c:v>
                </c:pt>
                <c:pt idx="18">
                  <c:v>Jul 26</c:v>
                </c:pt>
                <c:pt idx="19">
                  <c:v>Ago 26</c:v>
                </c:pt>
                <c:pt idx="20">
                  <c:v>Sep 26</c:v>
                </c:pt>
              </c:strCache>
            </c:strRef>
          </c:cat>
          <c:val>
            <c:numRef>
              <c:f>Sheet1!$B$2:$B$22</c:f>
              <c:numCache>
                <c:formatCode>0%</c:formatCode>
                <c:ptCount val="21"/>
                <c:pt idx="0">
                  <c:v>0.61</c:v>
                </c:pt>
                <c:pt idx="1">
                  <c:v>0.68</c:v>
                </c:pt>
                <c:pt idx="2">
                  <c:v>0.59</c:v>
                </c:pt>
                <c:pt idx="3">
                  <c:v>0.53</c:v>
                </c:pt>
                <c:pt idx="4">
                  <c:v>0.61</c:v>
                </c:pt>
                <c:pt idx="5">
                  <c:v>0.57</c:v>
                </c:pt>
                <c:pt idx="6">
                  <c:v>0.61</c:v>
                </c:pt>
                <c:pt idx="7">
                  <c:v>0.57</c:v>
                </c:pt>
                <c:pt idx="8">
                  <c:v>0.5</c:v>
                </c:pt>
                <c:pt idx="9">
                  <c:v>0.48</c:v>
                </c:pt>
                <c:pt idx="10">
                  <c:v>0.52</c:v>
                </c:pt>
                <c:pt idx="11">
                  <c:v>0.54</c:v>
                </c:pt>
                <c:pt idx="12">
                  <c:v>0.59</c:v>
                </c:pt>
                <c:pt idx="13">
                  <c:v>0.52</c:v>
                </c:pt>
                <c:pt idx="14">
                  <c:v>0.55</c:v>
                </c:pt>
                <c:pt idx="15">
                  <c:v>0.67</c:v>
                </c:pt>
                <c:pt idx="16">
                  <c:v>0.65</c:v>
                </c:pt>
                <c:pt idx="17">
                  <c:v>0.69</c:v>
                </c:pt>
                <c:pt idx="18">
                  <c:v>0.72</c:v>
                </c:pt>
                <c:pt idx="19">
                  <c:v>0.62</c:v>
                </c:pt>
                <c:pt idx="20">
                  <c:v>0.86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DU</c:v>
                </c:pt>
              </c:strCache>
            </c:strRef>
          </c:tx>
          <c:spPr>
            <a:ln w="22225">
              <a:solidFill>
                <a:srgbClr val="1A5DA6"/>
              </a:solidFill>
            </a:ln>
          </c:spPr>
          <c:marker>
            <c:symbol val="circle"/>
            <c:size val="6"/>
            <c:spPr>
              <a:solidFill>
                <a:srgbClr val="1A5DA6"/>
              </a:solidFill>
              <a:ln w="9525">
                <a:solidFill>
                  <a:srgbClr val="FFFFFF"/>
                </a:solidFill>
              </a:ln>
            </c:spPr>
          </c:marker>
          <c:dLbls>
            <c:dLbl>
              <c:idx val="20"/>
              <c:tx>
                <c:rich>
                  <a:bodyPr/>
                  <a:lstStyle/>
                  <a:p>
                    <a:r>
                      <a:t>96%</a:t>
                    </a:r>
                  </a:p>
                </c:rich>
              </c:tx>
              <c:txPr>
                <a:bodyPr/>
                <a:lstStyle/>
                <a:p>
                  <a:pPr>
                    <a:defRPr sz="900" b="1">
                      <a:solidFill>
                        <a:srgbClr val="00263A"/>
                      </a:solidFill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Ene 25</c:v>
                </c:pt>
                <c:pt idx="1">
                  <c:v>Feb 25</c:v>
                </c:pt>
                <c:pt idx="2">
                  <c:v>Mar 25</c:v>
                </c:pt>
                <c:pt idx="3">
                  <c:v>Abr 25</c:v>
                </c:pt>
                <c:pt idx="4">
                  <c:v>May 25</c:v>
                </c:pt>
                <c:pt idx="5">
                  <c:v>Jun 25</c:v>
                </c:pt>
                <c:pt idx="6">
                  <c:v>Jul 25</c:v>
                </c:pt>
                <c:pt idx="7">
                  <c:v>Ago 25</c:v>
                </c:pt>
                <c:pt idx="8">
                  <c:v>Sep 25</c:v>
                </c:pt>
                <c:pt idx="9">
                  <c:v>Oct 25</c:v>
                </c:pt>
                <c:pt idx="10">
                  <c:v>Nov 25</c:v>
                </c:pt>
                <c:pt idx="11">
                  <c:v>Dic 25</c:v>
                </c:pt>
                <c:pt idx="12">
                  <c:v>Ene 26</c:v>
                </c:pt>
                <c:pt idx="13">
                  <c:v>Feb 26</c:v>
                </c:pt>
                <c:pt idx="14">
                  <c:v>Mar 26</c:v>
                </c:pt>
                <c:pt idx="15">
                  <c:v>Abr 26</c:v>
                </c:pt>
                <c:pt idx="16">
                  <c:v>May 26</c:v>
                </c:pt>
                <c:pt idx="17">
                  <c:v>Jun 26</c:v>
                </c:pt>
                <c:pt idx="18">
                  <c:v>Jul 26</c:v>
                </c:pt>
                <c:pt idx="19">
                  <c:v>Ago 26</c:v>
                </c:pt>
                <c:pt idx="20">
                  <c:v>Sep 26</c:v>
                </c:pt>
              </c:strCache>
            </c:strRef>
          </c:cat>
          <c:val>
            <c:numRef>
              <c:f>Sheet1!$C$2:$C$22</c:f>
              <c:numCache>
                <c:formatCode>0%</c:formatCode>
                <c:ptCount val="21"/>
                <c:pt idx="0">
                  <c:v>0.76</c:v>
                </c:pt>
                <c:pt idx="1">
                  <c:v>0.72</c:v>
                </c:pt>
                <c:pt idx="2">
                  <c:v>0.65</c:v>
                </c:pt>
                <c:pt idx="3">
                  <c:v>0.63</c:v>
                </c:pt>
                <c:pt idx="4">
                  <c:v>0.7</c:v>
                </c:pt>
                <c:pt idx="5">
                  <c:v>0.68</c:v>
                </c:pt>
                <c:pt idx="6">
                  <c:v>0.73</c:v>
                </c:pt>
                <c:pt idx="7">
                  <c:v>0.57</c:v>
                </c:pt>
                <c:pt idx="8">
                  <c:v>0.68</c:v>
                </c:pt>
                <c:pt idx="9">
                  <c:v>0.68</c:v>
                </c:pt>
                <c:pt idx="10">
                  <c:v>0.62</c:v>
                </c:pt>
                <c:pt idx="11">
                  <c:v>0.54</c:v>
                </c:pt>
                <c:pt idx="12">
                  <c:v>0.58</c:v>
                </c:pt>
                <c:pt idx="13">
                  <c:v>0.5</c:v>
                </c:pt>
                <c:pt idx="14">
                  <c:v>0.5</c:v>
                </c:pt>
                <c:pt idx="15">
                  <c:v>0.43</c:v>
                </c:pt>
                <c:pt idx="16">
                  <c:v>0.49</c:v>
                </c:pt>
                <c:pt idx="17">
                  <c:v>0.54</c:v>
                </c:pt>
                <c:pt idx="18">
                  <c:v>0.65</c:v>
                </c:pt>
                <c:pt idx="19">
                  <c:v>0.45</c:v>
                </c:pt>
                <c:pt idx="20">
                  <c:v>0.96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SQ</c:v>
                </c:pt>
              </c:strCache>
            </c:strRef>
          </c:tx>
          <c:spPr>
            <a:ln w="22225">
              <a:solidFill>
                <a:srgbClr val="4AA3E3"/>
              </a:solidFill>
            </a:ln>
          </c:spPr>
          <c:marker>
            <c:symbol val="circle"/>
            <c:size val="6"/>
            <c:spPr>
              <a:solidFill>
                <a:srgbClr val="4AA3E3"/>
              </a:solidFill>
              <a:ln w="9525">
                <a:solidFill>
                  <a:srgbClr val="FFFFFF"/>
                </a:solidFill>
              </a:ln>
            </c:spPr>
          </c:marker>
          <c:dLbls>
            <c:dLbl>
              <c:idx val="20"/>
              <c:tx>
                <c:rich>
                  <a:bodyPr/>
                  <a:lstStyle/>
                  <a:p>
                    <a:r>
                      <a:t>82%</a:t>
                    </a:r>
                  </a:p>
                </c:rich>
              </c:tx>
              <c:txPr>
                <a:bodyPr/>
                <a:lstStyle/>
                <a:p>
                  <a:pPr>
                    <a:defRPr sz="900" b="1">
                      <a:solidFill>
                        <a:srgbClr val="00263A"/>
                      </a:solidFill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Sheet1!$A$2:$A$22</c:f>
              <c:strCache>
                <c:ptCount val="21"/>
                <c:pt idx="0">
                  <c:v>Ene 25</c:v>
                </c:pt>
                <c:pt idx="1">
                  <c:v>Feb 25</c:v>
                </c:pt>
                <c:pt idx="2">
                  <c:v>Mar 25</c:v>
                </c:pt>
                <c:pt idx="3">
                  <c:v>Abr 25</c:v>
                </c:pt>
                <c:pt idx="4">
                  <c:v>May 25</c:v>
                </c:pt>
                <c:pt idx="5">
                  <c:v>Jun 25</c:v>
                </c:pt>
                <c:pt idx="6">
                  <c:v>Jul 25</c:v>
                </c:pt>
                <c:pt idx="7">
                  <c:v>Ago 25</c:v>
                </c:pt>
                <c:pt idx="8">
                  <c:v>Sep 25</c:v>
                </c:pt>
                <c:pt idx="9">
                  <c:v>Oct 25</c:v>
                </c:pt>
                <c:pt idx="10">
                  <c:v>Nov 25</c:v>
                </c:pt>
                <c:pt idx="11">
                  <c:v>Dic 25</c:v>
                </c:pt>
                <c:pt idx="12">
                  <c:v>Ene 26</c:v>
                </c:pt>
                <c:pt idx="13">
                  <c:v>Feb 26</c:v>
                </c:pt>
                <c:pt idx="14">
                  <c:v>Mar 26</c:v>
                </c:pt>
                <c:pt idx="15">
                  <c:v>Abr 26</c:v>
                </c:pt>
                <c:pt idx="16">
                  <c:v>May 26</c:v>
                </c:pt>
                <c:pt idx="17">
                  <c:v>Jun 26</c:v>
                </c:pt>
                <c:pt idx="18">
                  <c:v>Jul 26</c:v>
                </c:pt>
                <c:pt idx="19">
                  <c:v>Ago 26</c:v>
                </c:pt>
                <c:pt idx="20">
                  <c:v>Sep 26</c:v>
                </c:pt>
              </c:strCache>
            </c:strRef>
          </c:cat>
          <c:val>
            <c:numRef>
              <c:f>Sheet1!$D$2:$D$22</c:f>
              <c:numCache>
                <c:formatCode>0%</c:formatCode>
                <c:ptCount val="21"/>
                <c:pt idx="0">
                  <c:v>0.51</c:v>
                </c:pt>
                <c:pt idx="1">
                  <c:v>0.65</c:v>
                </c:pt>
                <c:pt idx="2">
                  <c:v>0.55</c:v>
                </c:pt>
                <c:pt idx="3">
                  <c:v>0.46</c:v>
                </c:pt>
                <c:pt idx="4">
                  <c:v>0.55</c:v>
                </c:pt>
                <c:pt idx="5">
                  <c:v>0.51</c:v>
                </c:pt>
                <c:pt idx="6">
                  <c:v>0.53</c:v>
                </c:pt>
                <c:pt idx="7">
                  <c:v>0.57</c:v>
                </c:pt>
                <c:pt idx="8">
                  <c:v>0.37</c:v>
                </c:pt>
                <c:pt idx="9">
                  <c:v>0.38</c:v>
                </c:pt>
                <c:pt idx="10">
                  <c:v>0.44</c:v>
                </c:pt>
                <c:pt idx="11">
                  <c:v>0.54</c:v>
                </c:pt>
                <c:pt idx="12">
                  <c:v>0.59</c:v>
                </c:pt>
                <c:pt idx="13">
                  <c:v>0.54</c:v>
                </c:pt>
                <c:pt idx="14">
                  <c:v>0.59</c:v>
                </c:pt>
                <c:pt idx="15">
                  <c:v>0.79</c:v>
                </c:pt>
                <c:pt idx="16">
                  <c:v>0.72</c:v>
                </c:pt>
                <c:pt idx="17">
                  <c:v>0.78</c:v>
                </c:pt>
                <c:pt idx="18">
                  <c:v>0.77</c:v>
                </c:pt>
                <c:pt idx="19">
                  <c:v>0.78</c:v>
                </c:pt>
                <c:pt idx="20">
                  <c:v>0.82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7DFE5"/>
            </a:solidFill>
          </a:ln>
        </c:spPr>
        <c:crossAx val="2140495176"/>
        <c:crosses val="autoZero"/>
        <c:auto val="1"/>
        <c:lblAlgn val="ctr"/>
        <c:lblOffset val="100"/>
        <c:tickLblSkip val="2"/>
        <c:noMultiLvlLbl val="0"/>
      </c:catAx>
      <c:valAx>
        <c:axId val="2140495176"/>
        <c:scaling>
          <c:max val="1.0"/>
          <c:min val="0.0"/>
        </c:scaling>
        <c:delete val="0"/>
        <c:axPos val="l"/>
        <c:majorGridlines>
          <c:spPr>
            <a:ln w="9525">
              <a:solidFill>
                <a:srgbClr val="E3E8EC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  <c:majorUnit val="0.2"/>
      </c:valAx>
    </c:plotArea>
    <c:legend>
      <c:legendPos val="t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5B6B78"/>
          </a:solidFill>
          <a:latin typeface="Montserrat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91B594C-0463-4CFE-9216-90B43449E6C3}" type="datetimeFigureOut">
              <a:rPr lang="es-ES" smtClean="0"/>
              <a:t>01/10/2026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F4E8C00-4FF0-4F63-ADE8-3842858E8E5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58027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iapositiva de destacado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ángulo 3"/>
          <p:cNvSpPr/>
          <p:nvPr/>
        </p:nvSpPr>
        <p:spPr>
          <a:xfrm>
            <a:off x="0" y="0"/>
            <a:ext cx="4680000" cy="6858000"/>
          </a:xfrm>
          <a:prstGeom prst="rect">
            <a:avLst/>
          </a:prstGeom>
          <a:solidFill>
            <a:srgbClr val="98C9E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" name="Rectángulo 6"/>
          <p:cNvSpPr/>
          <p:nvPr/>
        </p:nvSpPr>
        <p:spPr>
          <a:xfrm>
            <a:off x="6581436" y="0"/>
            <a:ext cx="5610568" cy="6858000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3" name="Texto del título"/>
          <p:cNvSpPr txBox="1">
            <a:spLocks noGrp="1"/>
          </p:cNvSpPr>
          <p:nvPr>
            <p:ph type="title"/>
          </p:nvPr>
        </p:nvSpPr>
        <p:spPr>
          <a:xfrm>
            <a:off x="701698" y="2357756"/>
            <a:ext cx="3501431" cy="2004717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600">
                <a:solidFill>
                  <a:schemeClr val="accent6"/>
                </a:solidFill>
              </a:defRPr>
            </a:lvl1pPr>
          </a:lstStyle>
          <a:p>
            <a:r>
              <a:t>Texto del título</a:t>
            </a:r>
          </a:p>
        </p:txBody>
      </p:sp>
      <p:sp>
        <p:nvSpPr>
          <p:cNvPr id="54" name="Picture Placeholder 4"/>
          <p:cNvSpPr>
            <a:spLocks noGrp="1"/>
          </p:cNvSpPr>
          <p:nvPr>
            <p:ph type="pic" sz="quarter" idx="21"/>
          </p:nvPr>
        </p:nvSpPr>
        <p:spPr>
          <a:xfrm>
            <a:off x="4686300" y="0"/>
            <a:ext cx="1905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4E033685-77BB-81A3-F3FA-C5E30A4A2C2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469280" y="5952576"/>
            <a:ext cx="1207397" cy="508368"/>
          </a:xfrm>
          <a:prstGeom prst="rect">
            <a:avLst/>
          </a:prstGeom>
        </p:spPr>
      </p:pic>
      <p:sp>
        <p:nvSpPr>
          <p:cNvPr id="5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353799" y="6220144"/>
            <a:ext cx="613916" cy="6375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06895439"/>
      </p:ext>
    </p:extLst>
  </p:cSld>
  <p:clrMapOvr>
    <a:masterClrMapping/>
  </p:clrMapOvr>
  <p:transition spd="med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1_Diapositiva de destacado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ángulo 3"/>
          <p:cNvSpPr/>
          <p:nvPr/>
        </p:nvSpPr>
        <p:spPr>
          <a:xfrm>
            <a:off x="0" y="0"/>
            <a:ext cx="4680000" cy="6858000"/>
          </a:xfrm>
          <a:prstGeom prst="rect">
            <a:avLst/>
          </a:prstGeom>
          <a:solidFill>
            <a:srgbClr val="98C9E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2" name="Rectángulo 6"/>
          <p:cNvSpPr/>
          <p:nvPr/>
        </p:nvSpPr>
        <p:spPr>
          <a:xfrm>
            <a:off x="6581436" y="0"/>
            <a:ext cx="5610568" cy="6858000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53" name="Texto del título"/>
          <p:cNvSpPr txBox="1">
            <a:spLocks noGrp="1"/>
          </p:cNvSpPr>
          <p:nvPr>
            <p:ph type="title"/>
          </p:nvPr>
        </p:nvSpPr>
        <p:spPr>
          <a:xfrm>
            <a:off x="701698" y="2357756"/>
            <a:ext cx="3501431" cy="2004717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defRPr sz="1600">
                <a:solidFill>
                  <a:schemeClr val="accent6"/>
                </a:solidFill>
              </a:defRPr>
            </a:lvl1pPr>
          </a:lstStyle>
          <a:p>
            <a:r>
              <a:t>Texto del título</a:t>
            </a:r>
          </a:p>
        </p:txBody>
      </p:sp>
      <p:sp>
        <p:nvSpPr>
          <p:cNvPr id="54" name="Picture Placeholder 4"/>
          <p:cNvSpPr>
            <a:spLocks noGrp="1"/>
          </p:cNvSpPr>
          <p:nvPr>
            <p:ph type="pic" sz="quarter" idx="21"/>
          </p:nvPr>
        </p:nvSpPr>
        <p:spPr>
          <a:xfrm>
            <a:off x="4686300" y="0"/>
            <a:ext cx="1905000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5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353799" y="6220144"/>
            <a:ext cx="613916" cy="6375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F76A4052-62CF-DEAB-7FFA-C30D5E55CE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469280" y="5952576"/>
            <a:ext cx="1207397" cy="50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0488656"/>
      </p:ext>
    </p:extLst>
  </p:cSld>
  <p:clrMapOvr>
    <a:masterClrMapping/>
  </p:clrMapOvr>
  <p:transition spd="med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Imagen y contenid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Rectángulo 4"/>
          <p:cNvSpPr/>
          <p:nvPr/>
        </p:nvSpPr>
        <p:spPr>
          <a:xfrm>
            <a:off x="0" y="2523536"/>
            <a:ext cx="12192000" cy="4351742"/>
          </a:xfrm>
          <a:prstGeom prst="rect">
            <a:avLst/>
          </a:pr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88" name="Picture Placeholder 4"/>
          <p:cNvSpPr>
            <a:spLocks noGrp="1"/>
          </p:cNvSpPr>
          <p:nvPr>
            <p:ph type="pic" sz="half" idx="21"/>
          </p:nvPr>
        </p:nvSpPr>
        <p:spPr>
          <a:xfrm>
            <a:off x="-4070" y="0"/>
            <a:ext cx="12200138" cy="254471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90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2DF0212F-24A1-9FAE-D95D-6D5C0508872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469280" y="5952576"/>
            <a:ext cx="1207397" cy="50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2490325"/>
      </p:ext>
    </p:extLst>
  </p:cSld>
  <p:clrMapOvr>
    <a:masterClrMapping/>
  </p:clrMapOvr>
  <p:transition spd="med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Gráfico y contenid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Rectángulo 3"/>
          <p:cNvSpPr/>
          <p:nvPr/>
        </p:nvSpPr>
        <p:spPr>
          <a:xfrm>
            <a:off x="0" y="0"/>
            <a:ext cx="4680000" cy="6858000"/>
          </a:xfrm>
          <a:prstGeom prst="rect">
            <a:avLst/>
          </a:prstGeom>
          <a:solidFill>
            <a:srgbClr val="98C9E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09" name="Rectángulo 6"/>
          <p:cNvSpPr/>
          <p:nvPr/>
        </p:nvSpPr>
        <p:spPr>
          <a:xfrm>
            <a:off x="4679998" y="0"/>
            <a:ext cx="7511999" cy="6858000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10" name="Texto del título"/>
          <p:cNvSpPr txBox="1">
            <a:spLocks noGrp="1"/>
          </p:cNvSpPr>
          <p:nvPr>
            <p:ph type="title"/>
          </p:nvPr>
        </p:nvSpPr>
        <p:spPr>
          <a:xfrm>
            <a:off x="863600" y="881062"/>
            <a:ext cx="2725887" cy="948933"/>
          </a:xfrm>
          <a:prstGeom prst="rect">
            <a:avLst/>
          </a:prstGeom>
        </p:spPr>
        <p:txBody>
          <a:bodyPr/>
          <a:lstStyle>
            <a:lvl1pPr>
              <a:defRPr sz="2800" b="1">
                <a:solidFill>
                  <a:schemeClr val="accent6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11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843086" y="1849435"/>
            <a:ext cx="2993828" cy="1884714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13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353799" y="6220144"/>
            <a:ext cx="613916" cy="6375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FA9FCDD6-A06C-BC94-EF85-217E5815E02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469280" y="5952576"/>
            <a:ext cx="1207397" cy="50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989603"/>
      </p:ext>
    </p:extLst>
  </p:cSld>
  <p:clrMapOvr>
    <a:masterClrMapping/>
  </p:clrMapOvr>
  <p:transition spd="med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Gráfico y contenid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Rectángulo 3"/>
          <p:cNvSpPr/>
          <p:nvPr/>
        </p:nvSpPr>
        <p:spPr>
          <a:xfrm>
            <a:off x="7511998" y="0"/>
            <a:ext cx="4680003" cy="6858000"/>
          </a:xfrm>
          <a:prstGeom prst="rect">
            <a:avLst/>
          </a:pr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21" name="Texto del título"/>
          <p:cNvSpPr txBox="1">
            <a:spLocks noGrp="1"/>
          </p:cNvSpPr>
          <p:nvPr>
            <p:ph type="title"/>
          </p:nvPr>
        </p:nvSpPr>
        <p:spPr>
          <a:xfrm>
            <a:off x="8064500" y="1763534"/>
            <a:ext cx="2656733" cy="955041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r>
              <a:t>Texto del título</a:t>
            </a:r>
          </a:p>
        </p:txBody>
      </p:sp>
      <p:sp>
        <p:nvSpPr>
          <p:cNvPr id="122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8077200" y="2725735"/>
            <a:ext cx="3017890" cy="2597280"/>
          </a:xfrm>
          <a:prstGeom prst="rect">
            <a:avLst/>
          </a:prstGeom>
        </p:spPr>
        <p:txBody>
          <a:bodyPr/>
          <a:lstStyle>
            <a:lvl1pPr algn="ctr">
              <a:spcBef>
                <a:spcPts val="600"/>
              </a:spcBef>
              <a:defRPr sz="1400" b="1">
                <a:latin typeface="Montserrat"/>
                <a:ea typeface="Montserrat"/>
                <a:cs typeface="Montserrat"/>
                <a:sym typeface="Montserrat"/>
              </a:defRPr>
            </a:lvl1pPr>
            <a:lvl2pPr algn="ctr">
              <a:spcBef>
                <a:spcPts val="600"/>
              </a:spcBef>
              <a:defRPr sz="1400" b="1">
                <a:latin typeface="Montserrat"/>
                <a:ea typeface="Montserrat"/>
                <a:cs typeface="Montserrat"/>
                <a:sym typeface="Montserrat"/>
              </a:defRPr>
            </a:lvl2pPr>
            <a:lvl3pPr algn="ctr">
              <a:spcBef>
                <a:spcPts val="600"/>
              </a:spcBef>
              <a:defRPr sz="1400" b="1">
                <a:latin typeface="Montserrat"/>
                <a:ea typeface="Montserrat"/>
                <a:cs typeface="Montserrat"/>
                <a:sym typeface="Montserrat"/>
              </a:defRPr>
            </a:lvl3pPr>
            <a:lvl4pPr algn="ctr">
              <a:spcBef>
                <a:spcPts val="600"/>
              </a:spcBef>
              <a:defRPr sz="1400" b="1">
                <a:latin typeface="Montserrat"/>
                <a:ea typeface="Montserrat"/>
                <a:cs typeface="Montserrat"/>
                <a:sym typeface="Montserrat"/>
              </a:defRPr>
            </a:lvl4pPr>
            <a:lvl5pPr algn="ctr">
              <a:spcBef>
                <a:spcPts val="600"/>
              </a:spcBef>
              <a:defRPr sz="1400" b="1">
                <a:latin typeface="Montserrat"/>
                <a:ea typeface="Montserrat"/>
                <a:cs typeface="Montserrat"/>
                <a:sym typeface="Montserrat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pic>
        <p:nvPicPr>
          <p:cNvPr id="3" name="Imagen 2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C763C307-1CAF-78ED-81C2-36EC4EC624F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19" t="35460" r="8485" b="37302"/>
          <a:stretch/>
        </p:blipFill>
        <p:spPr>
          <a:xfrm>
            <a:off x="464802" y="5944091"/>
            <a:ext cx="1172087" cy="514106"/>
          </a:xfrm>
          <a:prstGeom prst="rect">
            <a:avLst/>
          </a:prstGeom>
        </p:spPr>
      </p:pic>
      <p:sp>
        <p:nvSpPr>
          <p:cNvPr id="124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353799" y="6220144"/>
            <a:ext cx="613916" cy="63753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53140492"/>
      </p:ext>
    </p:extLst>
  </p:cSld>
  <p:clrMapOvr>
    <a:masterClrMapping/>
  </p:clrMapOvr>
  <p:transition spd="med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Imagen y contenid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ángulo 4"/>
          <p:cNvSpPr/>
          <p:nvPr/>
        </p:nvSpPr>
        <p:spPr>
          <a:xfrm>
            <a:off x="0" y="3168481"/>
            <a:ext cx="12192000" cy="3689519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76" name="Texto del título"/>
          <p:cNvSpPr txBox="1">
            <a:spLocks noGrp="1"/>
          </p:cNvSpPr>
          <p:nvPr>
            <p:ph type="title"/>
          </p:nvPr>
        </p:nvSpPr>
        <p:spPr>
          <a:xfrm>
            <a:off x="838199" y="949325"/>
            <a:ext cx="6422977" cy="698652"/>
          </a:xfrm>
          <a:prstGeom prst="rect">
            <a:avLst/>
          </a:prstGeom>
        </p:spPr>
        <p:txBody>
          <a:bodyPr/>
          <a:lstStyle>
            <a:lvl1pPr>
              <a:defRPr sz="3600" b="1"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77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839786" y="1645398"/>
            <a:ext cx="6880436" cy="1403388"/>
          </a:xfrm>
          <a:prstGeom prst="rect">
            <a:avLst/>
          </a:prstGeom>
        </p:spPr>
        <p:txBody>
          <a:bodyPr anchor="ctr"/>
          <a:lstStyle>
            <a:lvl1pPr>
              <a:lnSpc>
                <a:spcPts val="1600"/>
              </a:lnSpc>
              <a:defRPr sz="1200">
                <a:solidFill>
                  <a:schemeClr val="accent6"/>
                </a:solidFill>
              </a:defRPr>
            </a:lvl1pPr>
            <a:lvl2pPr>
              <a:lnSpc>
                <a:spcPts val="1600"/>
              </a:lnSpc>
              <a:defRPr sz="1200">
                <a:solidFill>
                  <a:schemeClr val="accent6"/>
                </a:solidFill>
              </a:defRPr>
            </a:lvl2pPr>
            <a:lvl3pPr>
              <a:lnSpc>
                <a:spcPts val="1600"/>
              </a:lnSpc>
              <a:defRPr sz="1200">
                <a:solidFill>
                  <a:schemeClr val="accent6"/>
                </a:solidFill>
              </a:defRPr>
            </a:lvl3pPr>
            <a:lvl4pPr>
              <a:lnSpc>
                <a:spcPts val="1600"/>
              </a:lnSpc>
              <a:defRPr sz="1200">
                <a:solidFill>
                  <a:schemeClr val="accent6"/>
                </a:solidFill>
              </a:defRPr>
            </a:lvl4pPr>
            <a:lvl5pPr>
              <a:lnSpc>
                <a:spcPts val="1600"/>
              </a:lnSpc>
              <a:defRPr sz="1200">
                <a:solidFill>
                  <a:schemeClr val="accent6"/>
                </a:solidFill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78" name="Picture Placeholder 4"/>
          <p:cNvSpPr>
            <a:spLocks noGrp="1"/>
          </p:cNvSpPr>
          <p:nvPr>
            <p:ph type="pic" sz="half" idx="21"/>
          </p:nvPr>
        </p:nvSpPr>
        <p:spPr>
          <a:xfrm>
            <a:off x="8056257" y="0"/>
            <a:ext cx="4135745" cy="6858000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9830BA7D-8D14-F998-A8C5-1CCCD90C3A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469280" y="5952576"/>
            <a:ext cx="1207397" cy="5083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486433"/>
      </p:ext>
    </p:extLst>
  </p:cSld>
  <p:clrMapOvr>
    <a:masterClrMapping/>
  </p:clrMapOvr>
  <p:transition spd="med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Imagen y contenid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ángulo 4"/>
          <p:cNvSpPr/>
          <p:nvPr/>
        </p:nvSpPr>
        <p:spPr>
          <a:xfrm>
            <a:off x="0" y="-1"/>
            <a:ext cx="12192000" cy="980904"/>
          </a:xfrm>
          <a:prstGeom prst="rect">
            <a:avLst/>
          </a:pr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pic>
        <p:nvPicPr>
          <p:cNvPr id="98" name="Imagen" descr="Image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86" y="5987989"/>
            <a:ext cx="821939" cy="359956"/>
          </a:xfrm>
          <a:prstGeom prst="rect">
            <a:avLst/>
          </a:prstGeom>
          <a:ln w="12700">
            <a:miter lim="400000"/>
          </a:ln>
        </p:spPr>
      </p:pic>
      <p:sp>
        <p:nvSpPr>
          <p:cNvPr id="99" name="Texto del título"/>
          <p:cNvSpPr txBox="1">
            <a:spLocks noGrp="1"/>
          </p:cNvSpPr>
          <p:nvPr>
            <p:ph type="title"/>
          </p:nvPr>
        </p:nvSpPr>
        <p:spPr>
          <a:xfrm>
            <a:off x="548386" y="160730"/>
            <a:ext cx="6422977" cy="698652"/>
          </a:xfrm>
          <a:prstGeom prst="rect">
            <a:avLst/>
          </a:prstGeom>
        </p:spPr>
        <p:txBody>
          <a:bodyPr/>
          <a:lstStyle>
            <a:lvl1pPr>
              <a:defRPr sz="3600" b="1"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01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  <p:pic>
        <p:nvPicPr>
          <p:cNvPr id="2" name="Imagen 1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B406C63A-6FDC-AA8F-5B20-A37FEDF798F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19" t="35460" r="8485" b="37302"/>
          <a:stretch/>
        </p:blipFill>
        <p:spPr>
          <a:xfrm>
            <a:off x="464802" y="5944091"/>
            <a:ext cx="1172087" cy="514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13433"/>
      </p:ext>
    </p:extLst>
  </p:cSld>
  <p:clrMapOvr>
    <a:masterClrMapping/>
  </p:clrMapOvr>
  <p:transition spd="med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 preserve="1">
  <p:cSld name="2_Imagen y contenid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87E7B4FF-1FD2-0FF2-78BA-DA609228946F}"/>
              </a:ext>
            </a:extLst>
          </p:cNvPr>
          <p:cNvSpPr/>
          <p:nvPr userDrawn="1"/>
        </p:nvSpPr>
        <p:spPr>
          <a:xfrm>
            <a:off x="0" y="909783"/>
            <a:ext cx="12192000" cy="160731"/>
          </a:xfrm>
          <a:prstGeom prst="rect">
            <a:avLst/>
          </a:prstGeom>
          <a:solidFill>
            <a:schemeClr val="accent2"/>
          </a:solidFill>
          <a:ln w="25400" cap="flat">
            <a:noFill/>
            <a:prstDash val="solid"/>
            <a:round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8" tIns="45718" rIns="45718" bIns="45718" numCol="1" spcCol="38100" rtlCol="0" anchor="ctr">
            <a:spAutoFit/>
          </a:bodyPr>
          <a:lstStyle/>
          <a:p>
            <a:pPr marL="0" marR="0" indent="0" algn="l" defTabSz="9144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es-ES" sz="2800" b="0" i="0" u="none" strike="noStrike" cap="none" spc="0" normalizeH="0" baseline="0">
              <a:ln>
                <a:noFill/>
              </a:ln>
              <a:solidFill>
                <a:schemeClr val="accent6"/>
              </a:solidFill>
              <a:effectLst/>
              <a:uFillTx/>
              <a:latin typeface="+mn-lt"/>
              <a:ea typeface="+mn-ea"/>
              <a:cs typeface="+mn-cs"/>
              <a:sym typeface="Montserrat Semi Bold"/>
            </a:endParaRPr>
          </a:p>
        </p:txBody>
      </p:sp>
      <p:sp>
        <p:nvSpPr>
          <p:cNvPr id="97" name="Rectángulo 4"/>
          <p:cNvSpPr/>
          <p:nvPr/>
        </p:nvSpPr>
        <p:spPr>
          <a:xfrm>
            <a:off x="0" y="-1"/>
            <a:ext cx="12192000" cy="980904"/>
          </a:xfrm>
          <a:prstGeom prst="rect">
            <a:avLst/>
          </a:prstGeom>
          <a:solidFill>
            <a:schemeClr val="accent6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pic>
        <p:nvPicPr>
          <p:cNvPr id="98" name="Imagen" descr="Image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386" y="5987989"/>
            <a:ext cx="821939" cy="359956"/>
          </a:xfrm>
          <a:prstGeom prst="rect">
            <a:avLst/>
          </a:prstGeom>
          <a:ln w="12700">
            <a:miter lim="400000"/>
          </a:ln>
        </p:spPr>
      </p:pic>
      <p:sp>
        <p:nvSpPr>
          <p:cNvPr id="99" name="Texto del título"/>
          <p:cNvSpPr txBox="1">
            <a:spLocks noGrp="1"/>
          </p:cNvSpPr>
          <p:nvPr>
            <p:ph type="title"/>
          </p:nvPr>
        </p:nvSpPr>
        <p:spPr>
          <a:xfrm>
            <a:off x="548386" y="160730"/>
            <a:ext cx="6422977" cy="698652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2400" b="1">
                <a:solidFill>
                  <a:schemeClr val="bg1"/>
                </a:solidFill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r>
              <a:rPr dirty="0" err="1"/>
              <a:t>Texto</a:t>
            </a:r>
            <a:r>
              <a:rPr dirty="0"/>
              <a:t> del </a:t>
            </a:r>
            <a:r>
              <a:rPr dirty="0" err="1"/>
              <a:t>título</a:t>
            </a:r>
            <a:endParaRPr dirty="0"/>
          </a:p>
        </p:txBody>
      </p:sp>
      <p:pic>
        <p:nvPicPr>
          <p:cNvPr id="3" name="Imagen 2" descr="Logotipo, nombre de la empresa&#10;&#10;Descripción generada automáticamente">
            <a:extLst>
              <a:ext uri="{FF2B5EF4-FFF2-40B4-BE49-F238E27FC236}">
                <a16:creationId xmlns:a16="http://schemas.microsoft.com/office/drawing/2014/main" id="{AA6581F3-8269-22BD-79E9-9544AF32690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34" t="36312" r="6662" b="37222"/>
          <a:stretch/>
        </p:blipFill>
        <p:spPr>
          <a:xfrm>
            <a:off x="9821097" y="109716"/>
            <a:ext cx="1901651" cy="800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780214"/>
      </p:ext>
    </p:extLst>
  </p:cSld>
  <p:clrMapOvr>
    <a:masterClrMapping/>
  </p:clrMapOvr>
  <p:transition spd="med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Diapositiva de títul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Número de diapositiva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72510000"/>
      </p:ext>
    </p:extLst>
  </p:cSld>
  <p:clrMapOvr>
    <a:masterClrMapping/>
  </p:clrMapOvr>
  <p:transition spd="med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Texto del título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anchor="b"/>
          <a:lstStyle>
            <a:lvl1pPr algn="ctr">
              <a:lnSpc>
                <a:spcPct val="90000"/>
              </a:lnSpc>
              <a:defRPr sz="60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39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6"/>
          </a:xfrm>
          <a:prstGeom prst="rect">
            <a:avLst/>
          </a:prstGeom>
        </p:spPr>
        <p:txBody>
          <a:bodyPr/>
          <a:lstStyle>
            <a:lvl1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40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353800" y="6220144"/>
            <a:ext cx="612682" cy="637537"/>
          </a:xfrm>
          <a:prstGeom prst="rect">
            <a:avLst/>
          </a:prstGeom>
        </p:spPr>
        <p:txBody>
          <a:bodyPr/>
          <a:lstStyle>
            <a:lvl1pPr>
              <a:defRPr>
                <a:latin typeface="+mj-lt"/>
                <a:ea typeface="+mj-ea"/>
                <a:cs typeface="+mj-cs"/>
                <a:sym typeface="Helvetica"/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408852570"/>
      </p:ext>
    </p:extLst>
  </p:cSld>
  <p:clrMapOvr>
    <a:masterClrMapping/>
  </p:clrMapOvr>
  <p:transition spd="med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1_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Texto del título"/>
          <p:cNvSpPr txBox="1">
            <a:spLocks noGrp="1"/>
          </p:cNvSpPr>
          <p:nvPr>
            <p:ph type="title"/>
          </p:nvPr>
        </p:nvSpPr>
        <p:spPr>
          <a:xfrm>
            <a:off x="1524000" y="1122362"/>
            <a:ext cx="9144000" cy="2387601"/>
          </a:xfrm>
          <a:prstGeom prst="rect">
            <a:avLst/>
          </a:prstGeom>
        </p:spPr>
        <p:txBody>
          <a:bodyPr lIns="45718" tIns="45718" rIns="45718" bIns="45718" anchor="b"/>
          <a:lstStyle>
            <a:lvl1pPr algn="ctr">
              <a:lnSpc>
                <a:spcPct val="90000"/>
              </a:lnSpc>
              <a:defRPr sz="60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48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1524000" y="3602037"/>
            <a:ext cx="9144000" cy="1655764"/>
          </a:xfrm>
          <a:prstGeom prst="rect">
            <a:avLst/>
          </a:prstGeom>
        </p:spPr>
        <p:txBody>
          <a:bodyPr lIns="45718" tIns="45718" rIns="45718" bIns="45718"/>
          <a:lstStyle>
            <a:lvl1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ctr">
              <a:lnSpc>
                <a:spcPct val="90000"/>
              </a:lnSpc>
              <a:spcBef>
                <a:spcPts val="1000"/>
              </a:spcBef>
              <a:defRPr sz="2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49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58093145"/>
      </p:ext>
    </p:extLst>
  </p:cSld>
  <p:clrMapOvr>
    <a:masterClrMapping/>
  </p:clrMapOvr>
  <p:transition spd="med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Texto del título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lIns="45718" tIns="45718" rIns="45718" bIns="45718" anchor="ctr"/>
          <a:lstStyle>
            <a:lvl1pPr>
              <a:lnSpc>
                <a:spcPct val="90000"/>
              </a:lnSpc>
              <a:defRPr sz="44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57" name="Nivel de texto 1…"/>
          <p:cNvSpPr txBox="1">
            <a:spLocks noGrp="1"/>
          </p:cNvSpPr>
          <p:nvPr>
            <p:ph type="body"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 lIns="45718" tIns="45718" rIns="45718" bIns="45718"/>
          <a:lstStyle>
            <a:lvl1pPr marL="22860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723900" indent="-2667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234438" indent="-320038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727200" indent="-355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184400" indent="-355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58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13430637"/>
      </p:ext>
    </p:extLst>
  </p:cSld>
  <p:clrMapOvr>
    <a:masterClrMapping/>
  </p:clrMapOvr>
  <p:transition spd="med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Texto del título"/>
          <p:cNvSpPr txBox="1">
            <a:spLocks noGrp="1"/>
          </p:cNvSpPr>
          <p:nvPr>
            <p:ph type="title"/>
          </p:nvPr>
        </p:nvSpPr>
        <p:spPr>
          <a:xfrm>
            <a:off x="839787" y="365125"/>
            <a:ext cx="10515601" cy="1325563"/>
          </a:xfrm>
          <a:prstGeom prst="rect">
            <a:avLst/>
          </a:prstGeom>
        </p:spPr>
        <p:txBody>
          <a:bodyPr lIns="45718" tIns="45718" rIns="45718" bIns="45718" anchor="ctr"/>
          <a:lstStyle>
            <a:lvl1pPr>
              <a:lnSpc>
                <a:spcPct val="90000"/>
              </a:lnSpc>
              <a:defRPr sz="44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66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839787" y="1681163"/>
            <a:ext cx="5157790" cy="823914"/>
          </a:xfrm>
          <a:prstGeom prst="rect">
            <a:avLst/>
          </a:prstGeom>
        </p:spPr>
        <p:txBody>
          <a:bodyPr lIns="45718" tIns="45718" rIns="45718" bIns="45718" anchor="b"/>
          <a:lstStyle>
            <a:lvl1pPr>
              <a:lnSpc>
                <a:spcPct val="90000"/>
              </a:lnSpc>
              <a:spcBef>
                <a:spcPts val="1000"/>
              </a:spcBef>
              <a:defRPr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>
              <a:lnSpc>
                <a:spcPct val="90000"/>
              </a:lnSpc>
              <a:spcBef>
                <a:spcPts val="1000"/>
              </a:spcBef>
              <a:defRPr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>
              <a:lnSpc>
                <a:spcPct val="90000"/>
              </a:lnSpc>
              <a:spcBef>
                <a:spcPts val="1000"/>
              </a:spcBef>
              <a:defRPr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>
              <a:lnSpc>
                <a:spcPct val="90000"/>
              </a:lnSpc>
              <a:spcBef>
                <a:spcPts val="1000"/>
              </a:spcBef>
              <a:defRPr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>
              <a:lnSpc>
                <a:spcPct val="90000"/>
              </a:lnSpc>
              <a:spcBef>
                <a:spcPts val="1000"/>
              </a:spcBef>
              <a:defRPr sz="24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67" name="Marcador de texto 4"/>
          <p:cNvSpPr>
            <a:spLocks noGrp="1"/>
          </p:cNvSpPr>
          <p:nvPr>
            <p:ph type="body" sz="quarter" idx="21"/>
          </p:nvPr>
        </p:nvSpPr>
        <p:spPr>
          <a:xfrm>
            <a:off x="6172200" y="1681163"/>
            <a:ext cx="5183188" cy="823914"/>
          </a:xfrm>
          <a:prstGeom prst="rect">
            <a:avLst/>
          </a:prstGeom>
        </p:spPr>
        <p:txBody>
          <a:bodyPr lIns="45718" tIns="45718" rIns="45718" bIns="45718" anchor="b"/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68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90453191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Texto del título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40" cy="1600200"/>
          </a:xfrm>
          <a:prstGeom prst="rect">
            <a:avLst/>
          </a:prstGeom>
        </p:spPr>
        <p:txBody>
          <a:bodyPr lIns="45718" tIns="45718" rIns="45718" bIns="45718" anchor="b"/>
          <a:lstStyle>
            <a:lvl1pPr>
              <a:lnSpc>
                <a:spcPct val="90000"/>
              </a:lnSpc>
              <a:defRPr sz="32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84" name="Nivel de texto 1…"/>
          <p:cNvSpPr txBox="1">
            <a:spLocks noGrp="1"/>
          </p:cNvSpPr>
          <p:nvPr>
            <p:ph type="body" sz="half" idx="1"/>
          </p:nvPr>
        </p:nvSpPr>
        <p:spPr>
          <a:xfrm>
            <a:off x="5183187" y="987425"/>
            <a:ext cx="6172202" cy="4873625"/>
          </a:xfrm>
          <a:prstGeom prst="rect">
            <a:avLst/>
          </a:prstGeom>
        </p:spPr>
        <p:txBody>
          <a:bodyPr lIns="45718" tIns="45718" rIns="45718" bIns="45718"/>
          <a:lstStyle>
            <a:lvl1pPr marL="22860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718457" indent="-261257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219200" indent="-3048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737360" indent="-36576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194560" indent="-36576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3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85" name="Marcador de texto 3"/>
          <p:cNvSpPr>
            <a:spLocks noGrp="1"/>
          </p:cNvSpPr>
          <p:nvPr>
            <p:ph type="body" sz="quarter" idx="21"/>
          </p:nvPr>
        </p:nvSpPr>
        <p:spPr>
          <a:xfrm>
            <a:off x="839787" y="2057400"/>
            <a:ext cx="3932238" cy="3811588"/>
          </a:xfrm>
          <a:prstGeom prst="rect">
            <a:avLst/>
          </a:prstGeom>
        </p:spPr>
        <p:txBody>
          <a:bodyPr lIns="45718" tIns="45718" rIns="45718" bIns="45718"/>
          <a:lstStyle/>
          <a:p>
            <a:pPr marL="228600" indent="-228600">
              <a:lnSpc>
                <a:spcPct val="90000"/>
              </a:lnSpc>
              <a:spcBef>
                <a:spcPts val="1000"/>
              </a:spcBef>
              <a:buSzPct val="100000"/>
              <a:buFont typeface="Arial"/>
              <a:buChar char="•"/>
              <a:defRPr sz="2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sp>
        <p:nvSpPr>
          <p:cNvPr id="18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55848548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Texto del título"/>
          <p:cNvSpPr txBox="1">
            <a:spLocks noGrp="1"/>
          </p:cNvSpPr>
          <p:nvPr>
            <p:ph type="title"/>
          </p:nvPr>
        </p:nvSpPr>
        <p:spPr>
          <a:xfrm>
            <a:off x="839787" y="457200"/>
            <a:ext cx="3932240" cy="1600200"/>
          </a:xfrm>
          <a:prstGeom prst="rect">
            <a:avLst/>
          </a:prstGeom>
        </p:spPr>
        <p:txBody>
          <a:bodyPr lIns="45718" tIns="45718" rIns="45718" bIns="45718" anchor="b"/>
          <a:lstStyle>
            <a:lvl1pPr>
              <a:lnSpc>
                <a:spcPct val="90000"/>
              </a:lnSpc>
              <a:defRPr sz="32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94" name="Marcador de imagen 2"/>
          <p:cNvSpPr>
            <a:spLocks noGrp="1"/>
          </p:cNvSpPr>
          <p:nvPr>
            <p:ph type="pic" sz="half" idx="21"/>
          </p:nvPr>
        </p:nvSpPr>
        <p:spPr>
          <a:xfrm>
            <a:off x="5183187" y="987425"/>
            <a:ext cx="6172202" cy="4873625"/>
          </a:xfrm>
          <a:prstGeom prst="rect">
            <a:avLst/>
          </a:prstGeom>
        </p:spPr>
        <p:txBody>
          <a:bodyPr lIns="91439" tIns="45719" rIns="91439" bIns="45719">
            <a:noAutofit/>
          </a:bodyPr>
          <a:lstStyle/>
          <a:p>
            <a:endParaRPr/>
          </a:p>
        </p:txBody>
      </p:sp>
      <p:sp>
        <p:nvSpPr>
          <p:cNvPr id="195" name="Nivel de texto 1…"/>
          <p:cNvSpPr txBox="1">
            <a:spLocks noGrp="1"/>
          </p:cNvSpPr>
          <p:nvPr>
            <p:ph type="body" sz="quarter" idx="1"/>
          </p:nvPr>
        </p:nvSpPr>
        <p:spPr>
          <a:xfrm>
            <a:off x="839787" y="2057400"/>
            <a:ext cx="3932240" cy="3811588"/>
          </a:xfrm>
          <a:prstGeom prst="rect">
            <a:avLst/>
          </a:prstGeom>
        </p:spPr>
        <p:txBody>
          <a:bodyPr lIns="45718" tIns="45718" rIns="45718" bIns="45718"/>
          <a:lstStyle>
            <a:lvl1pPr>
              <a:lnSpc>
                <a:spcPct val="90000"/>
              </a:lnSpc>
              <a:spcBef>
                <a:spcPts val="1000"/>
              </a:spcBef>
              <a:defRPr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>
              <a:lnSpc>
                <a:spcPct val="90000"/>
              </a:lnSpc>
              <a:spcBef>
                <a:spcPts val="1000"/>
              </a:spcBef>
              <a:defRPr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>
              <a:lnSpc>
                <a:spcPct val="90000"/>
              </a:lnSpc>
              <a:spcBef>
                <a:spcPts val="1000"/>
              </a:spcBef>
              <a:defRPr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>
              <a:lnSpc>
                <a:spcPct val="90000"/>
              </a:lnSpc>
              <a:spcBef>
                <a:spcPts val="1000"/>
              </a:spcBef>
              <a:defRPr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>
              <a:lnSpc>
                <a:spcPct val="90000"/>
              </a:lnSpc>
              <a:spcBef>
                <a:spcPts val="1000"/>
              </a:spcBef>
              <a:defRPr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</a:lstStyle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19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03382209"/>
      </p:ext>
    </p:extLst>
  </p:cSld>
  <p:clrMapOvr>
    <a:masterClrMapping/>
  </p:clrMapOvr>
  <p:transition spd="med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89889" y="211328"/>
            <a:ext cx="11012220" cy="4521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029708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08313312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86101112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400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284263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9247547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x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Texto del título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lIns="45718" tIns="45718" rIns="45718" bIns="45718" anchor="ctr"/>
          <a:lstStyle>
            <a:lvl1pPr>
              <a:lnSpc>
                <a:spcPct val="90000"/>
              </a:lnSpc>
              <a:defRPr sz="4400">
                <a:solidFill>
                  <a:srgbClr val="000000"/>
                </a:solidFill>
                <a:latin typeface="Calibri Light"/>
                <a:ea typeface="Calibri Light"/>
                <a:cs typeface="Calibri Light"/>
                <a:sym typeface="Calibri Light"/>
              </a:defRPr>
            </a:lvl1pPr>
          </a:lstStyle>
          <a:p>
            <a:r>
              <a:t>Texto del título</a:t>
            </a:r>
          </a:p>
        </p:txBody>
      </p:sp>
      <p:sp>
        <p:nvSpPr>
          <p:cNvPr id="17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11079736" y="6404293"/>
            <a:ext cx="274065" cy="269239"/>
          </a:xfrm>
          <a:prstGeom prst="rect">
            <a:avLst/>
          </a:prstGeom>
        </p:spPr>
        <p:txBody>
          <a:bodyPr lIns="45718" tIns="45718" rIns="45718" bIns="45718"/>
          <a:lstStyle>
            <a:lvl1pPr algn="r">
              <a:lnSpc>
                <a:spcPct val="100000"/>
              </a:lnSpc>
              <a:defRPr sz="1200">
                <a:solidFill>
                  <a:srgbClr val="888888"/>
                </a:solidFill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83930312"/>
      </p:ext>
    </p:extLst>
  </p:cSld>
  <p:clrMapOvr>
    <a:masterClrMapping/>
  </p:clrMapOvr>
  <p:transition spd="med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8.xml"/><Relationship Id="rId4" Type="http://schemas.openxmlformats.org/officeDocument/2006/relationships/slideLayout" Target="../slideLayouts/slideLayout19.xml"/><Relationship Id="rId5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1.xml"/><Relationship Id="rId7" Type="http://schemas.openxmlformats.org/officeDocument/2006/relationships/theme" Target="../theme/theme2.xml"/><Relationship Id="rId8" Type="http://schemas.openxmlformats.org/officeDocument/2006/relationships/image" Target="../media/image6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ángulo 6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algn="ctr"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/>
          </a:p>
        </p:txBody>
      </p:sp>
      <p:pic>
        <p:nvPicPr>
          <p:cNvPr id="3" name="Imagen 6" descr="Imagen 6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53513" y="5938122"/>
            <a:ext cx="1220012" cy="530360"/>
          </a:xfrm>
          <a:prstGeom prst="rect">
            <a:avLst/>
          </a:prstGeom>
          <a:ln w="12700">
            <a:miter lim="400000"/>
          </a:ln>
        </p:spPr>
      </p:pic>
      <p:sp>
        <p:nvSpPr>
          <p:cNvPr id="4" name="Texto del título"/>
          <p:cNvSpPr txBox="1">
            <a:spLocks noGrp="1"/>
          </p:cNvSpPr>
          <p:nvPr>
            <p:ph type="title"/>
          </p:nvPr>
        </p:nvSpPr>
        <p:spPr>
          <a:xfrm>
            <a:off x="609600" y="274637"/>
            <a:ext cx="10972800" cy="132556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Texto del título</a:t>
            </a:r>
          </a:p>
        </p:txBody>
      </p:sp>
      <p:sp>
        <p:nvSpPr>
          <p:cNvPr id="5" name="Nivel de texto 1…"/>
          <p:cNvSpPr txBox="1">
            <a:spLocks noGrp="1"/>
          </p:cNvSpPr>
          <p:nvPr>
            <p:ph type="body" idx="1"/>
          </p:nvPr>
        </p:nvSpPr>
        <p:spPr>
          <a:xfrm>
            <a:off x="609600" y="1600200"/>
            <a:ext cx="1097280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45718" tIns="45718" rIns="45718" bIns="45718">
            <a:normAutofit/>
          </a:bodyPr>
          <a:lstStyle/>
          <a:p>
            <a:r>
              <a:t>Nivel de texto 1</a:t>
            </a:r>
          </a:p>
          <a:p>
            <a:pPr lvl="1"/>
            <a:r>
              <a:t>Nivel de texto 2</a:t>
            </a:r>
          </a:p>
          <a:p>
            <a:pPr lvl="2"/>
            <a:r>
              <a:t>Nivel de texto 3</a:t>
            </a:r>
          </a:p>
          <a:p>
            <a:pPr lvl="3"/>
            <a:r>
              <a:t>Nivel de texto 4</a:t>
            </a:r>
          </a:p>
          <a:p>
            <a:pPr lvl="4"/>
            <a:r>
              <a:t>Nivel de texto 5</a:t>
            </a:r>
          </a:p>
        </p:txBody>
      </p:sp>
      <p:sp>
        <p:nvSpPr>
          <p:cNvPr id="6" name="Número de diapositiva"/>
          <p:cNvSpPr txBox="1">
            <a:spLocks noGrp="1"/>
          </p:cNvSpPr>
          <p:nvPr>
            <p:ph type="sldNum" sz="quarter" idx="2"/>
          </p:nvPr>
        </p:nvSpPr>
        <p:spPr>
          <a:xfrm>
            <a:off x="8737600" y="6037582"/>
            <a:ext cx="2844800" cy="637537"/>
          </a:xfrm>
          <a:prstGeom prst="rect">
            <a:avLst/>
          </a:prstGeom>
          <a:ln w="12700">
            <a:miter lim="400000"/>
          </a:ln>
        </p:spPr>
        <p:txBody>
          <a:bodyPr wrap="none" lIns="45718" tIns="45718" rIns="45718" bIns="45718" anchor="ctr">
            <a:spAutoFit/>
          </a:bodyPr>
          <a:lstStyle>
            <a:lvl1pPr>
              <a:lnSpc>
                <a:spcPct val="80000"/>
              </a:lnSpc>
              <a:defRPr sz="3600" b="1">
                <a:latin typeface="Montserrat"/>
                <a:ea typeface="Montserrat"/>
                <a:cs typeface="Montserrat"/>
                <a:sym typeface="Montserrat"/>
              </a:defRPr>
            </a:lvl1pPr>
          </a:lstStyle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7324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  <p:sldLayoutId id="2147483680" r:id="rId12"/>
    <p:sldLayoutId id="2147483681" r:id="rId13"/>
    <p:sldLayoutId id="2147483683" r:id="rId14"/>
    <p:sldLayoutId id="2147483684" r:id="rId15"/>
  </p:sldLayoutIdLst>
  <p:transition spd="med"/>
  <p:hf sldNum="0" hdr="0" ftr="0" dt="0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800" b="0" i="0" u="none" strike="noStrike" cap="none" spc="0" baseline="0">
          <a:solidFill>
            <a:srgbClr val="98C9EB"/>
          </a:solidFill>
          <a:uFillTx/>
          <a:latin typeface="+mn-lt"/>
          <a:ea typeface="+mn-ea"/>
          <a:cs typeface="+mn-cs"/>
          <a:sym typeface="Montserrat Semi Bold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4000" b="0" i="0" u="none" strike="noStrike" cap="none" spc="0" baseline="0">
          <a:solidFill>
            <a:srgbClr val="FFFFFF"/>
          </a:solidFill>
          <a:uFillTx/>
          <a:latin typeface="+mn-lt"/>
          <a:ea typeface="+mn-ea"/>
          <a:cs typeface="+mn-cs"/>
          <a:sym typeface="Montserrat Semi Bold"/>
        </a:defRPr>
      </a:lvl9pPr>
    </p:bodyStyle>
    <p:otherStyle>
      <a:lvl1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1pPr>
      <a:lvl2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2pPr>
      <a:lvl3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3pPr>
      <a:lvl4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4pPr>
      <a:lvl5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5pPr>
      <a:lvl6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6pPr>
      <a:lvl7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7pPr>
      <a:lvl8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8pPr>
      <a:lvl9pPr marL="0" marR="0" indent="0" algn="l" defTabSz="914400" rtl="0" latinLnBrk="0">
        <a:lnSpc>
          <a:spcPct val="8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sz="3600" b="1" i="0" u="none" strike="noStrike" cap="none" spc="0" baseline="0">
          <a:solidFill>
            <a:schemeClr val="tx1"/>
          </a:solidFill>
          <a:uFillTx/>
          <a:latin typeface="+mn-lt"/>
          <a:ea typeface="+mn-ea"/>
          <a:cs typeface="+mn-cs"/>
          <a:sym typeface="Montserra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8822690" cy="889000"/>
          </a:xfrm>
          <a:custGeom>
            <a:avLst/>
            <a:gdLst/>
            <a:ahLst/>
            <a:cxnLst/>
            <a:rect l="l" t="t" r="r" b="b"/>
            <a:pathLst>
              <a:path w="8822690" h="889000">
                <a:moveTo>
                  <a:pt x="0" y="888491"/>
                </a:moveTo>
                <a:lnTo>
                  <a:pt x="8822436" y="888491"/>
                </a:lnTo>
                <a:lnTo>
                  <a:pt x="8822436" y="0"/>
                </a:lnTo>
                <a:lnTo>
                  <a:pt x="0" y="0"/>
                </a:lnTo>
                <a:lnTo>
                  <a:pt x="0" y="888491"/>
                </a:lnTo>
                <a:close/>
              </a:path>
            </a:pathLst>
          </a:custGeom>
          <a:solidFill>
            <a:srgbClr val="00253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8930639" y="0"/>
            <a:ext cx="3261360" cy="890269"/>
          </a:xfrm>
          <a:custGeom>
            <a:avLst/>
            <a:gdLst/>
            <a:ahLst/>
            <a:cxnLst/>
            <a:rect l="l" t="t" r="r" b="b"/>
            <a:pathLst>
              <a:path w="3261359" h="890269">
                <a:moveTo>
                  <a:pt x="0" y="890015"/>
                </a:moveTo>
                <a:lnTo>
                  <a:pt x="3261359" y="890015"/>
                </a:lnTo>
                <a:lnTo>
                  <a:pt x="3261359" y="0"/>
                </a:lnTo>
                <a:lnTo>
                  <a:pt x="0" y="0"/>
                </a:lnTo>
                <a:lnTo>
                  <a:pt x="0" y="890015"/>
                </a:lnTo>
                <a:close/>
              </a:path>
            </a:pathLst>
          </a:custGeom>
          <a:solidFill>
            <a:srgbClr val="9BCAEB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6012179" y="0"/>
            <a:ext cx="4215765" cy="890269"/>
          </a:xfrm>
          <a:custGeom>
            <a:avLst/>
            <a:gdLst/>
            <a:ahLst/>
            <a:cxnLst/>
            <a:rect l="l" t="t" r="r" b="b"/>
            <a:pathLst>
              <a:path w="4215765" h="890269">
                <a:moveTo>
                  <a:pt x="4215167" y="0"/>
                </a:moveTo>
                <a:lnTo>
                  <a:pt x="1154192" y="0"/>
                </a:lnTo>
                <a:lnTo>
                  <a:pt x="0" y="890015"/>
                </a:lnTo>
                <a:lnTo>
                  <a:pt x="3070987" y="890015"/>
                </a:lnTo>
                <a:lnTo>
                  <a:pt x="4215167" y="0"/>
                </a:lnTo>
                <a:close/>
              </a:path>
            </a:pathLst>
          </a:custGeom>
          <a:solidFill>
            <a:srgbClr val="002539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19" name="bg object 19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10543032" y="126492"/>
            <a:ext cx="1420368" cy="617219"/>
          </a:xfrm>
          <a:prstGeom prst="rect">
            <a:avLst/>
          </a:prstGeom>
        </p:spPr>
      </p:pic>
      <p:sp>
        <p:nvSpPr>
          <p:cNvPr id="20" name="bg object 20"/>
          <p:cNvSpPr/>
          <p:nvPr/>
        </p:nvSpPr>
        <p:spPr>
          <a:xfrm>
            <a:off x="6095999" y="0"/>
            <a:ext cx="4114800" cy="889000"/>
          </a:xfrm>
          <a:custGeom>
            <a:avLst/>
            <a:gdLst/>
            <a:ahLst/>
            <a:cxnLst/>
            <a:rect l="l" t="t" r="r" b="b"/>
            <a:pathLst>
              <a:path w="4114800" h="889000">
                <a:moveTo>
                  <a:pt x="4114800" y="0"/>
                </a:moveTo>
                <a:lnTo>
                  <a:pt x="2986913" y="0"/>
                </a:lnTo>
                <a:lnTo>
                  <a:pt x="1260475" y="0"/>
                </a:lnTo>
                <a:lnTo>
                  <a:pt x="1131061" y="1016"/>
                </a:lnTo>
                <a:lnTo>
                  <a:pt x="0" y="888491"/>
                </a:lnTo>
                <a:lnTo>
                  <a:pt x="2992374" y="888491"/>
                </a:lnTo>
                <a:lnTo>
                  <a:pt x="4114800" y="0"/>
                </a:lnTo>
                <a:close/>
              </a:path>
            </a:pathLst>
          </a:custGeom>
          <a:solidFill>
            <a:srgbClr val="234B5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9817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1" i="0">
                <a:solidFill>
                  <a:schemeClr val="bg1"/>
                </a:solidFill>
                <a:latin typeface="Verdana"/>
                <a:cs typeface="Verdan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424995" y="1946851"/>
            <a:ext cx="6077584" cy="344551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10/1/2026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2483617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  <p:sldLayoutId id="2147483687" r:id="rId2"/>
    <p:sldLayoutId id="2147483688" r:id="rId3"/>
    <p:sldLayoutId id="2147483689" r:id="rId4"/>
    <p:sldLayoutId id="2147483690" r:id="rId5"/>
    <p:sldLayoutId id="2147483692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7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con_boxopen_white.png"/><Relationship Id="rId3" Type="http://schemas.openxmlformats.org/officeDocument/2006/relationships/image" Target="../media/icon_boxopen_white.png"/><Relationship Id="rId4" Type="http://schemas.openxmlformats.org/officeDocument/2006/relationships/image" Target="../media/icon_industry_white.png"/><Relationship Id="rId5" Type="http://schemas.openxmlformats.org/officeDocument/2006/relationships/image" Target="../media/icon_industry_white.png"/><Relationship Id="rId6" Type="http://schemas.openxmlformats.org/officeDocument/2006/relationships/image" Target="../media/icon_sync_navy.png"/><Relationship Id="rId7" Type="http://schemas.openxmlformats.org/officeDocument/2006/relationships/image" Target="../media/icon_eye_navy.png"/><Relationship Id="rId8" Type="http://schemas.openxmlformats.org/officeDocument/2006/relationships/image" Target="../media/icon_link_navy.png"/><Relationship Id="rId9" Type="http://schemas.openxmlformats.org/officeDocument/2006/relationships/image" Target="../media/icon_warehouse_navy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con_globe_white.png"/><Relationship Id="rId3" Type="http://schemas.openxmlformats.org/officeDocument/2006/relationships/image" Target="../media/icon_industry_white.png"/><Relationship Id="rId4" Type="http://schemas.openxmlformats.org/officeDocument/2006/relationships/chart" Target="../charts/char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con_globe_white.png"/><Relationship Id="rId3" Type="http://schemas.openxmlformats.org/officeDocument/2006/relationships/image" Target="../media/icon_puzzle_white.png"/><Relationship Id="rId4" Type="http://schemas.openxmlformats.org/officeDocument/2006/relationships/image" Target="../media/icon_usersclock_white.png"/><Relationship Id="rId5" Type="http://schemas.openxmlformats.org/officeDocument/2006/relationships/image" Target="../media/icon_check_white.png"/><Relationship Id="rId6" Type="http://schemas.openxmlformats.org/officeDocument/2006/relationships/image" Target="../media/icon_check_white.png"/><Relationship Id="rId7" Type="http://schemas.openxmlformats.org/officeDocument/2006/relationships/image" Target="../media/icon_check_white.png"/><Relationship Id="rId8" Type="http://schemas.openxmlformats.org/officeDocument/2006/relationships/image" Target="../media/icon_check_white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image" Target="../media/image16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Rectángulo 5"/>
          <p:cNvSpPr/>
          <p:nvPr/>
        </p:nvSpPr>
        <p:spPr>
          <a:xfrm>
            <a:off x="0" y="0"/>
            <a:ext cx="6726805" cy="6858000"/>
          </a:xfrm>
          <a:prstGeom prst="rect">
            <a:avLst/>
          </a:prstGeom>
          <a:solidFill>
            <a:srgbClr val="98C9EB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sp>
        <p:nvSpPr>
          <p:cNvPr id="138" name="Rectángulo 6"/>
          <p:cNvSpPr/>
          <p:nvPr/>
        </p:nvSpPr>
        <p:spPr>
          <a:xfrm>
            <a:off x="6576000" y="0"/>
            <a:ext cx="4680003" cy="6858000"/>
          </a:xfrm>
          <a:prstGeom prst="rect">
            <a:avLst/>
          </a:prstGeom>
          <a:solidFill>
            <a:srgbClr val="00263A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sp>
        <p:nvSpPr>
          <p:cNvPr id="139" name="Rectángulo 7"/>
          <p:cNvSpPr/>
          <p:nvPr/>
        </p:nvSpPr>
        <p:spPr>
          <a:xfrm>
            <a:off x="11255998" y="0"/>
            <a:ext cx="936003" cy="6858000"/>
          </a:xfrm>
          <a:prstGeom prst="rect">
            <a:avLst/>
          </a:prstGeom>
          <a:solidFill>
            <a:srgbClr val="D2DCE5"/>
          </a:solidFill>
          <a:ln w="12700">
            <a:miter lim="400000"/>
          </a:ln>
        </p:spPr>
        <p:txBody>
          <a:bodyPr lIns="45718" tIns="45718" rIns="45718" bIns="45718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defRPr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/>
              <a:cs typeface="Calibri"/>
              <a:sym typeface="Calibri"/>
            </a:endParaRPr>
          </a:p>
        </p:txBody>
      </p:sp>
      <p:sp>
        <p:nvSpPr>
          <p:cNvPr id="141" name="Título"/>
          <p:cNvSpPr txBox="1">
            <a:spLocks noGrp="1"/>
          </p:cNvSpPr>
          <p:nvPr>
            <p:ph type="title"/>
          </p:nvPr>
        </p:nvSpPr>
        <p:spPr>
          <a:xfrm>
            <a:off x="270316" y="4114800"/>
            <a:ext cx="6219959" cy="2103120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  <a:defRPr sz="3600">
                <a:solidFill>
                  <a:srgbClr val="00263A"/>
                </a:solidFill>
                <a:latin typeface="Montserrat Bold"/>
                <a:ea typeface="Montserrat Bold"/>
                <a:cs typeface="Montserrat Bold"/>
                <a:sym typeface="Montserrat Bold"/>
              </a:defRPr>
            </a:pPr>
            <a:r>
              <a:rPr sz="3300" b="1" i="0">
                <a:solidFill>
                  <a:srgbClr val="00263A"/>
                </a:solidFill>
                <a:latin typeface="Montserrat"/>
              </a:rPr>
              <a:t>Planificación de Packaging</a:t>
            </a:r>
            <a:endParaRPr lang="en-US" sz="2000" dirty="0"/>
          </a:p>
          <a:p>
            <a:pPr algn="l">
              <a:lnSpc>
                <a:spcPct val="105000"/>
              </a:lnSpc>
              <a:buNone/>
            </a:pPr>
            <a:r>
              <a:rPr sz="1500" b="0" i="1">
                <a:solidFill>
                  <a:srgbClr val="244C5A"/>
                </a:solidFill>
                <a:latin typeface="Montserrat"/>
              </a:rPr>
              <a:t>Mejoras realizadas y próximos pasos por planta</a:t>
            </a:r>
          </a:p>
          <a:p>
            <a:pPr algn="l">
              <a:lnSpc>
                <a:spcPct val="105000"/>
              </a:lnSpc>
              <a:spcBef>
                <a:spcPts val="900"/>
              </a:spcBef>
              <a:buNone/>
            </a:pPr>
            <a:r>
              <a:rPr lang="es-ES" sz="1100" b="1" i="0" spc="60">
                <a:solidFill>
                  <a:srgbClr val="244C5A"/>
                </a:solidFill>
                <a:latin typeface="Montserrat"/>
              </a:rPr>
              <a:t>Ondupet  ·  Ondupack  ·  MGT + PDA  |  Octubre 2026</a:t>
            </a:r>
          </a:p>
        </p:txBody>
      </p:sp>
      <p:pic>
        <p:nvPicPr>
          <p:cNvPr id="8" name="Imagen 7" descr="Logotipo&#10;&#10;Descripción generada automáticamente">
            <a:extLst>
              <a:ext uri="{FF2B5EF4-FFF2-40B4-BE49-F238E27FC236}">
                <a16:creationId xmlns:a16="http://schemas.microsoft.com/office/drawing/2014/main" id="{C0AE04F5-B570-43A6-AC8C-F2AD37DC6A9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041" y="1138241"/>
            <a:ext cx="2420303" cy="1052146"/>
          </a:xfrm>
          <a:prstGeom prst="rect">
            <a:avLst/>
          </a:prstGeom>
        </p:spPr>
      </p:pic>
    </p:spTree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Índice</a:t>
            </a:r>
          </a:p>
        </p:txBody>
      </p:sp>
      <p:sp>
        <p:nvSpPr>
          <p:cNvPr id="3" name="Shape 3"/>
          <p:cNvSpPr/>
          <p:nvPr/>
        </p:nvSpPr>
        <p:spPr>
          <a:xfrm>
            <a:off x="548640" y="1371600"/>
            <a:ext cx="11091672" cy="822960"/>
          </a:xfrm>
          <a:prstGeom prst="roundRect">
            <a:avLst>
              <a:gd name="adj" fmla="val 8888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" name="Shape 4"/>
          <p:cNvSpPr/>
          <p:nvPr/>
        </p:nvSpPr>
        <p:spPr>
          <a:xfrm>
            <a:off x="777240" y="1554480"/>
            <a:ext cx="457200" cy="45720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00263A"/>
                </a:solidFill>
                <a:latin typeface="Montserrat"/>
                <a:cs typeface="Montserrat"/>
              </a:rPr>
              <a:t>01</a:t>
            </a:r>
            <a:endParaRPr lang="es-ES" sz="1200" dirty="0"/>
          </a:p>
        </p:txBody>
      </p:sp>
      <p:sp>
        <p:nvSpPr>
          <p:cNvPr id="5" name="Shape 5"/>
          <p:cNvSpPr txBox="1"/>
          <p:nvPr/>
        </p:nvSpPr>
        <p:spPr>
          <a:xfrm>
            <a:off x="1463040" y="1371600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600" b="1" i="0" dirty="0">
                <a:solidFill>
                  <a:srgbClr val="FFFFFF"/>
                </a:solidFill>
                <a:latin typeface="Montserrat"/>
                <a:cs typeface="Montserrat"/>
              </a:rPr>
              <a:t>Ondupet</a:t>
            </a:r>
            <a:endParaRPr lang="es-ES" sz="1600" dirty="0"/>
          </a:p>
        </p:txBody>
      </p:sp>
      <p:sp>
        <p:nvSpPr>
          <p:cNvPr id="6" name="Shape 6"/>
          <p:cNvSpPr txBox="1"/>
          <p:nvPr/>
        </p:nvSpPr>
        <p:spPr>
          <a:xfrm>
            <a:off x="4206240" y="1371600"/>
            <a:ext cx="52120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0" i="0" dirty="0">
                <a:solidFill>
                  <a:srgbClr val="DCE7EF"/>
                </a:solidFill>
                <a:latin typeface="Montserrat"/>
                <a:cs typeface="Montserrat"/>
              </a:rPr>
              <a:t>Matriz de procesos de planificación</a:t>
            </a:r>
            <a:endParaRPr lang="es-ES" sz="1100" dirty="0"/>
          </a:p>
        </p:txBody>
      </p:sp>
      <p:sp>
        <p:nvSpPr>
          <p:cNvPr id="7" name="Shape 7"/>
          <p:cNvSpPr/>
          <p:nvPr/>
        </p:nvSpPr>
        <p:spPr>
          <a:xfrm>
            <a:off x="9628632" y="1627632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AVANZADO</a:t>
            </a:r>
            <a:endParaRPr lang="es-ES" sz="850" dirty="0"/>
          </a:p>
        </p:txBody>
      </p:sp>
      <p:sp>
        <p:nvSpPr>
          <p:cNvPr id="8" name="Shape 8"/>
          <p:cNvSpPr/>
          <p:nvPr/>
        </p:nvSpPr>
        <p:spPr>
          <a:xfrm>
            <a:off x="548640" y="2395728"/>
            <a:ext cx="11091672" cy="822960"/>
          </a:xfrm>
          <a:prstGeom prst="roundRect">
            <a:avLst>
              <a:gd name="adj" fmla="val 8888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9" name="Shape 9"/>
          <p:cNvSpPr/>
          <p:nvPr/>
        </p:nvSpPr>
        <p:spPr>
          <a:xfrm>
            <a:off x="777240" y="2578608"/>
            <a:ext cx="457200" cy="45720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00263A"/>
                </a:solidFill>
                <a:latin typeface="Montserrat"/>
                <a:cs typeface="Montserrat"/>
              </a:rPr>
              <a:t>02</a:t>
            </a:r>
            <a:endParaRPr lang="es-ES" sz="1200" dirty="0"/>
          </a:p>
        </p:txBody>
      </p:sp>
      <p:sp>
        <p:nvSpPr>
          <p:cNvPr id="10" name="Shape 10"/>
          <p:cNvSpPr txBox="1"/>
          <p:nvPr/>
        </p:nvSpPr>
        <p:spPr>
          <a:xfrm>
            <a:off x="1463040" y="2395728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600" b="1" i="0" dirty="0">
                <a:solidFill>
                  <a:srgbClr val="FFFFFF"/>
                </a:solidFill>
                <a:latin typeface="Montserrat"/>
                <a:cs typeface="Montserrat"/>
              </a:rPr>
              <a:t>Ondupack</a:t>
            </a:r>
            <a:endParaRPr lang="es-ES" sz="1600" dirty="0"/>
          </a:p>
        </p:txBody>
      </p:sp>
      <p:sp>
        <p:nvSpPr>
          <p:cNvPr id="11" name="Shape 11"/>
          <p:cNvSpPr txBox="1"/>
          <p:nvPr/>
        </p:nvSpPr>
        <p:spPr>
          <a:xfrm>
            <a:off x="4206240" y="2395728"/>
            <a:ext cx="52120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0" i="0" dirty="0">
                <a:solidFill>
                  <a:srgbClr val="DCE7EF"/>
                </a:solidFill>
                <a:latin typeface="Montserrat"/>
                <a:cs typeface="Montserrat"/>
              </a:rPr>
              <a:t>Matriz de procesos de planificación</a:t>
            </a:r>
            <a:endParaRPr lang="es-ES" sz="1100" dirty="0"/>
          </a:p>
        </p:txBody>
      </p:sp>
      <p:sp>
        <p:nvSpPr>
          <p:cNvPr id="12" name="Shape 12"/>
          <p:cNvSpPr/>
          <p:nvPr/>
        </p:nvSpPr>
        <p:spPr>
          <a:xfrm>
            <a:off x="9628632" y="2651760"/>
            <a:ext cx="1783080" cy="310896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AVANZADO</a:t>
            </a:r>
            <a:endParaRPr lang="es-ES" sz="850" dirty="0"/>
          </a:p>
        </p:txBody>
      </p:sp>
      <p:sp>
        <p:nvSpPr>
          <p:cNvPr id="13" name="Shape 13"/>
          <p:cNvSpPr/>
          <p:nvPr/>
        </p:nvSpPr>
        <p:spPr>
          <a:xfrm>
            <a:off x="548640" y="3419856"/>
            <a:ext cx="11091672" cy="822960"/>
          </a:xfrm>
          <a:prstGeom prst="roundRect">
            <a:avLst>
              <a:gd name="adj" fmla="val 8888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4" name="Shape 14"/>
          <p:cNvSpPr/>
          <p:nvPr/>
        </p:nvSpPr>
        <p:spPr>
          <a:xfrm>
            <a:off x="777240" y="3602736"/>
            <a:ext cx="457200" cy="45720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00263A"/>
                </a:solidFill>
                <a:latin typeface="Montserrat"/>
                <a:cs typeface="Montserrat"/>
              </a:rPr>
              <a:t>03</a:t>
            </a:r>
            <a:endParaRPr lang="es-ES" sz="1200" dirty="0"/>
          </a:p>
        </p:txBody>
      </p:sp>
      <p:sp>
        <p:nvSpPr>
          <p:cNvPr id="15" name="Shape 15"/>
          <p:cNvSpPr txBox="1"/>
          <p:nvPr/>
        </p:nvSpPr>
        <p:spPr>
          <a:xfrm>
            <a:off x="1463040" y="3419856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600" b="1" i="0" dirty="0">
                <a:solidFill>
                  <a:srgbClr val="FFFFFF"/>
                </a:solidFill>
                <a:latin typeface="Montserrat"/>
                <a:cs typeface="Montserrat"/>
              </a:rPr>
              <a:t>MGT + PDA</a:t>
            </a:r>
            <a:endParaRPr lang="es-ES" sz="1600" dirty="0"/>
          </a:p>
        </p:txBody>
      </p:sp>
      <p:sp>
        <p:nvSpPr>
          <p:cNvPr id="16" name="Shape 16"/>
          <p:cNvSpPr txBox="1"/>
          <p:nvPr/>
        </p:nvSpPr>
        <p:spPr>
          <a:xfrm>
            <a:off x="4206240" y="3419856"/>
            <a:ext cx="52120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0" i="0" dirty="0">
                <a:solidFill>
                  <a:srgbClr val="DCE7EF"/>
                </a:solidFill>
                <a:latin typeface="Montserrat"/>
                <a:cs typeface="Montserrat"/>
              </a:rPr>
              <a:t>Papeleras: integración intercompany, SIGPA y Papresa</a:t>
            </a:r>
            <a:endParaRPr lang="es-ES" sz="1100" dirty="0"/>
          </a:p>
        </p:txBody>
      </p:sp>
      <p:sp>
        <p:nvSpPr>
          <p:cNvPr id="17" name="Shape 17"/>
          <p:cNvSpPr/>
          <p:nvPr/>
        </p:nvSpPr>
        <p:spPr>
          <a:xfrm>
            <a:off x="548640" y="4443984"/>
            <a:ext cx="11091672" cy="822960"/>
          </a:xfrm>
          <a:prstGeom prst="roundRect">
            <a:avLst>
              <a:gd name="adj" fmla="val 8888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8" name="Shape 18"/>
          <p:cNvSpPr/>
          <p:nvPr/>
        </p:nvSpPr>
        <p:spPr>
          <a:xfrm>
            <a:off x="777240" y="4626864"/>
            <a:ext cx="457200" cy="45720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98C9EB"/>
                </a:solidFill>
                <a:latin typeface="Montserrat"/>
                <a:cs typeface="Montserrat"/>
              </a:rPr>
              <a:t>04</a:t>
            </a:r>
            <a:endParaRPr lang="es-ES" sz="1200" dirty="0"/>
          </a:p>
        </p:txBody>
      </p:sp>
      <p:sp>
        <p:nvSpPr>
          <p:cNvPr id="19" name="Shape 19"/>
          <p:cNvSpPr txBox="1"/>
          <p:nvPr/>
        </p:nvSpPr>
        <p:spPr>
          <a:xfrm>
            <a:off x="1463040" y="4443984"/>
            <a:ext cx="265176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600" b="1" i="0" dirty="0">
                <a:solidFill>
                  <a:srgbClr val="00263A"/>
                </a:solidFill>
                <a:latin typeface="Montserrat"/>
                <a:cs typeface="Montserrat"/>
              </a:rPr>
              <a:t>Anexo</a:t>
            </a:r>
            <a:endParaRPr lang="es-ES" sz="1600" dirty="0"/>
          </a:p>
        </p:txBody>
      </p:sp>
      <p:sp>
        <p:nvSpPr>
          <p:cNvPr id="20" name="Shape 20"/>
          <p:cNvSpPr txBox="1"/>
          <p:nvPr/>
        </p:nvSpPr>
        <p:spPr>
          <a:xfrm>
            <a:off x="4206240" y="4443984"/>
            <a:ext cx="521208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0" i="0" dirty="0">
                <a:solidFill>
                  <a:srgbClr val="5B6B78"/>
                </a:solidFill>
                <a:latin typeface="Montserrat"/>
                <a:cs typeface="Montserrat"/>
              </a:rPr>
              <a:t>Próximos pasos detallados y proyectos 2027</a:t>
            </a:r>
            <a:endParaRPr lang="es-ES" sz="1100" dirty="0"/>
          </a:p>
        </p:txBody>
      </p:sp>
      <p:sp>
        <p:nvSpPr>
          <p:cNvPr id="21" name="Shape 21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2</a:t>
            </a:r>
            <a:endParaRPr lang="es-E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729984" cy="6858000"/>
          </a:xfrm>
          <a:prstGeom prst="rect">
            <a:avLst/>
          </a:prstGeom>
          <a:solidFill>
            <a:srgbClr val="98C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729984" y="0"/>
            <a:ext cx="4526280" cy="6858000"/>
          </a:xfrm>
          <a:prstGeom prst="rect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256264" y="0"/>
            <a:ext cx="941832" cy="6858000"/>
          </a:xfrm>
          <a:prstGeom prst="rect">
            <a:avLst/>
          </a:prstGeom>
          <a:solidFill>
            <a:srgbClr val="D2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97280"/>
            <a:ext cx="2145550" cy="93268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68680" y="2788920"/>
            <a:ext cx="713232" cy="713232"/>
          </a:xfrm>
          <a:prstGeom prst="ellipse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05000"/>
              </a:lnSpc>
              <a:buNone/>
            </a:pPr>
            <a:r>
              <a:rPr sz="2000" b="1" i="0">
                <a:solidFill>
                  <a:srgbClr val="98C9EB"/>
                </a:solidFill>
                <a:latin typeface="Montserra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67328"/>
            <a:ext cx="53949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 i="0">
                <a:solidFill>
                  <a:srgbClr val="00263A"/>
                </a:solidFill>
                <a:latin typeface="Montserrat"/>
              </a:rPr>
              <a:t>Ondupet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681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350" b="0" i="1">
                <a:solidFill>
                  <a:srgbClr val="244C5A"/>
                </a:solidFill>
                <a:latin typeface="Montserrat"/>
              </a:rPr>
              <a:t>Extrusión de lámina y termoformado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Ondupet · Matriz de procesos</a:t>
            </a:r>
          </a:p>
        </p:txBody>
      </p:sp>
      <p:sp>
        <p:nvSpPr>
          <p:cNvPr id="3" name="Shape 3"/>
          <p:cNvSpPr/>
          <p:nvPr/>
        </p:nvSpPr>
        <p:spPr>
          <a:xfrm>
            <a:off x="7360920" y="3108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5 DE 8 IMPLANTADOS</a:t>
            </a:r>
            <a:endParaRPr lang="es-ES" sz="8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280160"/>
            <a:ext cx="21488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PROCESO</a:t>
            </a:r>
            <a:endParaRPr lang="es-ES" sz="850" dirty="0"/>
          </a:p>
        </p:txBody>
      </p:sp>
      <p:sp>
        <p:nvSpPr>
          <p:cNvPr id="5" name="Shape 5"/>
          <p:cNvSpPr txBox="1"/>
          <p:nvPr/>
        </p:nvSpPr>
        <p:spPr>
          <a:xfrm>
            <a:off x="2807208" y="1280160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ESTADO</a:t>
            </a:r>
            <a:endParaRPr lang="es-ES" sz="850" dirty="0"/>
          </a:p>
        </p:txBody>
      </p:sp>
      <p:sp>
        <p:nvSpPr>
          <p:cNvPr id="6" name="Shape 6"/>
          <p:cNvSpPr txBox="1"/>
          <p:nvPr/>
        </p:nvSpPr>
        <p:spPr>
          <a:xfrm>
            <a:off x="4425696" y="1280160"/>
            <a:ext cx="46177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TENEMOS HOY</a:t>
            </a:r>
            <a:endParaRPr lang="es-ES" sz="850" dirty="0"/>
          </a:p>
        </p:txBody>
      </p:sp>
      <p:sp>
        <p:nvSpPr>
          <p:cNvPr id="7" name="Shape 7"/>
          <p:cNvSpPr txBox="1"/>
          <p:nvPr/>
        </p:nvSpPr>
        <p:spPr>
          <a:xfrm>
            <a:off x="9153144" y="1280160"/>
            <a:ext cx="262432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SIGUIENTE PASO</a:t>
            </a:r>
            <a:endParaRPr lang="es-ES" sz="850" dirty="0"/>
          </a:p>
        </p:txBody>
      </p:sp>
      <p:sp>
        <p:nvSpPr>
          <p:cNvPr id="8" name="Shape 8"/>
          <p:cNvSpPr/>
          <p:nvPr/>
        </p:nvSpPr>
        <p:spPr>
          <a:xfrm>
            <a:off x="548640" y="1572768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9" name="Shape 9"/>
          <p:cNvSpPr/>
          <p:nvPr/>
        </p:nvSpPr>
        <p:spPr>
          <a:xfrm>
            <a:off x="685800" y="1655064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1</a:t>
            </a:r>
            <a:endParaRPr lang="es-ES" sz="900" dirty="0"/>
          </a:p>
        </p:txBody>
      </p:sp>
      <p:sp>
        <p:nvSpPr>
          <p:cNvPr id="10" name="Shape 10"/>
          <p:cNvSpPr txBox="1"/>
          <p:nvPr/>
        </p:nvSpPr>
        <p:spPr>
          <a:xfrm>
            <a:off x="1078992" y="1572768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Dato maestro</a:t>
            </a:r>
            <a:endParaRPr lang="es-ES" sz="1100" dirty="0"/>
          </a:p>
        </p:txBody>
      </p:sp>
      <p:sp>
        <p:nvSpPr>
          <p:cNvPr id="11" name="Shape 11"/>
          <p:cNvSpPr/>
          <p:nvPr/>
        </p:nvSpPr>
        <p:spPr>
          <a:xfrm>
            <a:off x="2807208" y="1664208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12" name="Shape 12"/>
          <p:cNvSpPr txBox="1"/>
          <p:nvPr/>
        </p:nvSpPr>
        <p:spPr>
          <a:xfrm>
            <a:off x="4425696" y="1572768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ABC y estrategia MTS/MTO por material, duplicados depurados; velocidades, cambios y calendario parametrizados</a:t>
            </a:r>
            <a:endParaRPr lang="es-ES" sz="900" dirty="0"/>
          </a:p>
        </p:txBody>
      </p:sp>
      <p:sp>
        <p:nvSpPr>
          <p:cNvPr id="13" name="Shape 13"/>
          <p:cNvSpPr txBox="1"/>
          <p:nvPr/>
        </p:nvSpPr>
        <p:spPr>
          <a:xfrm>
            <a:off x="9153144" y="1572768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14" name="Shape 14"/>
          <p:cNvSpPr/>
          <p:nvPr/>
        </p:nvSpPr>
        <p:spPr>
          <a:xfrm>
            <a:off x="548640" y="2066544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5" name="Shape 15"/>
          <p:cNvSpPr/>
          <p:nvPr/>
        </p:nvSpPr>
        <p:spPr>
          <a:xfrm>
            <a:off x="685800" y="2148840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2</a:t>
            </a:r>
            <a:endParaRPr lang="es-ES" sz="900" dirty="0"/>
          </a:p>
        </p:txBody>
      </p:sp>
      <p:sp>
        <p:nvSpPr>
          <p:cNvPr id="16" name="Shape 16"/>
          <p:cNvSpPr txBox="1"/>
          <p:nvPr/>
        </p:nvSpPr>
        <p:spPr>
          <a:xfrm>
            <a:off x="1078992" y="2066544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Demanda</a:t>
            </a:r>
            <a:endParaRPr lang="es-ES" sz="1100" dirty="0"/>
          </a:p>
        </p:txBody>
      </p:sp>
      <p:sp>
        <p:nvSpPr>
          <p:cNvPr id="17" name="Shape 17"/>
          <p:cNvSpPr/>
          <p:nvPr/>
        </p:nvSpPr>
        <p:spPr>
          <a:xfrm>
            <a:off x="2807208" y="2157984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18" name="Shape 18"/>
          <p:cNvSpPr txBox="1"/>
          <p:nvPr/>
        </p:nvSpPr>
        <p:spPr>
          <a:xfrm>
            <a:off x="4425696" y="2066544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Propuesta automática de fabricación desde la previsión, con su precisión medida y la demanda perdida registrada</a:t>
            </a:r>
            <a:endParaRPr lang="es-ES" sz="900" dirty="0"/>
          </a:p>
        </p:txBody>
      </p:sp>
      <p:sp>
        <p:nvSpPr>
          <p:cNvPr id="19" name="Shape 19"/>
          <p:cNvSpPr txBox="1"/>
          <p:nvPr/>
        </p:nvSpPr>
        <p:spPr>
          <a:xfrm>
            <a:off x="9153144" y="2066544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20" name="Shape 20"/>
          <p:cNvSpPr/>
          <p:nvPr/>
        </p:nvSpPr>
        <p:spPr>
          <a:xfrm>
            <a:off x="548640" y="2560320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1" name="Shape 21"/>
          <p:cNvSpPr/>
          <p:nvPr/>
        </p:nvSpPr>
        <p:spPr>
          <a:xfrm>
            <a:off x="685800" y="2642616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3</a:t>
            </a:r>
            <a:endParaRPr lang="es-ES" sz="900" dirty="0"/>
          </a:p>
        </p:txBody>
      </p:sp>
      <p:sp>
        <p:nvSpPr>
          <p:cNvPr id="22" name="Shape 22"/>
          <p:cNvSpPr txBox="1"/>
          <p:nvPr/>
        </p:nvSpPr>
        <p:spPr>
          <a:xfrm>
            <a:off x="1078992" y="2560320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Cartera</a:t>
            </a:r>
            <a:endParaRPr lang="es-ES" sz="1100" dirty="0"/>
          </a:p>
        </p:txBody>
      </p:sp>
      <p:sp>
        <p:nvSpPr>
          <p:cNvPr id="23" name="Shape 23"/>
          <p:cNvSpPr/>
          <p:nvPr/>
        </p:nvSpPr>
        <p:spPr>
          <a:xfrm>
            <a:off x="2807208" y="2651760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24" name="Shape 24"/>
          <p:cNvSpPr txBox="1"/>
          <p:nvPr/>
        </p:nvSpPr>
        <p:spPr>
          <a:xfrm>
            <a:off x="4425696" y="2560320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Pedidos con pendiente, stock y cargas asociadas; cierre de pedidos (saldado)</a:t>
            </a:r>
            <a:endParaRPr lang="es-ES" sz="900" dirty="0"/>
          </a:p>
        </p:txBody>
      </p:sp>
      <p:sp>
        <p:nvSpPr>
          <p:cNvPr id="25" name="Shape 25"/>
          <p:cNvSpPr txBox="1"/>
          <p:nvPr/>
        </p:nvSpPr>
        <p:spPr>
          <a:xfrm>
            <a:off x="9153144" y="2560320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26" name="Shape 26"/>
          <p:cNvSpPr/>
          <p:nvPr/>
        </p:nvSpPr>
        <p:spPr>
          <a:xfrm>
            <a:off x="548640" y="3054096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7" name="Shape 27"/>
          <p:cNvSpPr/>
          <p:nvPr/>
        </p:nvSpPr>
        <p:spPr>
          <a:xfrm>
            <a:off x="685800" y="3136392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4</a:t>
            </a:r>
            <a:endParaRPr lang="es-ES" sz="900" dirty="0"/>
          </a:p>
        </p:txBody>
      </p:sp>
      <p:sp>
        <p:nvSpPr>
          <p:cNvPr id="28" name="Shape 28"/>
          <p:cNvSpPr txBox="1"/>
          <p:nvPr/>
        </p:nvSpPr>
        <p:spPr>
          <a:xfrm>
            <a:off x="1078992" y="3054096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Necesidades</a:t>
            </a:r>
            <a:endParaRPr lang="es-ES" sz="1100" dirty="0"/>
          </a:p>
        </p:txBody>
      </p:sp>
      <p:sp>
        <p:nvSpPr>
          <p:cNvPr id="29" name="Shape 29"/>
          <p:cNvSpPr/>
          <p:nvPr/>
        </p:nvSpPr>
        <p:spPr>
          <a:xfrm>
            <a:off x="2807208" y="3145536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30" name="Shape 30"/>
          <p:cNvSpPr txBox="1"/>
          <p:nvPr/>
        </p:nvSpPr>
        <p:spPr>
          <a:xfrm>
            <a:off x="4425696" y="3054096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MRP en SAP montado desde cero e integrado con GIO: producto terminado y bobina</a:t>
            </a:r>
            <a:endParaRPr lang="es-ES" sz="900" dirty="0"/>
          </a:p>
        </p:txBody>
      </p:sp>
      <p:sp>
        <p:nvSpPr>
          <p:cNvPr id="31" name="Shape 31"/>
          <p:cNvSpPr txBox="1"/>
          <p:nvPr/>
        </p:nvSpPr>
        <p:spPr>
          <a:xfrm>
            <a:off x="9153144" y="3054096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32" name="Shape 32"/>
          <p:cNvSpPr/>
          <p:nvPr/>
        </p:nvSpPr>
        <p:spPr>
          <a:xfrm>
            <a:off x="548640" y="3547872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3" name="Shape 33"/>
          <p:cNvSpPr/>
          <p:nvPr/>
        </p:nvSpPr>
        <p:spPr>
          <a:xfrm>
            <a:off x="9015984" y="3547872"/>
            <a:ext cx="2624328" cy="438912"/>
          </a:xfrm>
          <a:prstGeom prst="roundRect">
            <a:avLst>
              <a:gd name="adj" fmla="val 12500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4" name="Shape 34"/>
          <p:cNvSpPr/>
          <p:nvPr/>
        </p:nvSpPr>
        <p:spPr>
          <a:xfrm>
            <a:off x="685800" y="3630168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5</a:t>
            </a:r>
            <a:endParaRPr lang="es-ES" sz="900" dirty="0"/>
          </a:p>
        </p:txBody>
      </p:sp>
      <p:sp>
        <p:nvSpPr>
          <p:cNvPr id="35" name="Shape 35"/>
          <p:cNvSpPr txBox="1"/>
          <p:nvPr/>
        </p:nvSpPr>
        <p:spPr>
          <a:xfrm>
            <a:off x="1078992" y="3547872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Capacidad</a:t>
            </a:r>
            <a:endParaRPr lang="es-ES" sz="1100" dirty="0"/>
          </a:p>
        </p:txBody>
      </p:sp>
      <p:sp>
        <p:nvSpPr>
          <p:cNvPr id="36" name="Shape 36"/>
          <p:cNvSpPr/>
          <p:nvPr/>
        </p:nvSpPr>
        <p:spPr>
          <a:xfrm>
            <a:off x="2807208" y="3639312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8C9EB"/>
            </a:solidFill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244C5A"/>
                </a:solidFill>
                <a:latin typeface="Montserrat"/>
                <a:cs typeface="Montserrat"/>
              </a:rPr>
              <a:t>PRÓXIMO PASO</a:t>
            </a:r>
            <a:endParaRPr lang="es-ES" sz="750" dirty="0"/>
          </a:p>
        </p:txBody>
      </p:sp>
      <p:sp>
        <p:nvSpPr>
          <p:cNvPr id="37" name="Shape 37"/>
          <p:cNvSpPr txBox="1"/>
          <p:nvPr/>
        </p:nvSpPr>
        <p:spPr>
          <a:xfrm>
            <a:off x="4425696" y="3547872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Base preparada: calendario real y velocidades de extrusión</a:t>
            </a:r>
            <a:endParaRPr lang="es-ES" sz="900" dirty="0"/>
          </a:p>
        </p:txBody>
      </p:sp>
      <p:sp>
        <p:nvSpPr>
          <p:cNvPr id="38" name="Shape 38"/>
          <p:cNvSpPr txBox="1"/>
          <p:nvPr/>
        </p:nvSpPr>
        <p:spPr>
          <a:xfrm>
            <a:off x="9153144" y="3547872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Carga de capacidad: % de saturación por línea</a:t>
            </a:r>
            <a:endParaRPr lang="es-ES" sz="900" dirty="0"/>
          </a:p>
        </p:txBody>
      </p:sp>
      <p:sp>
        <p:nvSpPr>
          <p:cNvPr id="39" name="Shape 39"/>
          <p:cNvSpPr/>
          <p:nvPr/>
        </p:nvSpPr>
        <p:spPr>
          <a:xfrm>
            <a:off x="548640" y="4041648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0" name="Shape 40"/>
          <p:cNvSpPr/>
          <p:nvPr/>
        </p:nvSpPr>
        <p:spPr>
          <a:xfrm>
            <a:off x="685800" y="4123944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6</a:t>
            </a:r>
            <a:endParaRPr lang="es-ES" sz="900" dirty="0"/>
          </a:p>
        </p:txBody>
      </p:sp>
      <p:sp>
        <p:nvSpPr>
          <p:cNvPr id="41" name="Shape 41"/>
          <p:cNvSpPr txBox="1"/>
          <p:nvPr/>
        </p:nvSpPr>
        <p:spPr>
          <a:xfrm>
            <a:off x="1078992" y="4041648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Programación</a:t>
            </a:r>
            <a:endParaRPr lang="es-ES" sz="1100" dirty="0"/>
          </a:p>
        </p:txBody>
      </p:sp>
      <p:sp>
        <p:nvSpPr>
          <p:cNvPr id="42" name="Shape 42"/>
          <p:cNvSpPr/>
          <p:nvPr/>
        </p:nvSpPr>
        <p:spPr>
          <a:xfrm>
            <a:off x="2807208" y="4133088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43" name="Shape 43"/>
          <p:cNvSpPr txBox="1"/>
          <p:nvPr/>
        </p:nvSpPr>
        <p:spPr>
          <a:xfrm>
            <a:off x="4425696" y="4041648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Ciclos de termoformado (por molde) y de extrusión (por calidad), con cronograma de cambios</a:t>
            </a:r>
            <a:endParaRPr lang="es-ES" sz="900" dirty="0"/>
          </a:p>
        </p:txBody>
      </p:sp>
      <p:sp>
        <p:nvSpPr>
          <p:cNvPr id="44" name="Shape 44"/>
          <p:cNvSpPr txBox="1"/>
          <p:nvPr/>
        </p:nvSpPr>
        <p:spPr>
          <a:xfrm>
            <a:off x="9153144" y="4041648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45" name="Shape 45"/>
          <p:cNvSpPr/>
          <p:nvPr/>
        </p:nvSpPr>
        <p:spPr>
          <a:xfrm>
            <a:off x="548640" y="4535424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6" name="Shape 46"/>
          <p:cNvSpPr/>
          <p:nvPr/>
        </p:nvSpPr>
        <p:spPr>
          <a:xfrm>
            <a:off x="9015984" y="4535424"/>
            <a:ext cx="2624328" cy="438912"/>
          </a:xfrm>
          <a:prstGeom prst="roundRect">
            <a:avLst>
              <a:gd name="adj" fmla="val 12500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7" name="Shape 47"/>
          <p:cNvSpPr/>
          <p:nvPr/>
        </p:nvSpPr>
        <p:spPr>
          <a:xfrm>
            <a:off x="685800" y="4617720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7</a:t>
            </a:r>
            <a:endParaRPr lang="es-ES" sz="900" dirty="0"/>
          </a:p>
        </p:txBody>
      </p:sp>
      <p:sp>
        <p:nvSpPr>
          <p:cNvPr id="48" name="Shape 48"/>
          <p:cNvSpPr txBox="1"/>
          <p:nvPr/>
        </p:nvSpPr>
        <p:spPr>
          <a:xfrm>
            <a:off x="1078992" y="4535424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Entrega</a:t>
            </a:r>
            <a:endParaRPr lang="es-ES" sz="1100" dirty="0"/>
          </a:p>
        </p:txBody>
      </p:sp>
      <p:sp>
        <p:nvSpPr>
          <p:cNvPr id="49" name="Shape 49"/>
          <p:cNvSpPr/>
          <p:nvPr/>
        </p:nvSpPr>
        <p:spPr>
          <a:xfrm>
            <a:off x="2807208" y="4626864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PARCIAL</a:t>
            </a:r>
            <a:endParaRPr lang="es-ES" sz="750" dirty="0"/>
          </a:p>
        </p:txBody>
      </p:sp>
      <p:sp>
        <p:nvSpPr>
          <p:cNvPr id="50" name="Shape 50"/>
          <p:cNvSpPr txBox="1"/>
          <p:nvPr/>
        </p:nvSpPr>
        <p:spPr>
          <a:xfrm>
            <a:off x="4425696" y="4535424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Consulta de plazos (CTP) sobre los huecos de cada ciclo</a:t>
            </a:r>
            <a:endParaRPr lang="es-ES" sz="900" dirty="0"/>
          </a:p>
        </p:txBody>
      </p:sp>
      <p:sp>
        <p:nvSpPr>
          <p:cNvPr id="51" name="Shape 51"/>
          <p:cNvSpPr txBox="1"/>
          <p:nvPr/>
        </p:nvSpPr>
        <p:spPr>
          <a:xfrm>
            <a:off x="9153144" y="4535424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Reservas de stock y fecha de disponibilidad por pedido</a:t>
            </a:r>
            <a:endParaRPr lang="es-ES" sz="900" dirty="0"/>
          </a:p>
        </p:txBody>
      </p:sp>
      <p:sp>
        <p:nvSpPr>
          <p:cNvPr id="52" name="Shape 52"/>
          <p:cNvSpPr/>
          <p:nvPr/>
        </p:nvSpPr>
        <p:spPr>
          <a:xfrm>
            <a:off x="548640" y="5029200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3" name="Shape 53"/>
          <p:cNvSpPr/>
          <p:nvPr/>
        </p:nvSpPr>
        <p:spPr>
          <a:xfrm>
            <a:off x="9015984" y="5029200"/>
            <a:ext cx="2624328" cy="438912"/>
          </a:xfrm>
          <a:prstGeom prst="roundRect">
            <a:avLst>
              <a:gd name="adj" fmla="val 12500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4" name="Shape 54"/>
          <p:cNvSpPr/>
          <p:nvPr/>
        </p:nvSpPr>
        <p:spPr>
          <a:xfrm>
            <a:off x="685800" y="5111496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8</a:t>
            </a:r>
            <a:endParaRPr lang="es-ES" sz="900" dirty="0"/>
          </a:p>
        </p:txBody>
      </p:sp>
      <p:sp>
        <p:nvSpPr>
          <p:cNvPr id="55" name="Shape 55"/>
          <p:cNvSpPr txBox="1"/>
          <p:nvPr/>
        </p:nvSpPr>
        <p:spPr>
          <a:xfrm>
            <a:off x="1078992" y="5029200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Control</a:t>
            </a:r>
            <a:endParaRPr lang="es-ES" sz="1100" dirty="0"/>
          </a:p>
        </p:txBody>
      </p:sp>
      <p:sp>
        <p:nvSpPr>
          <p:cNvPr id="56" name="Shape 56"/>
          <p:cNvSpPr/>
          <p:nvPr/>
        </p:nvSpPr>
        <p:spPr>
          <a:xfrm>
            <a:off x="2807208" y="5120640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98C9EB"/>
            </a:solidFill>
            <a:prstDash val="dash"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244C5A"/>
                </a:solidFill>
                <a:latin typeface="Montserrat"/>
                <a:cs typeface="Montserrat"/>
              </a:rPr>
              <a:t>PRÓXIMO PASO</a:t>
            </a:r>
            <a:endParaRPr lang="es-ES" sz="750" dirty="0"/>
          </a:p>
        </p:txBody>
      </p:sp>
      <p:sp>
        <p:nvSpPr>
          <p:cNvPr id="57" name="Shape 57"/>
          <p:cNvSpPr txBox="1"/>
          <p:nvPr/>
        </p:nvSpPr>
        <p:spPr>
          <a:xfrm>
            <a:off x="4425696" y="5029200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Pedidos cerrados y cargas trazadas por pedido</a:t>
            </a:r>
            <a:endParaRPr lang="es-ES" sz="900" dirty="0"/>
          </a:p>
        </p:txBody>
      </p:sp>
      <p:sp>
        <p:nvSpPr>
          <p:cNvPr id="58" name="Shape 58"/>
          <p:cNvSpPr txBox="1"/>
          <p:nvPr/>
        </p:nvSpPr>
        <p:spPr>
          <a:xfrm>
            <a:off x="9153144" y="5029200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Balance de masas: consumo real vs. teórico</a:t>
            </a:r>
            <a:endParaRPr lang="es-ES" sz="900" dirty="0"/>
          </a:p>
        </p:txBody>
      </p:sp>
      <p:sp>
        <p:nvSpPr>
          <p:cNvPr id="59" name="Shape 59"/>
          <p:cNvSpPr/>
          <p:nvPr/>
        </p:nvSpPr>
        <p:spPr>
          <a:xfrm>
            <a:off x="9015984" y="5596128"/>
            <a:ext cx="262432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8C9EB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0" i="1" dirty="0">
                <a:solidFill>
                  <a:srgbClr val="244C5A"/>
                </a:solidFill>
                <a:latin typeface="Montserrat"/>
                <a:cs typeface="Montserrat"/>
              </a:rPr>
              <a:t>Próximos pasos detallados en </a:t>
            </a:r>
            <a:r>
              <a:rPr lang="es-ES" sz="900" b="1" i="0" dirty="0">
                <a:solidFill>
                  <a:srgbClr val="244C5A"/>
                </a:solidFill>
                <a:latin typeface="Montserrat"/>
                <a:cs typeface="Montserrat"/>
              </a:rPr>
              <a:t>Anexo</a:t>
            </a:r>
            <a:endParaRPr lang="es-ES" sz="900" dirty="0"/>
          </a:p>
        </p:txBody>
      </p:sp>
      <p:sp>
        <p:nvSpPr>
          <p:cNvPr id="60" name="Shape 60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4</a:t>
            </a:r>
            <a:endParaRPr lang="es-E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729984" cy="6858000"/>
          </a:xfrm>
          <a:prstGeom prst="rect">
            <a:avLst/>
          </a:prstGeom>
          <a:solidFill>
            <a:srgbClr val="98C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729984" y="0"/>
            <a:ext cx="4526280" cy="6858000"/>
          </a:xfrm>
          <a:prstGeom prst="rect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256264" y="0"/>
            <a:ext cx="941832" cy="6858000"/>
          </a:xfrm>
          <a:prstGeom prst="rect">
            <a:avLst/>
          </a:prstGeom>
          <a:solidFill>
            <a:srgbClr val="D2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97280"/>
            <a:ext cx="2145550" cy="93268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68680" y="2788920"/>
            <a:ext cx="713232" cy="713232"/>
          </a:xfrm>
          <a:prstGeom prst="ellipse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05000"/>
              </a:lnSpc>
              <a:buNone/>
            </a:pPr>
            <a:r>
              <a:rPr sz="2000" b="1" i="0">
                <a:solidFill>
                  <a:srgbClr val="98C9EB"/>
                </a:solidFill>
                <a:latin typeface="Montserrat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67328"/>
            <a:ext cx="53949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 i="0">
                <a:solidFill>
                  <a:srgbClr val="00263A"/>
                </a:solidFill>
                <a:latin typeface="Montserrat"/>
              </a:rPr>
              <a:t>Ondupack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681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350" b="0" i="1">
                <a:solidFill>
                  <a:srgbClr val="244C5A"/>
                </a:solidFill>
                <a:latin typeface="Montserrat"/>
              </a:rPr>
              <a:t>Cajas de cartón · onduladora y converting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Ondupack · Matriz de procesos</a:t>
            </a:r>
          </a:p>
        </p:txBody>
      </p:sp>
      <p:sp>
        <p:nvSpPr>
          <p:cNvPr id="3" name="Shape 3"/>
          <p:cNvSpPr/>
          <p:nvPr/>
        </p:nvSpPr>
        <p:spPr>
          <a:xfrm>
            <a:off x="7360920" y="3108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6 DE 8 IMPLANTADOS</a:t>
            </a:r>
            <a:endParaRPr lang="es-ES" sz="850" dirty="0"/>
          </a:p>
        </p:txBody>
      </p:sp>
      <p:sp>
        <p:nvSpPr>
          <p:cNvPr id="4" name="Shape 4"/>
          <p:cNvSpPr txBox="1"/>
          <p:nvPr/>
        </p:nvSpPr>
        <p:spPr>
          <a:xfrm>
            <a:off x="685800" y="1280160"/>
            <a:ext cx="21488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PROCESO</a:t>
            </a:r>
            <a:endParaRPr lang="es-ES" sz="850" dirty="0"/>
          </a:p>
        </p:txBody>
      </p:sp>
      <p:sp>
        <p:nvSpPr>
          <p:cNvPr id="5" name="Shape 5"/>
          <p:cNvSpPr txBox="1"/>
          <p:nvPr/>
        </p:nvSpPr>
        <p:spPr>
          <a:xfrm>
            <a:off x="2807208" y="1280160"/>
            <a:ext cx="13716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ESTADO</a:t>
            </a:r>
            <a:endParaRPr lang="es-ES" sz="850" dirty="0"/>
          </a:p>
        </p:txBody>
      </p:sp>
      <p:sp>
        <p:nvSpPr>
          <p:cNvPr id="6" name="Shape 6"/>
          <p:cNvSpPr txBox="1"/>
          <p:nvPr/>
        </p:nvSpPr>
        <p:spPr>
          <a:xfrm>
            <a:off x="4425696" y="1280160"/>
            <a:ext cx="461772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TENEMOS HOY</a:t>
            </a:r>
            <a:endParaRPr lang="es-ES" sz="850" dirty="0"/>
          </a:p>
        </p:txBody>
      </p:sp>
      <p:sp>
        <p:nvSpPr>
          <p:cNvPr id="7" name="Shape 7"/>
          <p:cNvSpPr txBox="1"/>
          <p:nvPr/>
        </p:nvSpPr>
        <p:spPr>
          <a:xfrm>
            <a:off x="9153144" y="1280160"/>
            <a:ext cx="262432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SIGUIENTE PASO</a:t>
            </a:r>
            <a:endParaRPr lang="es-ES" sz="850" dirty="0"/>
          </a:p>
        </p:txBody>
      </p:sp>
      <p:sp>
        <p:nvSpPr>
          <p:cNvPr id="8" name="Shape 8"/>
          <p:cNvSpPr/>
          <p:nvPr/>
        </p:nvSpPr>
        <p:spPr>
          <a:xfrm>
            <a:off x="548640" y="1572768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9" name="Shape 9"/>
          <p:cNvSpPr/>
          <p:nvPr/>
        </p:nvSpPr>
        <p:spPr>
          <a:xfrm>
            <a:off x="685800" y="1655064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1</a:t>
            </a:r>
            <a:endParaRPr lang="es-ES" sz="900" dirty="0"/>
          </a:p>
        </p:txBody>
      </p:sp>
      <p:sp>
        <p:nvSpPr>
          <p:cNvPr id="10" name="Shape 10"/>
          <p:cNvSpPr txBox="1"/>
          <p:nvPr/>
        </p:nvSpPr>
        <p:spPr>
          <a:xfrm>
            <a:off x="1078992" y="1572768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Dato maestro</a:t>
            </a:r>
            <a:endParaRPr lang="es-ES" sz="1100" dirty="0"/>
          </a:p>
        </p:txBody>
      </p:sp>
      <p:sp>
        <p:nvSpPr>
          <p:cNvPr id="11" name="Shape 11"/>
          <p:cNvSpPr/>
          <p:nvPr/>
        </p:nvSpPr>
        <p:spPr>
          <a:xfrm>
            <a:off x="2807208" y="1664208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12" name="Shape 12"/>
          <p:cNvSpPr txBox="1"/>
          <p:nvPr/>
        </p:nvSpPr>
        <p:spPr>
          <a:xfrm>
            <a:off x="4425696" y="1572768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Velocidades objetivo de onduladora y converting, con propuesta según las reales; calendario de turnos, días y paradas por máquina</a:t>
            </a:r>
            <a:endParaRPr lang="es-ES" sz="900" dirty="0"/>
          </a:p>
        </p:txBody>
      </p:sp>
      <p:sp>
        <p:nvSpPr>
          <p:cNvPr id="13" name="Shape 13"/>
          <p:cNvSpPr txBox="1"/>
          <p:nvPr/>
        </p:nvSpPr>
        <p:spPr>
          <a:xfrm>
            <a:off x="9153144" y="1572768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14" name="Shape 14"/>
          <p:cNvSpPr/>
          <p:nvPr/>
        </p:nvSpPr>
        <p:spPr>
          <a:xfrm>
            <a:off x="548640" y="2066544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5" name="Shape 15"/>
          <p:cNvSpPr/>
          <p:nvPr/>
        </p:nvSpPr>
        <p:spPr>
          <a:xfrm>
            <a:off x="685800" y="2148840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2</a:t>
            </a:r>
            <a:endParaRPr lang="es-ES" sz="900" dirty="0"/>
          </a:p>
        </p:txBody>
      </p:sp>
      <p:sp>
        <p:nvSpPr>
          <p:cNvPr id="16" name="Shape 16"/>
          <p:cNvSpPr txBox="1"/>
          <p:nvPr/>
        </p:nvSpPr>
        <p:spPr>
          <a:xfrm>
            <a:off x="1078992" y="2066544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Demanda</a:t>
            </a:r>
            <a:endParaRPr lang="es-ES" sz="1100" dirty="0"/>
          </a:p>
        </p:txBody>
      </p:sp>
      <p:sp>
        <p:nvSpPr>
          <p:cNvPr id="17" name="Shape 17"/>
          <p:cNvSpPr/>
          <p:nvPr/>
        </p:nvSpPr>
        <p:spPr>
          <a:xfrm>
            <a:off x="2807208" y="2157984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F5F7F8"/>
          </a:solidFill>
          <a:ln w="15875">
            <a:solidFill>
              <a:srgbClr val="D7DFE5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9AA9B4"/>
                </a:solidFill>
                <a:latin typeface="Montserrat"/>
                <a:cs typeface="Montserrat"/>
              </a:rPr>
              <a:t>SIN ABORDAR</a:t>
            </a:r>
            <a:endParaRPr lang="es-ES" sz="750" dirty="0"/>
          </a:p>
        </p:txBody>
      </p:sp>
      <p:sp>
        <p:nvSpPr>
          <p:cNvPr id="18" name="Shape 18"/>
          <p:cNvSpPr txBox="1"/>
          <p:nvPr/>
        </p:nvSpPr>
        <p:spPr>
          <a:xfrm>
            <a:off x="4425696" y="2066544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Se planifica contra los pedidos de cartera; sin desarrollos de previsión</a:t>
            </a:r>
            <a:endParaRPr lang="es-ES" sz="900" dirty="0"/>
          </a:p>
        </p:txBody>
      </p:sp>
      <p:sp>
        <p:nvSpPr>
          <p:cNvPr id="19" name="Shape 19"/>
          <p:cNvSpPr txBox="1"/>
          <p:nvPr/>
        </p:nvSpPr>
        <p:spPr>
          <a:xfrm>
            <a:off x="9153144" y="2066544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1" dirty="0">
                <a:solidFill>
                  <a:srgbClr val="9AA9B4"/>
                </a:solidFill>
                <a:latin typeface="Montserrat"/>
                <a:cs typeface="Montserrat"/>
              </a:rPr>
              <a:t>Por definir</a:t>
            </a:r>
            <a:endParaRPr lang="es-ES" sz="900" dirty="0"/>
          </a:p>
        </p:txBody>
      </p:sp>
      <p:sp>
        <p:nvSpPr>
          <p:cNvPr id="20" name="Shape 20"/>
          <p:cNvSpPr/>
          <p:nvPr/>
        </p:nvSpPr>
        <p:spPr>
          <a:xfrm>
            <a:off x="548640" y="2560320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1" name="Shape 21"/>
          <p:cNvSpPr/>
          <p:nvPr/>
        </p:nvSpPr>
        <p:spPr>
          <a:xfrm>
            <a:off x="685800" y="2642616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3</a:t>
            </a:r>
            <a:endParaRPr lang="es-ES" sz="900" dirty="0"/>
          </a:p>
        </p:txBody>
      </p:sp>
      <p:sp>
        <p:nvSpPr>
          <p:cNvPr id="22" name="Shape 22"/>
          <p:cNvSpPr txBox="1"/>
          <p:nvPr/>
        </p:nvSpPr>
        <p:spPr>
          <a:xfrm>
            <a:off x="1078992" y="2560320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Cartera</a:t>
            </a:r>
            <a:endParaRPr lang="es-ES" sz="1100" dirty="0"/>
          </a:p>
        </p:txBody>
      </p:sp>
      <p:sp>
        <p:nvSpPr>
          <p:cNvPr id="23" name="Shape 23"/>
          <p:cNvSpPr/>
          <p:nvPr/>
        </p:nvSpPr>
        <p:spPr>
          <a:xfrm>
            <a:off x="2807208" y="2651760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24" name="Shape 24"/>
          <p:cNvSpPr txBox="1"/>
          <p:nvPr/>
        </p:nvSpPr>
        <p:spPr>
          <a:xfrm>
            <a:off x="4425696" y="2560320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dirty="0" err="1">
                <a:solidFill>
                  <a:srgbClr val="00263A"/>
                </a:solidFill>
                <a:latin typeface="Montserrat"/>
                <a:cs typeface="Montserrat"/>
              </a:rPr>
              <a:t>Visualización</a:t>
            </a:r>
            <a:r>
              <a:rPr lang="es-ES" sz="900" dirty="0">
                <a:solidFill>
                  <a:srgbClr val="00263A"/>
                </a:solidFill>
                <a:latin typeface="Montserrat"/>
                <a:cs typeface="Montserrat"/>
              </a:rPr>
              <a:t> </a:t>
            </a: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pedidos pendientes y selección hacia Combiplan, el pool de pedidos que combinan bien</a:t>
            </a:r>
            <a:endParaRPr lang="es-ES" sz="900" dirty="0"/>
          </a:p>
        </p:txBody>
      </p:sp>
      <p:sp>
        <p:nvSpPr>
          <p:cNvPr id="25" name="Shape 25"/>
          <p:cNvSpPr txBox="1"/>
          <p:nvPr/>
        </p:nvSpPr>
        <p:spPr>
          <a:xfrm>
            <a:off x="9153144" y="2560320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26" name="Shape 26"/>
          <p:cNvSpPr/>
          <p:nvPr/>
        </p:nvSpPr>
        <p:spPr>
          <a:xfrm>
            <a:off x="548640" y="3054096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7" name="Shape 27"/>
          <p:cNvSpPr/>
          <p:nvPr/>
        </p:nvSpPr>
        <p:spPr>
          <a:xfrm>
            <a:off x="685800" y="3136392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4</a:t>
            </a:r>
            <a:endParaRPr lang="es-ES" sz="900" dirty="0"/>
          </a:p>
        </p:txBody>
      </p:sp>
      <p:sp>
        <p:nvSpPr>
          <p:cNvPr id="28" name="Shape 28"/>
          <p:cNvSpPr txBox="1"/>
          <p:nvPr/>
        </p:nvSpPr>
        <p:spPr>
          <a:xfrm>
            <a:off x="1078992" y="3054096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Necesidades</a:t>
            </a:r>
            <a:endParaRPr lang="es-ES" sz="1100" dirty="0"/>
          </a:p>
        </p:txBody>
      </p:sp>
      <p:sp>
        <p:nvSpPr>
          <p:cNvPr id="29" name="Shape 29"/>
          <p:cNvSpPr/>
          <p:nvPr/>
        </p:nvSpPr>
        <p:spPr>
          <a:xfrm>
            <a:off x="2807208" y="3145536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PARCIAL</a:t>
            </a:r>
            <a:endParaRPr lang="es-ES" sz="750" dirty="0"/>
          </a:p>
        </p:txBody>
      </p:sp>
      <p:sp>
        <p:nvSpPr>
          <p:cNvPr id="30" name="Shape 30"/>
          <p:cNvSpPr txBox="1"/>
          <p:nvPr/>
        </p:nvSpPr>
        <p:spPr>
          <a:xfrm>
            <a:off x="4425696" y="3054096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Faltas de cartón para converting detectadas en el control de producción, con su efecto en fechas</a:t>
            </a:r>
            <a:endParaRPr lang="es-ES" sz="900" dirty="0"/>
          </a:p>
        </p:txBody>
      </p:sp>
      <p:sp>
        <p:nvSpPr>
          <p:cNvPr id="31" name="Shape 31"/>
          <p:cNvSpPr txBox="1"/>
          <p:nvPr/>
        </p:nvSpPr>
        <p:spPr>
          <a:xfrm>
            <a:off x="9153144" y="3054096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1" dirty="0">
                <a:solidFill>
                  <a:srgbClr val="9AA9B4"/>
                </a:solidFill>
                <a:latin typeface="Montserrat"/>
                <a:cs typeface="Montserrat"/>
              </a:rPr>
              <a:t>Por definir</a:t>
            </a:r>
            <a:endParaRPr lang="es-ES" sz="900" dirty="0"/>
          </a:p>
        </p:txBody>
      </p:sp>
      <p:sp>
        <p:nvSpPr>
          <p:cNvPr id="32" name="Shape 32"/>
          <p:cNvSpPr/>
          <p:nvPr/>
        </p:nvSpPr>
        <p:spPr>
          <a:xfrm>
            <a:off x="548640" y="3547872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3" name="Shape 33"/>
          <p:cNvSpPr/>
          <p:nvPr/>
        </p:nvSpPr>
        <p:spPr>
          <a:xfrm>
            <a:off x="685800" y="3630168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5</a:t>
            </a:r>
            <a:endParaRPr lang="es-ES" sz="900" dirty="0"/>
          </a:p>
        </p:txBody>
      </p:sp>
      <p:sp>
        <p:nvSpPr>
          <p:cNvPr id="34" name="Shape 34"/>
          <p:cNvSpPr txBox="1"/>
          <p:nvPr/>
        </p:nvSpPr>
        <p:spPr>
          <a:xfrm>
            <a:off x="1078992" y="3547872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Capacidad</a:t>
            </a:r>
            <a:endParaRPr lang="es-ES" sz="1100" dirty="0"/>
          </a:p>
        </p:txBody>
      </p:sp>
      <p:sp>
        <p:nvSpPr>
          <p:cNvPr id="35" name="Shape 35"/>
          <p:cNvSpPr/>
          <p:nvPr/>
        </p:nvSpPr>
        <p:spPr>
          <a:xfrm>
            <a:off x="2807208" y="3639312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36" name="Shape 36"/>
          <p:cNvSpPr txBox="1"/>
          <p:nvPr/>
        </p:nvSpPr>
        <p:spPr>
          <a:xfrm>
            <a:off x="4425696" y="3547872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Carga diaria por máquina (lanzado y cartera) y saturación prevista de los almacenes de WIP y producto terminado</a:t>
            </a:r>
            <a:endParaRPr lang="es-ES" sz="900" dirty="0"/>
          </a:p>
        </p:txBody>
      </p:sp>
      <p:sp>
        <p:nvSpPr>
          <p:cNvPr id="37" name="Shape 37"/>
          <p:cNvSpPr txBox="1"/>
          <p:nvPr/>
        </p:nvSpPr>
        <p:spPr>
          <a:xfrm>
            <a:off x="9153144" y="3547872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38" name="Shape 38"/>
          <p:cNvSpPr/>
          <p:nvPr/>
        </p:nvSpPr>
        <p:spPr>
          <a:xfrm>
            <a:off x="548640" y="4041648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9" name="Shape 39"/>
          <p:cNvSpPr/>
          <p:nvPr/>
        </p:nvSpPr>
        <p:spPr>
          <a:xfrm>
            <a:off x="9015984" y="4041648"/>
            <a:ext cx="2624328" cy="438912"/>
          </a:xfrm>
          <a:prstGeom prst="roundRect">
            <a:avLst>
              <a:gd name="adj" fmla="val 12500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0" name="Shape 40"/>
          <p:cNvSpPr/>
          <p:nvPr/>
        </p:nvSpPr>
        <p:spPr>
          <a:xfrm>
            <a:off x="685800" y="4123944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6</a:t>
            </a:r>
            <a:endParaRPr lang="es-ES" sz="900" dirty="0"/>
          </a:p>
        </p:txBody>
      </p:sp>
      <p:sp>
        <p:nvSpPr>
          <p:cNvPr id="41" name="Shape 41"/>
          <p:cNvSpPr txBox="1"/>
          <p:nvPr/>
        </p:nvSpPr>
        <p:spPr>
          <a:xfrm>
            <a:off x="1078992" y="4041648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Programación</a:t>
            </a:r>
            <a:endParaRPr lang="es-ES" sz="1100" dirty="0"/>
          </a:p>
        </p:txBody>
      </p:sp>
      <p:sp>
        <p:nvSpPr>
          <p:cNvPr id="42" name="Shape 42"/>
          <p:cNvSpPr/>
          <p:nvPr/>
        </p:nvSpPr>
        <p:spPr>
          <a:xfrm>
            <a:off x="2807208" y="4133088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43" name="Shape 43"/>
          <p:cNvSpPr txBox="1"/>
          <p:nvPr/>
        </p:nvSpPr>
        <p:spPr>
          <a:xfrm>
            <a:off x="4425696" y="4041648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Fechas de inicio y fin con velocidades y tiempos de cambio reales; combinación de pedidos en Combiplan</a:t>
            </a:r>
            <a:endParaRPr lang="es-ES" sz="900" dirty="0"/>
          </a:p>
        </p:txBody>
      </p:sp>
      <p:sp>
        <p:nvSpPr>
          <p:cNvPr id="44" name="Shape 44"/>
          <p:cNvSpPr txBox="1"/>
          <p:nvPr/>
        </p:nvSpPr>
        <p:spPr>
          <a:xfrm>
            <a:off x="9153144" y="4041648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Algoritmo de combinación automática (propuesta 2027)</a:t>
            </a:r>
            <a:endParaRPr lang="es-ES" sz="900" dirty="0"/>
          </a:p>
        </p:txBody>
      </p:sp>
      <p:sp>
        <p:nvSpPr>
          <p:cNvPr id="45" name="Shape 45"/>
          <p:cNvSpPr/>
          <p:nvPr/>
        </p:nvSpPr>
        <p:spPr>
          <a:xfrm>
            <a:off x="548640" y="4535424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6" name="Shape 46"/>
          <p:cNvSpPr/>
          <p:nvPr/>
        </p:nvSpPr>
        <p:spPr>
          <a:xfrm>
            <a:off x="685800" y="4617720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7</a:t>
            </a:r>
            <a:endParaRPr lang="es-ES" sz="900" dirty="0"/>
          </a:p>
        </p:txBody>
      </p:sp>
      <p:sp>
        <p:nvSpPr>
          <p:cNvPr id="47" name="Shape 47"/>
          <p:cNvSpPr txBox="1"/>
          <p:nvPr/>
        </p:nvSpPr>
        <p:spPr>
          <a:xfrm>
            <a:off x="1078992" y="4535424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Entrega</a:t>
            </a:r>
            <a:endParaRPr lang="es-ES" sz="1100" dirty="0"/>
          </a:p>
        </p:txBody>
      </p:sp>
      <p:sp>
        <p:nvSpPr>
          <p:cNvPr id="48" name="Shape 48"/>
          <p:cNvSpPr/>
          <p:nvPr/>
        </p:nvSpPr>
        <p:spPr>
          <a:xfrm>
            <a:off x="2807208" y="4626864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49" name="Shape 49"/>
          <p:cNvSpPr txBox="1"/>
          <p:nvPr/>
        </p:nvSpPr>
        <p:spPr>
          <a:xfrm>
            <a:off x="4425696" y="4535424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Consulta de plazos sobre la carga de capacidad de cada máquina</a:t>
            </a:r>
            <a:endParaRPr lang="es-ES" sz="900" dirty="0"/>
          </a:p>
        </p:txBody>
      </p:sp>
      <p:sp>
        <p:nvSpPr>
          <p:cNvPr id="50" name="Shape 50"/>
          <p:cNvSpPr txBox="1"/>
          <p:nvPr/>
        </p:nvSpPr>
        <p:spPr>
          <a:xfrm>
            <a:off x="9153144" y="4535424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51" name="Shape 51"/>
          <p:cNvSpPr/>
          <p:nvPr/>
        </p:nvSpPr>
        <p:spPr>
          <a:xfrm>
            <a:off x="548640" y="5029200"/>
            <a:ext cx="11091672" cy="438912"/>
          </a:xfrm>
          <a:prstGeom prst="roundRect">
            <a:avLst>
              <a:gd name="adj" fmla="val 125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2" name="Shape 52"/>
          <p:cNvSpPr/>
          <p:nvPr/>
        </p:nvSpPr>
        <p:spPr>
          <a:xfrm>
            <a:off x="685800" y="5111496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8</a:t>
            </a:r>
            <a:endParaRPr lang="es-ES" sz="900" dirty="0"/>
          </a:p>
        </p:txBody>
      </p:sp>
      <p:sp>
        <p:nvSpPr>
          <p:cNvPr id="53" name="Shape 53"/>
          <p:cNvSpPr txBox="1"/>
          <p:nvPr/>
        </p:nvSpPr>
        <p:spPr>
          <a:xfrm>
            <a:off x="1078992" y="5029200"/>
            <a:ext cx="160020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Control</a:t>
            </a:r>
            <a:endParaRPr lang="es-ES" sz="1100" dirty="0"/>
          </a:p>
        </p:txBody>
      </p:sp>
      <p:sp>
        <p:nvSpPr>
          <p:cNvPr id="54" name="Shape 54"/>
          <p:cNvSpPr/>
          <p:nvPr/>
        </p:nvSpPr>
        <p:spPr>
          <a:xfrm>
            <a:off x="2807208" y="5120640"/>
            <a:ext cx="137160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FFFFFF"/>
                </a:solidFill>
                <a:latin typeface="Montserrat"/>
                <a:cs typeface="Montserrat"/>
              </a:rPr>
              <a:t>IMPLANTADO</a:t>
            </a:r>
            <a:endParaRPr lang="es-ES" sz="750" dirty="0"/>
          </a:p>
        </p:txBody>
      </p:sp>
      <p:sp>
        <p:nvSpPr>
          <p:cNvPr id="55" name="Shape 55"/>
          <p:cNvSpPr txBox="1"/>
          <p:nvPr/>
        </p:nvSpPr>
        <p:spPr>
          <a:xfrm>
            <a:off x="4425696" y="5029200"/>
            <a:ext cx="4434840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900" b="0" i="0" dirty="0">
                <a:solidFill>
                  <a:srgbClr val="00263A"/>
                </a:solidFill>
                <a:latin typeface="Montserrat"/>
                <a:cs typeface="Montserrat"/>
              </a:rPr>
              <a:t>OEE por máquina (disponibilidad, rendimiento y calidad), con propuestas según los valores reales</a:t>
            </a:r>
            <a:endParaRPr lang="es-ES" sz="900" dirty="0"/>
          </a:p>
        </p:txBody>
      </p:sp>
      <p:sp>
        <p:nvSpPr>
          <p:cNvPr id="56" name="Shape 56"/>
          <p:cNvSpPr txBox="1"/>
          <p:nvPr/>
        </p:nvSpPr>
        <p:spPr>
          <a:xfrm>
            <a:off x="9153144" y="5029200"/>
            <a:ext cx="2395728" cy="43891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1000" b="0" i="0" dirty="0">
                <a:solidFill>
                  <a:srgbClr val="9AA9B4"/>
                </a:solidFill>
                <a:latin typeface="Montserrat"/>
                <a:cs typeface="Montserrat"/>
              </a:rPr>
              <a:t>—</a:t>
            </a:r>
            <a:endParaRPr lang="es-ES" sz="1000" dirty="0"/>
          </a:p>
        </p:txBody>
      </p:sp>
      <p:sp>
        <p:nvSpPr>
          <p:cNvPr id="57" name="Shape 57"/>
          <p:cNvSpPr/>
          <p:nvPr/>
        </p:nvSpPr>
        <p:spPr>
          <a:xfrm>
            <a:off x="9015984" y="5596128"/>
            <a:ext cx="262432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8C9EB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0" i="1" dirty="0">
                <a:solidFill>
                  <a:srgbClr val="244C5A"/>
                </a:solidFill>
                <a:latin typeface="Montserrat"/>
                <a:cs typeface="Montserrat"/>
              </a:rPr>
              <a:t>Proyectos 2027 en </a:t>
            </a:r>
            <a:r>
              <a:rPr lang="es-ES" sz="900" b="1" i="0" dirty="0">
                <a:solidFill>
                  <a:srgbClr val="244C5A"/>
                </a:solidFill>
                <a:latin typeface="Montserrat"/>
                <a:cs typeface="Montserrat"/>
              </a:rPr>
              <a:t>Anexo</a:t>
            </a:r>
            <a:endParaRPr lang="es-ES" sz="900" dirty="0"/>
          </a:p>
        </p:txBody>
      </p:sp>
      <p:sp>
        <p:nvSpPr>
          <p:cNvPr id="58" name="Shape 58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6</a:t>
            </a:r>
            <a:endParaRPr lang="es-E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729984" cy="6858000"/>
          </a:xfrm>
          <a:prstGeom prst="rect">
            <a:avLst/>
          </a:prstGeom>
          <a:solidFill>
            <a:srgbClr val="98C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729984" y="0"/>
            <a:ext cx="4526280" cy="6858000"/>
          </a:xfrm>
          <a:prstGeom prst="rect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1256264" y="0"/>
            <a:ext cx="941832" cy="6858000"/>
          </a:xfrm>
          <a:prstGeom prst="rect">
            <a:avLst/>
          </a:prstGeom>
          <a:solidFill>
            <a:srgbClr val="D2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97280"/>
            <a:ext cx="2145550" cy="932688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868680" y="2788920"/>
            <a:ext cx="713232" cy="713232"/>
          </a:xfrm>
          <a:prstGeom prst="ellipse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05000"/>
              </a:lnSpc>
              <a:buNone/>
            </a:pPr>
            <a:r>
              <a:rPr sz="2000" b="1" i="0">
                <a:solidFill>
                  <a:srgbClr val="98C9EB"/>
                </a:solidFill>
                <a:latin typeface="Montserrat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67328"/>
            <a:ext cx="53949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sz="3400" b="1" i="0">
                <a:solidFill>
                  <a:srgbClr val="00263A"/>
                </a:solidFill>
                <a:latin typeface="Montserrat"/>
              </a:rPr>
              <a:t>MGT + PDA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681728"/>
            <a:ext cx="5394960" cy="5486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sz="1350" b="0" i="1">
                <a:solidFill>
                  <a:srgbClr val="244C5A"/>
                </a:solidFill>
                <a:latin typeface="Montserrat"/>
              </a:rPr>
              <a:t>Papeleras · integración de necesidades con Ondupack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MGT + PDA · Integración</a:t>
            </a:r>
          </a:p>
        </p:txBody>
      </p:sp>
      <p:sp>
        <p:nvSpPr>
          <p:cNvPr id="3" name="Shape 3"/>
          <p:cNvSpPr/>
          <p:nvPr/>
        </p:nvSpPr>
        <p:spPr>
          <a:xfrm>
            <a:off x="7360920" y="3108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PROYECTO INTERCOMPANY</a:t>
            </a:r>
            <a:endParaRPr lang="es-ES" sz="850" dirty="0"/>
          </a:p>
        </p:txBody>
      </p:sp>
      <p:sp>
        <p:nvSpPr>
          <p:cNvPr id="4" name="Shape 4"/>
          <p:cNvSpPr/>
          <p:nvPr/>
        </p:nvSpPr>
        <p:spPr>
          <a:xfrm>
            <a:off x="548640" y="1325880"/>
            <a:ext cx="11091672" cy="658368"/>
          </a:xfrm>
          <a:prstGeom prst="roundRect">
            <a:avLst>
              <a:gd name="adj" fmla="val 11111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274320" tIns="45720" rIns="274320" bIns="45720" rtlCol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1250" b="1" i="0" dirty="0">
                <a:solidFill>
                  <a:srgbClr val="98C9EB"/>
                </a:solidFill>
                <a:latin typeface="Montserrat"/>
                <a:cs typeface="Montserrat"/>
              </a:rPr>
              <a:t>Objetivo:  </a:t>
            </a:r>
            <a:r>
              <a:rPr lang="es-ES" sz="1250" b="1" i="0" dirty="0">
                <a:solidFill>
                  <a:srgbClr val="FFFFFF"/>
                </a:solidFill>
                <a:latin typeface="Montserrat"/>
                <a:cs typeface="Montserrat"/>
              </a:rPr>
              <a:t>un sistema pull para que Ondupack Almendralejo y Navalmoral no rompan stock en sus referencias planificadas, abastecidas por MGT y PDA.</a:t>
            </a:r>
            <a:endParaRPr lang="es-ES" sz="1250" dirty="0"/>
          </a:p>
        </p:txBody>
      </p:sp>
      <p:sp>
        <p:nvSpPr>
          <p:cNvPr id="5" name="Shape 5"/>
          <p:cNvSpPr txBox="1"/>
          <p:nvPr/>
        </p:nvSpPr>
        <p:spPr>
          <a:xfrm>
            <a:off x="548640" y="2212848"/>
            <a:ext cx="28346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CARTONERAS · CONSUMEN PAPEL</a:t>
            </a:r>
            <a:endParaRPr lang="es-ES" sz="850" dirty="0"/>
          </a:p>
        </p:txBody>
      </p:sp>
      <p:sp>
        <p:nvSpPr>
          <p:cNvPr id="6" name="Shape 6"/>
          <p:cNvSpPr txBox="1"/>
          <p:nvPr/>
        </p:nvSpPr>
        <p:spPr>
          <a:xfrm>
            <a:off x="8805672" y="2212848"/>
            <a:ext cx="283464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850" b="1" i="0" spc="120" dirty="0">
                <a:solidFill>
                  <a:srgbClr val="244C5A"/>
                </a:solidFill>
                <a:latin typeface="Montserrat"/>
                <a:cs typeface="Montserrat"/>
              </a:rPr>
              <a:t>PAPELERAS · SUMINISTRAN</a:t>
            </a:r>
            <a:endParaRPr lang="es-ES" sz="850" dirty="0"/>
          </a:p>
        </p:txBody>
      </p:sp>
      <p:sp>
        <p:nvSpPr>
          <p:cNvPr id="7" name="Shape 7"/>
          <p:cNvSpPr/>
          <p:nvPr/>
        </p:nvSpPr>
        <p:spPr>
          <a:xfrm>
            <a:off x="548640" y="2487168"/>
            <a:ext cx="2834640" cy="685800"/>
          </a:xfrm>
          <a:prstGeom prst="roundRect">
            <a:avLst>
              <a:gd name="adj" fmla="val 10666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8" name="Shape 8"/>
          <p:cNvSpPr/>
          <p:nvPr/>
        </p:nvSpPr>
        <p:spPr>
          <a:xfrm>
            <a:off x="685800" y="2610612"/>
            <a:ext cx="438912" cy="438912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9" name="Icono 9" descr="Icono boxopen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2720340"/>
            <a:ext cx="219456" cy="219456"/>
          </a:xfrm>
          <a:prstGeom prst="rect">
            <a:avLst/>
          </a:prstGeom>
        </p:spPr>
      </p:pic>
      <p:sp>
        <p:nvSpPr>
          <p:cNvPr id="10" name="Shape 10"/>
          <p:cNvSpPr txBox="1"/>
          <p:nvPr/>
        </p:nvSpPr>
        <p:spPr>
          <a:xfrm>
            <a:off x="1261872" y="2596896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50" b="1" i="0" dirty="0">
                <a:solidFill>
                  <a:srgbClr val="00263A"/>
                </a:solidFill>
                <a:latin typeface="Montserrat"/>
                <a:cs typeface="Montserrat"/>
              </a:rPr>
              <a:t>Ondupack Almendralejo</a:t>
            </a:r>
            <a:endParaRPr lang="es-ES" sz="1150" dirty="0"/>
          </a:p>
        </p:txBody>
      </p:sp>
      <p:sp>
        <p:nvSpPr>
          <p:cNvPr id="11" name="Shape 11"/>
          <p:cNvSpPr txBox="1"/>
          <p:nvPr/>
        </p:nvSpPr>
        <p:spPr>
          <a:xfrm>
            <a:off x="1261872" y="2871216"/>
            <a:ext cx="2057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0" i="0" dirty="0">
                <a:solidFill>
                  <a:srgbClr val="5B6B78"/>
                </a:solidFill>
                <a:latin typeface="Montserrat"/>
                <a:cs typeface="Montserrat"/>
              </a:rPr>
              <a:t>Cartonera</a:t>
            </a:r>
            <a:endParaRPr lang="es-ES" sz="850" dirty="0"/>
          </a:p>
        </p:txBody>
      </p:sp>
      <p:sp>
        <p:nvSpPr>
          <p:cNvPr id="12" name="Shape 12"/>
          <p:cNvSpPr/>
          <p:nvPr/>
        </p:nvSpPr>
        <p:spPr>
          <a:xfrm>
            <a:off x="548640" y="3310128"/>
            <a:ext cx="2834640" cy="685800"/>
          </a:xfrm>
          <a:prstGeom prst="roundRect">
            <a:avLst>
              <a:gd name="adj" fmla="val 10666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3" name="Shape 13"/>
          <p:cNvSpPr/>
          <p:nvPr/>
        </p:nvSpPr>
        <p:spPr>
          <a:xfrm>
            <a:off x="685800" y="3433572"/>
            <a:ext cx="438912" cy="438912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14" name="Icono 14" descr="Icono boxop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528" y="3543300"/>
            <a:ext cx="219456" cy="219456"/>
          </a:xfrm>
          <a:prstGeom prst="rect">
            <a:avLst/>
          </a:prstGeom>
        </p:spPr>
      </p:pic>
      <p:sp>
        <p:nvSpPr>
          <p:cNvPr id="15" name="Shape 15"/>
          <p:cNvSpPr txBox="1"/>
          <p:nvPr/>
        </p:nvSpPr>
        <p:spPr>
          <a:xfrm>
            <a:off x="1261872" y="3419856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50" b="1" i="0" dirty="0">
                <a:solidFill>
                  <a:srgbClr val="00263A"/>
                </a:solidFill>
                <a:latin typeface="Montserrat"/>
                <a:cs typeface="Montserrat"/>
              </a:rPr>
              <a:t>Ondupack Navalmoral</a:t>
            </a:r>
            <a:endParaRPr lang="es-ES" sz="1150" dirty="0"/>
          </a:p>
        </p:txBody>
      </p:sp>
      <p:sp>
        <p:nvSpPr>
          <p:cNvPr id="16" name="Shape 16"/>
          <p:cNvSpPr txBox="1"/>
          <p:nvPr/>
        </p:nvSpPr>
        <p:spPr>
          <a:xfrm>
            <a:off x="1261872" y="3694176"/>
            <a:ext cx="2057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0" i="0" dirty="0">
                <a:solidFill>
                  <a:srgbClr val="5B6B78"/>
                </a:solidFill>
                <a:latin typeface="Montserrat"/>
                <a:cs typeface="Montserrat"/>
              </a:rPr>
              <a:t>Cartonera</a:t>
            </a:r>
            <a:endParaRPr lang="es-ES" sz="850" dirty="0"/>
          </a:p>
        </p:txBody>
      </p:sp>
      <p:sp>
        <p:nvSpPr>
          <p:cNvPr id="17" name="Shape 17"/>
          <p:cNvSpPr/>
          <p:nvPr/>
        </p:nvSpPr>
        <p:spPr>
          <a:xfrm>
            <a:off x="8805672" y="2487168"/>
            <a:ext cx="2834640" cy="685800"/>
          </a:xfrm>
          <a:prstGeom prst="roundRect">
            <a:avLst>
              <a:gd name="adj" fmla="val 10666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8" name="Shape 18"/>
          <p:cNvSpPr/>
          <p:nvPr/>
        </p:nvSpPr>
        <p:spPr>
          <a:xfrm>
            <a:off x="8942832" y="2610612"/>
            <a:ext cx="438912" cy="438912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19" name="Icono 19" descr="Icono industry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52560" y="2720340"/>
            <a:ext cx="219456" cy="219456"/>
          </a:xfrm>
          <a:prstGeom prst="rect">
            <a:avLst/>
          </a:prstGeom>
        </p:spPr>
      </p:pic>
      <p:sp>
        <p:nvSpPr>
          <p:cNvPr id="20" name="Shape 20"/>
          <p:cNvSpPr txBox="1"/>
          <p:nvPr/>
        </p:nvSpPr>
        <p:spPr>
          <a:xfrm>
            <a:off x="9518904" y="2596896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50" b="1" i="0" dirty="0">
                <a:solidFill>
                  <a:srgbClr val="00263A"/>
                </a:solidFill>
                <a:latin typeface="Montserrat"/>
                <a:cs typeface="Montserrat"/>
              </a:rPr>
              <a:t>MGT</a:t>
            </a:r>
            <a:endParaRPr lang="es-ES" sz="1150" dirty="0"/>
          </a:p>
        </p:txBody>
      </p:sp>
      <p:sp>
        <p:nvSpPr>
          <p:cNvPr id="21" name="Shape 21"/>
          <p:cNvSpPr txBox="1"/>
          <p:nvPr/>
        </p:nvSpPr>
        <p:spPr>
          <a:xfrm>
            <a:off x="9518904" y="2871216"/>
            <a:ext cx="2057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0" i="0" dirty="0">
                <a:solidFill>
                  <a:srgbClr val="5B6B78"/>
                </a:solidFill>
                <a:latin typeface="Montserrat"/>
                <a:cs typeface="Montserrat"/>
              </a:rPr>
              <a:t>Papelera</a:t>
            </a:r>
            <a:endParaRPr lang="es-ES" sz="850" dirty="0"/>
          </a:p>
        </p:txBody>
      </p:sp>
      <p:sp>
        <p:nvSpPr>
          <p:cNvPr id="22" name="Shape 22"/>
          <p:cNvSpPr/>
          <p:nvPr/>
        </p:nvSpPr>
        <p:spPr>
          <a:xfrm>
            <a:off x="8805672" y="3310128"/>
            <a:ext cx="2834640" cy="685800"/>
          </a:xfrm>
          <a:prstGeom prst="roundRect">
            <a:avLst>
              <a:gd name="adj" fmla="val 10666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3" name="Shape 23"/>
          <p:cNvSpPr/>
          <p:nvPr/>
        </p:nvSpPr>
        <p:spPr>
          <a:xfrm>
            <a:off x="8942832" y="3433572"/>
            <a:ext cx="438912" cy="438912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24" name="Icono 24" descr="Icono industry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52560" y="3543300"/>
            <a:ext cx="219456" cy="219456"/>
          </a:xfrm>
          <a:prstGeom prst="rect">
            <a:avLst/>
          </a:prstGeom>
        </p:spPr>
      </p:pic>
      <p:sp>
        <p:nvSpPr>
          <p:cNvPr id="25" name="Shape 25"/>
          <p:cNvSpPr txBox="1"/>
          <p:nvPr/>
        </p:nvSpPr>
        <p:spPr>
          <a:xfrm>
            <a:off x="9518904" y="3419856"/>
            <a:ext cx="20574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50" b="1" i="0" dirty="0">
                <a:solidFill>
                  <a:srgbClr val="00263A"/>
                </a:solidFill>
                <a:latin typeface="Montserrat"/>
                <a:cs typeface="Montserrat"/>
              </a:rPr>
              <a:t>PDA</a:t>
            </a:r>
            <a:endParaRPr lang="es-ES" sz="1150" dirty="0"/>
          </a:p>
        </p:txBody>
      </p:sp>
      <p:sp>
        <p:nvSpPr>
          <p:cNvPr id="26" name="Shape 26"/>
          <p:cNvSpPr txBox="1"/>
          <p:nvPr/>
        </p:nvSpPr>
        <p:spPr>
          <a:xfrm>
            <a:off x="9518904" y="3694176"/>
            <a:ext cx="2057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0" i="0" dirty="0">
                <a:solidFill>
                  <a:srgbClr val="5B6B78"/>
                </a:solidFill>
                <a:latin typeface="Montserrat"/>
                <a:cs typeface="Montserrat"/>
              </a:rPr>
              <a:t>Papelera</a:t>
            </a:r>
            <a:endParaRPr lang="es-ES" sz="850" dirty="0"/>
          </a:p>
        </p:txBody>
      </p:sp>
      <p:sp>
        <p:nvSpPr>
          <p:cNvPr id="27" name="Shape 27"/>
          <p:cNvSpPr/>
          <p:nvPr/>
        </p:nvSpPr>
        <p:spPr>
          <a:xfrm>
            <a:off x="4206240" y="2487168"/>
            <a:ext cx="3776472" cy="1508760"/>
          </a:xfrm>
          <a:prstGeom prst="roundRect">
            <a:avLst>
              <a:gd name="adj" fmla="val 4848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8" name="Shape 28"/>
          <p:cNvSpPr/>
          <p:nvPr/>
        </p:nvSpPr>
        <p:spPr>
          <a:xfrm>
            <a:off x="4434840" y="2670048"/>
            <a:ext cx="457200" cy="45720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29" name="Icono 29" descr="Icono sync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49140" y="2784348"/>
            <a:ext cx="228600" cy="228600"/>
          </a:xfrm>
          <a:prstGeom prst="rect">
            <a:avLst/>
          </a:prstGeom>
        </p:spPr>
      </p:pic>
      <p:sp>
        <p:nvSpPr>
          <p:cNvPr id="30" name="Shape 30"/>
          <p:cNvSpPr txBox="1"/>
          <p:nvPr/>
        </p:nvSpPr>
        <p:spPr>
          <a:xfrm>
            <a:off x="5029200" y="2670048"/>
            <a:ext cx="277063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FFFFFF"/>
                </a:solidFill>
                <a:latin typeface="Montserrat"/>
                <a:cs typeface="Montserrat"/>
              </a:rPr>
              <a:t>SAP · Integración de necesidades</a:t>
            </a:r>
            <a:endParaRPr lang="es-ES" sz="1200" dirty="0"/>
          </a:p>
        </p:txBody>
      </p:sp>
      <p:sp>
        <p:nvSpPr>
          <p:cNvPr id="31" name="Shape 31"/>
          <p:cNvSpPr txBox="1"/>
          <p:nvPr/>
        </p:nvSpPr>
        <p:spPr>
          <a:xfrm>
            <a:off x="4480560" y="3236976"/>
            <a:ext cx="3319272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 marL="171450" indent="-171450">
              <a:lnSpc>
                <a:spcPct val="105000"/>
              </a:lnSpc>
              <a:spcAft>
                <a:spcPts val="200"/>
              </a:spcAft>
              <a:buClr>
                <a:srgbClr val="98C9EB"/>
              </a:buClr>
              <a:buFont typeface="Arial"/>
              <a:buChar char="•"/>
            </a:pPr>
            <a:r>
              <a:rPr lang="es-ES" sz="950" b="0" i="0" dirty="0">
                <a:solidFill>
                  <a:srgbClr val="DCE7EF"/>
                </a:solidFill>
                <a:latin typeface="Montserrat"/>
                <a:cs typeface="Montserrat"/>
              </a:rPr>
              <a:t>Mapeo de materiales y mínimos/máximos</a:t>
            </a:r>
            <a:endParaRPr lang="es-ES" sz="950" dirty="0"/>
          </a:p>
          <a:p>
            <a:pPr algn="l" marL="171450" indent="-171450">
              <a:lnSpc>
                <a:spcPct val="105000"/>
              </a:lnSpc>
              <a:spcAft>
                <a:spcPts val="200"/>
              </a:spcAft>
              <a:buClr>
                <a:srgbClr val="98C9EB"/>
              </a:buClr>
              <a:buFont typeface="Arial"/>
              <a:buChar char="•"/>
            </a:pPr>
            <a:r>
              <a:rPr lang="es-ES" sz="950" b="0" i="0" dirty="0">
                <a:solidFill>
                  <a:srgbClr val="DCE7EF"/>
                </a:solidFill>
                <a:latin typeface="Montserrat"/>
                <a:cs typeface="Montserrat"/>
              </a:rPr>
              <a:t>Trigger automático de necesidad</a:t>
            </a:r>
            <a:endParaRPr lang="es-ES" sz="950" dirty="0"/>
          </a:p>
          <a:p>
            <a:pPr algn="l" marL="171450" indent="-171450">
              <a:lnSpc>
                <a:spcPct val="105000"/>
              </a:lnSpc>
              <a:spcAft>
                <a:spcPts val="200"/>
              </a:spcAft>
              <a:buClr>
                <a:srgbClr val="98C9EB"/>
              </a:buClr>
              <a:buFont typeface="Arial"/>
              <a:buChar char="•"/>
            </a:pPr>
            <a:r>
              <a:rPr lang="es-ES" sz="950" b="0" i="0" dirty="0">
                <a:solidFill>
                  <a:srgbClr val="DCE7EF"/>
                </a:solidFill>
                <a:latin typeface="Montserrat"/>
                <a:cs typeface="Montserrat"/>
              </a:rPr>
              <a:t>Pedidos de compra y venta mapeados, en Salesforce</a:t>
            </a:r>
            <a:endParaRPr lang="es-ES" sz="950" dirty="0"/>
          </a:p>
        </p:txBody>
      </p:sp>
      <p:cxnSp>
        <p:nvCxnSpPr>
          <p:cNvPr id="32" name="Conector 32"/>
          <p:cNvCxnSpPr/>
          <p:nvPr/>
        </p:nvCxnSpPr>
        <p:spPr>
          <a:xfrm>
            <a:off x="3383280" y="2830068"/>
            <a:ext cx="411480" cy="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33" name="Conector 33"/>
          <p:cNvCxnSpPr/>
          <p:nvPr/>
        </p:nvCxnSpPr>
        <p:spPr>
          <a:xfrm>
            <a:off x="3794760" y="2830068"/>
            <a:ext cx="0" cy="41148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34" name="Conector 34"/>
          <p:cNvCxnSpPr/>
          <p:nvPr/>
        </p:nvCxnSpPr>
        <p:spPr>
          <a:xfrm>
            <a:off x="3794760" y="3241548"/>
            <a:ext cx="411480" cy="0"/>
          </a:xfrm>
          <a:prstGeom prst="straightConnector1">
            <a:avLst/>
          </a:prstGeom>
          <a:ln w="19050" cap="rnd">
            <a:solidFill>
              <a:srgbClr val="244C5A"/>
            </a:solidFill>
            <a:tailEnd type="triangle" w="med" len="med"/>
          </a:ln>
        </p:spPr>
      </p:cxnSp>
      <p:cxnSp>
        <p:nvCxnSpPr>
          <p:cNvPr id="35" name="Conector 35"/>
          <p:cNvCxnSpPr/>
          <p:nvPr/>
        </p:nvCxnSpPr>
        <p:spPr>
          <a:xfrm>
            <a:off x="7982712" y="3241548"/>
            <a:ext cx="411480" cy="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36" name="Conector 36"/>
          <p:cNvCxnSpPr/>
          <p:nvPr/>
        </p:nvCxnSpPr>
        <p:spPr>
          <a:xfrm flipV="1">
            <a:off x="8394192" y="2830068"/>
            <a:ext cx="0" cy="41148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37" name="Conector 37"/>
          <p:cNvCxnSpPr/>
          <p:nvPr/>
        </p:nvCxnSpPr>
        <p:spPr>
          <a:xfrm>
            <a:off x="8394192" y="2830068"/>
            <a:ext cx="411480" cy="0"/>
          </a:xfrm>
          <a:prstGeom prst="straightConnector1">
            <a:avLst/>
          </a:prstGeom>
          <a:ln w="19050" cap="rnd">
            <a:solidFill>
              <a:srgbClr val="244C5A"/>
            </a:solidFill>
            <a:tailEnd type="triangle" w="med" len="med"/>
          </a:ln>
        </p:spPr>
      </p:cxnSp>
      <p:cxnSp>
        <p:nvCxnSpPr>
          <p:cNvPr id="38" name="Conector 38"/>
          <p:cNvCxnSpPr/>
          <p:nvPr/>
        </p:nvCxnSpPr>
        <p:spPr>
          <a:xfrm>
            <a:off x="3383280" y="3653028"/>
            <a:ext cx="411480" cy="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39" name="Conector 39"/>
          <p:cNvCxnSpPr/>
          <p:nvPr/>
        </p:nvCxnSpPr>
        <p:spPr>
          <a:xfrm flipV="1">
            <a:off x="3794760" y="3241548"/>
            <a:ext cx="0" cy="41148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40" name="Conector 40"/>
          <p:cNvCxnSpPr/>
          <p:nvPr/>
        </p:nvCxnSpPr>
        <p:spPr>
          <a:xfrm>
            <a:off x="3794760" y="3241548"/>
            <a:ext cx="411480" cy="0"/>
          </a:xfrm>
          <a:prstGeom prst="straightConnector1">
            <a:avLst/>
          </a:prstGeom>
          <a:ln w="19050" cap="rnd">
            <a:solidFill>
              <a:srgbClr val="244C5A"/>
            </a:solidFill>
            <a:tailEnd type="triangle" w="med" len="med"/>
          </a:ln>
        </p:spPr>
      </p:cxnSp>
      <p:cxnSp>
        <p:nvCxnSpPr>
          <p:cNvPr id="41" name="Conector 41"/>
          <p:cNvCxnSpPr/>
          <p:nvPr/>
        </p:nvCxnSpPr>
        <p:spPr>
          <a:xfrm>
            <a:off x="7982712" y="3241548"/>
            <a:ext cx="411480" cy="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42" name="Conector 42"/>
          <p:cNvCxnSpPr/>
          <p:nvPr/>
        </p:nvCxnSpPr>
        <p:spPr>
          <a:xfrm>
            <a:off x="8394192" y="3241548"/>
            <a:ext cx="0" cy="41148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43" name="Conector 43"/>
          <p:cNvCxnSpPr/>
          <p:nvPr/>
        </p:nvCxnSpPr>
        <p:spPr>
          <a:xfrm>
            <a:off x="8394192" y="3653028"/>
            <a:ext cx="411480" cy="0"/>
          </a:xfrm>
          <a:prstGeom prst="straightConnector1">
            <a:avLst/>
          </a:prstGeom>
          <a:ln w="19050" cap="rnd">
            <a:solidFill>
              <a:srgbClr val="244C5A"/>
            </a:solidFill>
            <a:tailEnd type="triangle" w="med" len="med"/>
          </a:ln>
        </p:spPr>
      </p:cxnSp>
      <p:cxnSp>
        <p:nvCxnSpPr>
          <p:cNvPr id="44" name="Conector 44"/>
          <p:cNvCxnSpPr/>
          <p:nvPr/>
        </p:nvCxnSpPr>
        <p:spPr>
          <a:xfrm flipH="1">
            <a:off x="3520440" y="4224528"/>
            <a:ext cx="5148072" cy="0"/>
          </a:xfrm>
          <a:prstGeom prst="straightConnector1">
            <a:avLst/>
          </a:prstGeom>
          <a:ln w="25400" cap="rnd">
            <a:solidFill>
              <a:srgbClr val="00263A"/>
            </a:solidFill>
            <a:tailEnd type="triangle" w="med" len="med"/>
          </a:ln>
        </p:spPr>
      </p:cxnSp>
      <p:sp>
        <p:nvSpPr>
          <p:cNvPr id="45" name="Shape 45"/>
          <p:cNvSpPr txBox="1"/>
          <p:nvPr/>
        </p:nvSpPr>
        <p:spPr>
          <a:xfrm>
            <a:off x="3383280" y="4279392"/>
            <a:ext cx="54223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0" i="1" dirty="0">
                <a:solidFill>
                  <a:srgbClr val="244C5A"/>
                </a:solidFill>
                <a:latin typeface="Montserrat"/>
                <a:cs typeface="Montserrat"/>
              </a:rPr>
              <a:t>Suministro de papel contra pedido</a:t>
            </a:r>
            <a:endParaRPr lang="es-ES" sz="900" dirty="0"/>
          </a:p>
        </p:txBody>
      </p:sp>
      <p:sp>
        <p:nvSpPr>
          <p:cNvPr id="46" name="Shape 46"/>
          <p:cNvSpPr/>
          <p:nvPr/>
        </p:nvSpPr>
        <p:spPr>
          <a:xfrm>
            <a:off x="548640" y="4645152"/>
            <a:ext cx="3544824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7" name="Shape 47"/>
          <p:cNvSpPr/>
          <p:nvPr/>
        </p:nvSpPr>
        <p:spPr>
          <a:xfrm>
            <a:off x="731520" y="4828032"/>
            <a:ext cx="457200" cy="45720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48" name="Icono 48" descr="Icono eye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5820" y="4942332"/>
            <a:ext cx="228600" cy="228600"/>
          </a:xfrm>
          <a:prstGeom prst="rect">
            <a:avLst/>
          </a:prstGeom>
        </p:spPr>
      </p:pic>
      <p:sp>
        <p:nvSpPr>
          <p:cNvPr id="49" name="Shape 49"/>
          <p:cNvSpPr txBox="1"/>
          <p:nvPr/>
        </p:nvSpPr>
        <p:spPr>
          <a:xfrm>
            <a:off x="1325880" y="4754880"/>
            <a:ext cx="263042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Visibilidad completa</a:t>
            </a:r>
            <a:endParaRPr lang="es-ES" sz="1100" dirty="0"/>
          </a:p>
        </p:txBody>
      </p:sp>
      <p:sp>
        <p:nvSpPr>
          <p:cNvPr id="50" name="Shape 50"/>
          <p:cNvSpPr txBox="1"/>
          <p:nvPr/>
        </p:nvSpPr>
        <p:spPr>
          <a:xfrm>
            <a:off x="1325880" y="5029200"/>
            <a:ext cx="2630424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0" i="0" dirty="0">
                <a:solidFill>
                  <a:srgbClr val="5B6B78"/>
                </a:solidFill>
                <a:latin typeface="Montserrat"/>
                <a:cs typeface="Montserrat"/>
              </a:rPr>
              <a:t>Stock propio y externo, mínimos, máximos y propuestas de carga por material.</a:t>
            </a:r>
            <a:endParaRPr lang="es-ES" sz="850" dirty="0"/>
          </a:p>
        </p:txBody>
      </p:sp>
      <p:sp>
        <p:nvSpPr>
          <p:cNvPr id="51" name="Shape 51"/>
          <p:cNvSpPr/>
          <p:nvPr/>
        </p:nvSpPr>
        <p:spPr>
          <a:xfrm>
            <a:off x="4322064" y="4645152"/>
            <a:ext cx="3544824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2" name="Shape 52"/>
          <p:cNvSpPr/>
          <p:nvPr/>
        </p:nvSpPr>
        <p:spPr>
          <a:xfrm>
            <a:off x="4504944" y="4828032"/>
            <a:ext cx="457200" cy="45720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53" name="Icono 53" descr="Icono link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19244" y="4942332"/>
            <a:ext cx="228600" cy="228600"/>
          </a:xfrm>
          <a:prstGeom prst="rect">
            <a:avLst/>
          </a:prstGeom>
        </p:spPr>
      </p:pic>
      <p:sp>
        <p:nvSpPr>
          <p:cNvPr id="54" name="Shape 54"/>
          <p:cNvSpPr txBox="1"/>
          <p:nvPr/>
        </p:nvSpPr>
        <p:spPr>
          <a:xfrm>
            <a:off x="5099304" y="4754880"/>
            <a:ext cx="263042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Pedidos automáticos y trazables</a:t>
            </a:r>
            <a:endParaRPr lang="es-ES" sz="1100" dirty="0"/>
          </a:p>
        </p:txBody>
      </p:sp>
      <p:sp>
        <p:nvSpPr>
          <p:cNvPr id="55" name="Shape 55"/>
          <p:cNvSpPr txBox="1"/>
          <p:nvPr/>
        </p:nvSpPr>
        <p:spPr>
          <a:xfrm>
            <a:off x="5099304" y="5029200"/>
            <a:ext cx="2630424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0" i="0" dirty="0">
                <a:solidFill>
                  <a:srgbClr val="5B6B78"/>
                </a:solidFill>
                <a:latin typeface="Montserrat"/>
                <a:cs typeface="Montserrat"/>
              </a:rPr>
              <a:t>Compra y venta se generan solos, mapeados entre plantas y visibles en Salesforce.</a:t>
            </a:r>
            <a:endParaRPr lang="es-ES" sz="850" dirty="0"/>
          </a:p>
        </p:txBody>
      </p:sp>
      <p:sp>
        <p:nvSpPr>
          <p:cNvPr id="56" name="Shape 56"/>
          <p:cNvSpPr/>
          <p:nvPr/>
        </p:nvSpPr>
        <p:spPr>
          <a:xfrm>
            <a:off x="8095488" y="4645152"/>
            <a:ext cx="3544824" cy="914400"/>
          </a:xfrm>
          <a:prstGeom prst="roundRect">
            <a:avLst>
              <a:gd name="adj" fmla="val 800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7" name="Shape 57"/>
          <p:cNvSpPr/>
          <p:nvPr/>
        </p:nvSpPr>
        <p:spPr>
          <a:xfrm>
            <a:off x="8278368" y="4828032"/>
            <a:ext cx="457200" cy="45720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58" name="Icono 58" descr="Icono warehouse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92668" y="4942332"/>
            <a:ext cx="228600" cy="228600"/>
          </a:xfrm>
          <a:prstGeom prst="rect">
            <a:avLst/>
          </a:prstGeom>
        </p:spPr>
      </p:pic>
      <p:sp>
        <p:nvSpPr>
          <p:cNvPr id="59" name="Shape 59"/>
          <p:cNvSpPr txBox="1"/>
          <p:nvPr/>
        </p:nvSpPr>
        <p:spPr>
          <a:xfrm>
            <a:off x="8872728" y="4754880"/>
            <a:ext cx="2630424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100" b="1" i="0" dirty="0">
                <a:solidFill>
                  <a:srgbClr val="00263A"/>
                </a:solidFill>
                <a:latin typeface="Montserrat"/>
                <a:cs typeface="Montserrat"/>
              </a:rPr>
              <a:t>Papeleras que se anticipan</a:t>
            </a:r>
            <a:endParaRPr lang="es-ES" sz="1100" dirty="0"/>
          </a:p>
        </p:txBody>
      </p:sp>
      <p:sp>
        <p:nvSpPr>
          <p:cNvPr id="60" name="Shape 60"/>
          <p:cNvSpPr txBox="1"/>
          <p:nvPr/>
        </p:nvSpPr>
        <p:spPr>
          <a:xfrm>
            <a:off x="8872728" y="5029200"/>
            <a:ext cx="2630424" cy="4754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0" i="0" dirty="0">
                <a:solidFill>
                  <a:srgbClr val="5B6B78"/>
                </a:solidFill>
                <a:latin typeface="Montserrat"/>
                <a:cs typeface="Montserrat"/>
              </a:rPr>
              <a:t>Planifican contra pedidos de stock y reservan el material para las cartoneras.</a:t>
            </a:r>
            <a:endParaRPr lang="es-ES" sz="850" dirty="0"/>
          </a:p>
        </p:txBody>
      </p:sp>
      <p:sp>
        <p:nvSpPr>
          <p:cNvPr id="61" name="Shape 61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8</a:t>
            </a:r>
            <a:endParaRPr lang="es-E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MGT + PDA · Flujo del pull</a:t>
            </a:r>
          </a:p>
        </p:txBody>
      </p:sp>
      <p:sp>
        <p:nvSpPr>
          <p:cNvPr id="3" name="Shape 3"/>
          <p:cNvSpPr/>
          <p:nvPr/>
        </p:nvSpPr>
        <p:spPr>
          <a:xfrm>
            <a:off x="7360920" y="3108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PULL SYSTEM</a:t>
            </a:r>
            <a:endParaRPr lang="es-ES" sz="850" dirty="0"/>
          </a:p>
        </p:txBody>
      </p:sp>
      <p:sp>
        <p:nvSpPr>
          <p:cNvPr id="4" name="Shape 4"/>
          <p:cNvSpPr/>
          <p:nvPr/>
        </p:nvSpPr>
        <p:spPr>
          <a:xfrm>
            <a:off x="548640" y="1325880"/>
            <a:ext cx="11091672" cy="1143000"/>
          </a:xfrm>
          <a:prstGeom prst="roundRect">
            <a:avLst>
              <a:gd name="adj" fmla="val 64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" name="Shape 5"/>
          <p:cNvSpPr/>
          <p:nvPr/>
        </p:nvSpPr>
        <p:spPr>
          <a:xfrm>
            <a:off x="548640" y="1325880"/>
            <a:ext cx="1463040" cy="1143000"/>
          </a:xfrm>
          <a:prstGeom prst="roundRect">
            <a:avLst>
              <a:gd name="adj" fmla="val 6400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" name="Shape 6"/>
          <p:cNvSpPr txBox="1"/>
          <p:nvPr/>
        </p:nvSpPr>
        <p:spPr>
          <a:xfrm>
            <a:off x="713232" y="1600200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250" b="1" i="0" dirty="0">
                <a:solidFill>
                  <a:srgbClr val="FFFFFF"/>
                </a:solidFill>
                <a:latin typeface="Montserrat"/>
                <a:cs typeface="Montserrat"/>
              </a:rPr>
              <a:t>Cartoneras</a:t>
            </a:r>
            <a:endParaRPr lang="es-ES" sz="1250" dirty="0"/>
          </a:p>
        </p:txBody>
      </p:sp>
      <p:sp>
        <p:nvSpPr>
          <p:cNvPr id="7" name="Shape 7"/>
          <p:cNvSpPr txBox="1"/>
          <p:nvPr/>
        </p:nvSpPr>
        <p:spPr>
          <a:xfrm>
            <a:off x="713232" y="1892808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800" b="0" i="0" dirty="0">
                <a:solidFill>
                  <a:srgbClr val="98C9EB"/>
                </a:solidFill>
                <a:latin typeface="Montserrat"/>
                <a:cs typeface="Montserrat"/>
              </a:rPr>
              <a:t>Ondupack Almendralejo · Navalmoral</a:t>
            </a:r>
            <a:endParaRPr lang="es-ES" sz="800" dirty="0"/>
          </a:p>
        </p:txBody>
      </p:sp>
      <p:sp>
        <p:nvSpPr>
          <p:cNvPr id="8" name="Shape 8"/>
          <p:cNvSpPr/>
          <p:nvPr/>
        </p:nvSpPr>
        <p:spPr>
          <a:xfrm>
            <a:off x="548640" y="2542032"/>
            <a:ext cx="11091672" cy="1143000"/>
          </a:xfrm>
          <a:prstGeom prst="roundRect">
            <a:avLst>
              <a:gd name="adj" fmla="val 64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9" name="Shape 9"/>
          <p:cNvSpPr/>
          <p:nvPr/>
        </p:nvSpPr>
        <p:spPr>
          <a:xfrm>
            <a:off x="548640" y="2542032"/>
            <a:ext cx="1463040" cy="1143000"/>
          </a:xfrm>
          <a:prstGeom prst="roundRect">
            <a:avLst>
              <a:gd name="adj" fmla="val 6400"/>
            </a:avLst>
          </a:prstGeom>
          <a:solidFill>
            <a:srgbClr val="98C9EB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0" name="Shape 10"/>
          <p:cNvSpPr txBox="1"/>
          <p:nvPr/>
        </p:nvSpPr>
        <p:spPr>
          <a:xfrm>
            <a:off x="713232" y="2816352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250" b="1" i="0" dirty="0">
                <a:solidFill>
                  <a:srgbClr val="00263A"/>
                </a:solidFill>
                <a:latin typeface="Montserrat"/>
                <a:cs typeface="Montserrat"/>
              </a:rPr>
              <a:t>SAP</a:t>
            </a:r>
            <a:endParaRPr lang="es-ES" sz="1250" dirty="0"/>
          </a:p>
        </p:txBody>
      </p:sp>
      <p:sp>
        <p:nvSpPr>
          <p:cNvPr id="11" name="Shape 11"/>
          <p:cNvSpPr txBox="1"/>
          <p:nvPr/>
        </p:nvSpPr>
        <p:spPr>
          <a:xfrm>
            <a:off x="713232" y="310896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800" b="0" i="0" dirty="0">
                <a:solidFill>
                  <a:srgbClr val="244C5A"/>
                </a:solidFill>
                <a:latin typeface="Montserrat"/>
                <a:cs typeface="Montserrat"/>
              </a:rPr>
              <a:t>Integración intercompany</a:t>
            </a:r>
            <a:endParaRPr lang="es-ES" sz="800" dirty="0"/>
          </a:p>
        </p:txBody>
      </p:sp>
      <p:sp>
        <p:nvSpPr>
          <p:cNvPr id="12" name="Shape 12"/>
          <p:cNvSpPr/>
          <p:nvPr/>
        </p:nvSpPr>
        <p:spPr>
          <a:xfrm>
            <a:off x="548640" y="3758184"/>
            <a:ext cx="11091672" cy="1143000"/>
          </a:xfrm>
          <a:prstGeom prst="roundRect">
            <a:avLst>
              <a:gd name="adj" fmla="val 6400"/>
            </a:avLst>
          </a:prstGeom>
          <a:solidFill>
            <a:srgbClr val="F5F7F8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3" name="Shape 13"/>
          <p:cNvSpPr/>
          <p:nvPr/>
        </p:nvSpPr>
        <p:spPr>
          <a:xfrm>
            <a:off x="548640" y="3758184"/>
            <a:ext cx="1463040" cy="1143000"/>
          </a:xfrm>
          <a:prstGeom prst="roundRect">
            <a:avLst>
              <a:gd name="adj" fmla="val 6400"/>
            </a:avLst>
          </a:prstGeom>
          <a:solidFill>
            <a:srgbClr val="244C5A"/>
          </a:solidFill>
          <a:ln w="9525">
            <a:solidFill>
              <a:srgbClr val="244C5A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4" name="Shape 14"/>
          <p:cNvSpPr txBox="1"/>
          <p:nvPr/>
        </p:nvSpPr>
        <p:spPr>
          <a:xfrm>
            <a:off x="713232" y="4032504"/>
            <a:ext cx="1188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250" b="1" i="0" dirty="0">
                <a:solidFill>
                  <a:srgbClr val="FFFFFF"/>
                </a:solidFill>
                <a:latin typeface="Montserrat"/>
                <a:cs typeface="Montserrat"/>
              </a:rPr>
              <a:t>Papeleras</a:t>
            </a:r>
            <a:endParaRPr lang="es-ES" sz="1250" dirty="0"/>
          </a:p>
        </p:txBody>
      </p:sp>
      <p:sp>
        <p:nvSpPr>
          <p:cNvPr id="15" name="Shape 15"/>
          <p:cNvSpPr txBox="1"/>
          <p:nvPr/>
        </p:nvSpPr>
        <p:spPr>
          <a:xfrm>
            <a:off x="713232" y="432511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800" b="0" i="0" dirty="0">
                <a:solidFill>
                  <a:srgbClr val="DCE7EF"/>
                </a:solidFill>
                <a:latin typeface="Montserrat"/>
                <a:cs typeface="Montserrat"/>
              </a:rPr>
              <a:t>MGT · PDA</a:t>
            </a:r>
            <a:endParaRPr lang="es-ES" sz="800" dirty="0"/>
          </a:p>
        </p:txBody>
      </p:sp>
      <p:sp>
        <p:nvSpPr>
          <p:cNvPr id="16" name="Shape 16"/>
          <p:cNvSpPr/>
          <p:nvPr/>
        </p:nvSpPr>
        <p:spPr>
          <a:xfrm>
            <a:off x="2212848" y="1403604"/>
            <a:ext cx="1242060" cy="987552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7" name="Shape 17"/>
          <p:cNvSpPr/>
          <p:nvPr/>
        </p:nvSpPr>
        <p:spPr>
          <a:xfrm>
            <a:off x="2304288" y="1495044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1</a:t>
            </a:r>
            <a:endParaRPr lang="es-ES" sz="900" dirty="0"/>
          </a:p>
        </p:txBody>
      </p:sp>
      <p:sp>
        <p:nvSpPr>
          <p:cNvPr id="18" name="Shape 18"/>
          <p:cNvSpPr txBox="1"/>
          <p:nvPr/>
        </p:nvSpPr>
        <p:spPr>
          <a:xfrm>
            <a:off x="2304288" y="1815084"/>
            <a:ext cx="109575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850" b="0" i="0" dirty="0">
                <a:solidFill>
                  <a:srgbClr val="00263A"/>
                </a:solidFill>
                <a:latin typeface="Montserrat"/>
                <a:cs typeface="Montserrat"/>
              </a:rPr>
              <a:t>Fijan mínimo y máximo por referencia</a:t>
            </a:r>
            <a:endParaRPr lang="es-ES" sz="850" dirty="0"/>
          </a:p>
        </p:txBody>
      </p:sp>
      <p:sp>
        <p:nvSpPr>
          <p:cNvPr id="19" name="Shape 19"/>
          <p:cNvSpPr/>
          <p:nvPr/>
        </p:nvSpPr>
        <p:spPr>
          <a:xfrm>
            <a:off x="3765804" y="2619756"/>
            <a:ext cx="1242060" cy="987552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0" name="Shape 20"/>
          <p:cNvSpPr/>
          <p:nvPr/>
        </p:nvSpPr>
        <p:spPr>
          <a:xfrm>
            <a:off x="3857244" y="2711196"/>
            <a:ext cx="274320" cy="27432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2</a:t>
            </a:r>
            <a:endParaRPr lang="es-ES" sz="900" dirty="0"/>
          </a:p>
        </p:txBody>
      </p:sp>
      <p:sp>
        <p:nvSpPr>
          <p:cNvPr id="21" name="Shape 21"/>
          <p:cNvSpPr txBox="1"/>
          <p:nvPr/>
        </p:nvSpPr>
        <p:spPr>
          <a:xfrm>
            <a:off x="3857244" y="3031236"/>
            <a:ext cx="109575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850" b="0" i="0" dirty="0">
                <a:solidFill>
                  <a:srgbClr val="00263A"/>
                </a:solidFill>
                <a:latin typeface="Montserrat"/>
                <a:cs typeface="Montserrat"/>
              </a:rPr>
              <a:t>Stock bajo mínimo: calcula la necesidad y propone la carga</a:t>
            </a:r>
            <a:endParaRPr lang="es-ES" sz="850" dirty="0"/>
          </a:p>
        </p:txBody>
      </p:sp>
      <p:sp>
        <p:nvSpPr>
          <p:cNvPr id="22" name="Shape 22"/>
          <p:cNvSpPr/>
          <p:nvPr/>
        </p:nvSpPr>
        <p:spPr>
          <a:xfrm>
            <a:off x="5318760" y="2619756"/>
            <a:ext cx="1242060" cy="987552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3" name="Shape 23"/>
          <p:cNvSpPr/>
          <p:nvPr/>
        </p:nvSpPr>
        <p:spPr>
          <a:xfrm>
            <a:off x="5410200" y="2711196"/>
            <a:ext cx="274320" cy="27432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3</a:t>
            </a:r>
            <a:endParaRPr lang="es-ES" sz="900" dirty="0"/>
          </a:p>
        </p:txBody>
      </p:sp>
      <p:sp>
        <p:nvSpPr>
          <p:cNvPr id="24" name="Shape 24"/>
          <p:cNvSpPr txBox="1"/>
          <p:nvPr/>
        </p:nvSpPr>
        <p:spPr>
          <a:xfrm>
            <a:off x="5410200" y="3031236"/>
            <a:ext cx="109575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850" b="0" i="0" dirty="0">
                <a:solidFill>
                  <a:srgbClr val="00263A"/>
                </a:solidFill>
                <a:latin typeface="Montserrat"/>
                <a:cs typeface="Montserrat"/>
              </a:rPr>
              <a:t>Crea pedidos de compra y venta mapeados, en Salesforce</a:t>
            </a:r>
            <a:endParaRPr lang="es-ES" sz="850" dirty="0"/>
          </a:p>
        </p:txBody>
      </p:sp>
      <p:sp>
        <p:nvSpPr>
          <p:cNvPr id="25" name="Shape 25"/>
          <p:cNvSpPr/>
          <p:nvPr/>
        </p:nvSpPr>
        <p:spPr>
          <a:xfrm>
            <a:off x="6871716" y="3835908"/>
            <a:ext cx="1242060" cy="987552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6" name="Shape 26"/>
          <p:cNvSpPr/>
          <p:nvPr/>
        </p:nvSpPr>
        <p:spPr>
          <a:xfrm>
            <a:off x="6963156" y="3927348"/>
            <a:ext cx="274320" cy="274320"/>
          </a:xfrm>
          <a:prstGeom prst="ellipse">
            <a:avLst/>
          </a:prstGeom>
          <a:solidFill>
            <a:srgbClr val="244C5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4</a:t>
            </a:r>
            <a:endParaRPr lang="es-ES" sz="900" dirty="0"/>
          </a:p>
        </p:txBody>
      </p:sp>
      <p:sp>
        <p:nvSpPr>
          <p:cNvPr id="27" name="Shape 27"/>
          <p:cNvSpPr txBox="1"/>
          <p:nvPr/>
        </p:nvSpPr>
        <p:spPr>
          <a:xfrm>
            <a:off x="6963156" y="4247388"/>
            <a:ext cx="109575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850" b="0" i="0" dirty="0">
                <a:solidFill>
                  <a:srgbClr val="00263A"/>
                </a:solidFill>
                <a:latin typeface="Montserrat"/>
                <a:cs typeface="Montserrat"/>
              </a:rPr>
              <a:t>Planifican contra pedidos de stock y reservan material</a:t>
            </a:r>
            <a:endParaRPr lang="es-ES" sz="850" dirty="0"/>
          </a:p>
        </p:txBody>
      </p:sp>
      <p:sp>
        <p:nvSpPr>
          <p:cNvPr id="28" name="Shape 28"/>
          <p:cNvSpPr/>
          <p:nvPr/>
        </p:nvSpPr>
        <p:spPr>
          <a:xfrm>
            <a:off x="8424672" y="1403604"/>
            <a:ext cx="1242060" cy="987552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9" name="Shape 29"/>
          <p:cNvSpPr/>
          <p:nvPr/>
        </p:nvSpPr>
        <p:spPr>
          <a:xfrm>
            <a:off x="8516112" y="1495044"/>
            <a:ext cx="274320" cy="27432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FFFFFF"/>
                </a:solidFill>
                <a:latin typeface="Montserrat"/>
                <a:cs typeface="Montserrat"/>
              </a:rPr>
              <a:t>5</a:t>
            </a:r>
            <a:endParaRPr lang="es-ES" sz="900" dirty="0"/>
          </a:p>
        </p:txBody>
      </p:sp>
      <p:sp>
        <p:nvSpPr>
          <p:cNvPr id="30" name="Shape 30"/>
          <p:cNvSpPr txBox="1"/>
          <p:nvPr/>
        </p:nvSpPr>
        <p:spPr>
          <a:xfrm>
            <a:off x="8516112" y="1815084"/>
            <a:ext cx="109575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850" b="0" i="0" dirty="0">
                <a:solidFill>
                  <a:srgbClr val="00263A"/>
                </a:solidFill>
                <a:latin typeface="Montserrat"/>
                <a:cs typeface="Montserrat"/>
              </a:rPr>
              <a:t>Reciben el material con la recepción mejorada</a:t>
            </a:r>
            <a:endParaRPr lang="es-ES" sz="850" dirty="0"/>
          </a:p>
        </p:txBody>
      </p:sp>
      <p:sp>
        <p:nvSpPr>
          <p:cNvPr id="31" name="Shape 31"/>
          <p:cNvSpPr/>
          <p:nvPr/>
        </p:nvSpPr>
        <p:spPr>
          <a:xfrm>
            <a:off x="9977628" y="2619756"/>
            <a:ext cx="1242060" cy="987552"/>
          </a:xfrm>
          <a:prstGeom prst="roundRect">
            <a:avLst>
              <a:gd name="adj" fmla="val 5555"/>
            </a:avLst>
          </a:prstGeom>
          <a:solidFill>
            <a:srgbClr val="FFFFFF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2" name="Shape 32"/>
          <p:cNvSpPr/>
          <p:nvPr/>
        </p:nvSpPr>
        <p:spPr>
          <a:xfrm>
            <a:off x="10069068" y="2711196"/>
            <a:ext cx="274320" cy="274320"/>
          </a:xfrm>
          <a:prstGeom prst="ellipse">
            <a:avLst/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00263A"/>
                </a:solidFill>
                <a:latin typeface="Montserrat"/>
                <a:cs typeface="Montserrat"/>
              </a:rPr>
              <a:t>6</a:t>
            </a:r>
            <a:endParaRPr lang="es-ES" sz="900" dirty="0"/>
          </a:p>
        </p:txBody>
      </p:sp>
      <p:sp>
        <p:nvSpPr>
          <p:cNvPr id="33" name="Shape 33"/>
          <p:cNvSpPr txBox="1"/>
          <p:nvPr/>
        </p:nvSpPr>
        <p:spPr>
          <a:xfrm>
            <a:off x="10069068" y="3031236"/>
            <a:ext cx="109575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850" b="0" i="0" dirty="0">
                <a:solidFill>
                  <a:srgbClr val="00263A"/>
                </a:solidFill>
                <a:latin typeface="Montserrat"/>
                <a:cs typeface="Montserrat"/>
              </a:rPr>
              <a:t>Controla apertura y cierre de pedidos (cierre manual)</a:t>
            </a:r>
            <a:endParaRPr lang="es-ES" sz="850" dirty="0"/>
          </a:p>
        </p:txBody>
      </p:sp>
      <p:cxnSp>
        <p:nvCxnSpPr>
          <p:cNvPr id="34" name="Conector 34"/>
          <p:cNvCxnSpPr/>
          <p:nvPr/>
        </p:nvCxnSpPr>
        <p:spPr>
          <a:xfrm>
            <a:off x="3454908" y="1897380"/>
            <a:ext cx="155448" cy="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35" name="Conector 35"/>
          <p:cNvCxnSpPr/>
          <p:nvPr/>
        </p:nvCxnSpPr>
        <p:spPr>
          <a:xfrm>
            <a:off x="3610356" y="1897380"/>
            <a:ext cx="0" cy="1216152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36" name="Conector 36"/>
          <p:cNvCxnSpPr/>
          <p:nvPr/>
        </p:nvCxnSpPr>
        <p:spPr>
          <a:xfrm>
            <a:off x="3610356" y="3113532"/>
            <a:ext cx="155448" cy="0"/>
          </a:xfrm>
          <a:prstGeom prst="straightConnector1">
            <a:avLst/>
          </a:prstGeom>
          <a:ln w="19050" cap="rnd">
            <a:solidFill>
              <a:srgbClr val="244C5A"/>
            </a:solidFill>
            <a:tailEnd type="triangle" w="med" len="med"/>
          </a:ln>
        </p:spPr>
      </p:cxnSp>
      <p:cxnSp>
        <p:nvCxnSpPr>
          <p:cNvPr id="37" name="Conector 37"/>
          <p:cNvCxnSpPr/>
          <p:nvPr/>
        </p:nvCxnSpPr>
        <p:spPr>
          <a:xfrm>
            <a:off x="5007864" y="3113532"/>
            <a:ext cx="310896" cy="0"/>
          </a:xfrm>
          <a:prstGeom prst="straightConnector1">
            <a:avLst/>
          </a:prstGeom>
          <a:ln w="19050" cap="rnd">
            <a:solidFill>
              <a:srgbClr val="244C5A"/>
            </a:solidFill>
            <a:tailEnd type="triangle" w="med" len="med"/>
          </a:ln>
        </p:spPr>
      </p:cxnSp>
      <p:cxnSp>
        <p:nvCxnSpPr>
          <p:cNvPr id="38" name="Conector 38"/>
          <p:cNvCxnSpPr/>
          <p:nvPr/>
        </p:nvCxnSpPr>
        <p:spPr>
          <a:xfrm>
            <a:off x="6560820" y="3113532"/>
            <a:ext cx="155448" cy="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39" name="Conector 39"/>
          <p:cNvCxnSpPr/>
          <p:nvPr/>
        </p:nvCxnSpPr>
        <p:spPr>
          <a:xfrm>
            <a:off x="6716268" y="3113532"/>
            <a:ext cx="0" cy="1216152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40" name="Conector 40"/>
          <p:cNvCxnSpPr/>
          <p:nvPr/>
        </p:nvCxnSpPr>
        <p:spPr>
          <a:xfrm>
            <a:off x="6716268" y="4329684"/>
            <a:ext cx="155448" cy="0"/>
          </a:xfrm>
          <a:prstGeom prst="straightConnector1">
            <a:avLst/>
          </a:prstGeom>
          <a:ln w="19050" cap="rnd">
            <a:solidFill>
              <a:srgbClr val="244C5A"/>
            </a:solidFill>
            <a:tailEnd type="triangle" w="med" len="med"/>
          </a:ln>
        </p:spPr>
      </p:cxnSp>
      <p:cxnSp>
        <p:nvCxnSpPr>
          <p:cNvPr id="41" name="Conector 41"/>
          <p:cNvCxnSpPr/>
          <p:nvPr/>
        </p:nvCxnSpPr>
        <p:spPr>
          <a:xfrm>
            <a:off x="8113776" y="4329684"/>
            <a:ext cx="155448" cy="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42" name="Conector 42"/>
          <p:cNvCxnSpPr/>
          <p:nvPr/>
        </p:nvCxnSpPr>
        <p:spPr>
          <a:xfrm flipV="1">
            <a:off x="8269224" y="1897380"/>
            <a:ext cx="0" cy="2432304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43" name="Conector 43"/>
          <p:cNvCxnSpPr/>
          <p:nvPr/>
        </p:nvCxnSpPr>
        <p:spPr>
          <a:xfrm>
            <a:off x="8269224" y="1897380"/>
            <a:ext cx="155448" cy="0"/>
          </a:xfrm>
          <a:prstGeom prst="straightConnector1">
            <a:avLst/>
          </a:prstGeom>
          <a:ln w="19050" cap="rnd">
            <a:solidFill>
              <a:srgbClr val="244C5A"/>
            </a:solidFill>
            <a:tailEnd type="triangle" w="med" len="med"/>
          </a:ln>
        </p:spPr>
      </p:cxnSp>
      <p:cxnSp>
        <p:nvCxnSpPr>
          <p:cNvPr id="44" name="Conector 44"/>
          <p:cNvCxnSpPr/>
          <p:nvPr/>
        </p:nvCxnSpPr>
        <p:spPr>
          <a:xfrm>
            <a:off x="9666732" y="1897380"/>
            <a:ext cx="155448" cy="0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45" name="Conector 45"/>
          <p:cNvCxnSpPr/>
          <p:nvPr/>
        </p:nvCxnSpPr>
        <p:spPr>
          <a:xfrm>
            <a:off x="9822180" y="1897380"/>
            <a:ext cx="0" cy="1216152"/>
          </a:xfrm>
          <a:prstGeom prst="straightConnector1">
            <a:avLst/>
          </a:prstGeom>
          <a:ln w="19050" cap="rnd">
            <a:solidFill>
              <a:srgbClr val="244C5A"/>
            </a:solidFill>
          </a:ln>
        </p:spPr>
      </p:cxnSp>
      <p:cxnSp>
        <p:nvCxnSpPr>
          <p:cNvPr id="46" name="Conector 46"/>
          <p:cNvCxnSpPr/>
          <p:nvPr/>
        </p:nvCxnSpPr>
        <p:spPr>
          <a:xfrm>
            <a:off x="9822180" y="3113532"/>
            <a:ext cx="155448" cy="0"/>
          </a:xfrm>
          <a:prstGeom prst="straightConnector1">
            <a:avLst/>
          </a:prstGeom>
          <a:ln w="19050" cap="rnd">
            <a:solidFill>
              <a:srgbClr val="244C5A"/>
            </a:solidFill>
            <a:tailEnd type="triangle" w="med" len="med"/>
          </a:ln>
        </p:spPr>
      </p:cxnSp>
      <p:sp>
        <p:nvSpPr>
          <p:cNvPr id="47" name="Shape 47"/>
          <p:cNvSpPr/>
          <p:nvPr/>
        </p:nvSpPr>
        <p:spPr>
          <a:xfrm>
            <a:off x="548640" y="5056632"/>
            <a:ext cx="11091672" cy="603504"/>
          </a:xfrm>
          <a:prstGeom prst="roundRect">
            <a:avLst>
              <a:gd name="adj" fmla="val 12121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274320" tIns="45720" rIns="274320" bIns="45720" rtlCol="0" anchor="ctr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es-ES" sz="1000" b="1" i="0" dirty="0">
                <a:solidFill>
                  <a:srgbClr val="244C5A"/>
                </a:solidFill>
                <a:latin typeface="Montserrat"/>
                <a:cs typeface="Montserrat"/>
              </a:rPr>
              <a:t>Base del sistema:  </a:t>
            </a:r>
            <a:r>
              <a:rPr lang="es-ES" sz="1000" b="0" i="0" dirty="0">
                <a:solidFill>
                  <a:srgbClr val="00263A"/>
                </a:solidFill>
                <a:latin typeface="Montserrat"/>
                <a:cs typeface="Montserrat"/>
              </a:rPr>
              <a:t>tabla Z de mapeo de materiales entre cartoneras y papeleras, y 4 flujos en SAP con stock propio y externo, mínimos, máximos y propuestas de carga por material.</a:t>
            </a:r>
            <a:endParaRPr lang="es-ES" sz="1000" dirty="0"/>
          </a:p>
        </p:txBody>
      </p:sp>
      <p:sp>
        <p:nvSpPr>
          <p:cNvPr id="48" name="Shape 48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9</a:t>
            </a:r>
            <a:endParaRPr lang="es-E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MGT + PDA · Hitos y objetivos</a:t>
            </a:r>
          </a:p>
        </p:txBody>
      </p:sp>
      <p:sp>
        <p:nvSpPr>
          <p:cNvPr id="3" name="Shape 3"/>
          <p:cNvSpPr/>
          <p:nvPr/>
        </p:nvSpPr>
        <p:spPr>
          <a:xfrm>
            <a:off x="548640" y="1325880"/>
            <a:ext cx="11091672" cy="658368"/>
          </a:xfrm>
          <a:prstGeom prst="roundRect">
            <a:avLst>
              <a:gd name="adj" fmla="val 11111"/>
            </a:avLst>
          </a:prstGeom>
          <a:solidFill>
            <a:srgbClr val="00263A"/>
          </a:solidFill>
          <a:ln w="9525">
            <a:solidFill>
              <a:srgbClr val="00263A"/>
            </a:solidFill>
          </a:ln>
        </p:spPr>
        <p:txBody>
          <a:bodyPr wrap="square" lIns="274320" tIns="45720" rIns="274320" bIns="45720" rtlCol="0" anchor="ctr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1200" b="1" i="0" dirty="0">
                <a:solidFill>
                  <a:srgbClr val="98C9EB"/>
                </a:solidFill>
                <a:latin typeface="Montserrat"/>
                <a:cs typeface="Montserrat"/>
              </a:rPr>
              <a:t>Objetivo estratégico:  </a:t>
            </a:r>
            <a:r>
              <a:rPr lang="es-ES" sz="1200" b="1" i="0" dirty="0">
                <a:solidFill>
                  <a:srgbClr val="FFFFFF"/>
                </a:solidFill>
                <a:latin typeface="Montserrat"/>
                <a:cs typeface="Montserrat"/>
              </a:rPr>
              <a:t>que todos los pedidos de Ondupack, al menos de SQ y DU, se sirvan desde MGT, PDA o Papresa.</a:t>
            </a:r>
            <a:endParaRPr lang="es-ES" sz="1200" dirty="0"/>
          </a:p>
        </p:txBody>
      </p:sp>
      <p:sp>
        <p:nvSpPr>
          <p:cNvPr id="4" name="Shape 4"/>
          <p:cNvSpPr/>
          <p:nvPr/>
        </p:nvSpPr>
        <p:spPr>
          <a:xfrm>
            <a:off x="548640" y="2194560"/>
            <a:ext cx="4206240" cy="1645920"/>
          </a:xfrm>
          <a:prstGeom prst="roundRect">
            <a:avLst>
              <a:gd name="adj" fmla="val 4444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" name="Shape 5"/>
          <p:cNvSpPr/>
          <p:nvPr/>
        </p:nvSpPr>
        <p:spPr>
          <a:xfrm>
            <a:off x="777240" y="2377440"/>
            <a:ext cx="457200" cy="45720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6" name="Icono 6" descr="Icono glob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1540" y="2491740"/>
            <a:ext cx="228600" cy="228600"/>
          </a:xfrm>
          <a:prstGeom prst="rect">
            <a:avLst/>
          </a:prstGeom>
        </p:spPr>
      </p:pic>
      <p:sp>
        <p:nvSpPr>
          <p:cNvPr id="7" name="Shape 7"/>
          <p:cNvSpPr txBox="1"/>
          <p:nvPr/>
        </p:nvSpPr>
        <p:spPr>
          <a:xfrm>
            <a:off x="1371600" y="2377440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250" b="1" i="0" dirty="0">
                <a:solidFill>
                  <a:srgbClr val="00263A"/>
                </a:solidFill>
                <a:latin typeface="Montserrat"/>
                <a:cs typeface="Montserrat"/>
              </a:rPr>
              <a:t>SIGPA · Planificación en web</a:t>
            </a:r>
            <a:endParaRPr lang="es-ES" sz="1250" dirty="0"/>
          </a:p>
        </p:txBody>
      </p:sp>
      <p:sp>
        <p:nvSpPr>
          <p:cNvPr id="8" name="Shape 8"/>
          <p:cNvSpPr txBox="1"/>
          <p:nvPr/>
        </p:nvSpPr>
        <p:spPr>
          <a:xfrm>
            <a:off x="777240" y="2944368"/>
            <a:ext cx="37490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5B6B78"/>
                </a:solidFill>
                <a:latin typeface="Montserrat"/>
                <a:cs typeface="Montserrat"/>
              </a:rPr>
              <a:t>Toda la planificación de MGT y PDA migrada de GIO (escritorio) a SIGPA (web).</a:t>
            </a:r>
            <a:endParaRPr lang="es-ES" sz="950" dirty="0"/>
          </a:p>
        </p:txBody>
      </p:sp>
      <p:sp>
        <p:nvSpPr>
          <p:cNvPr id="9" name="Shape 9"/>
          <p:cNvSpPr txBox="1"/>
          <p:nvPr/>
        </p:nvSpPr>
        <p:spPr>
          <a:xfrm>
            <a:off x="777240" y="3410712"/>
            <a:ext cx="25603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Algoritmo de combinación integrado</a:t>
            </a:r>
            <a:endParaRPr lang="es-ES" sz="950" dirty="0"/>
          </a:p>
        </p:txBody>
      </p:sp>
      <p:sp>
        <p:nvSpPr>
          <p:cNvPr id="10" name="Shape 10"/>
          <p:cNvSpPr/>
          <p:nvPr/>
        </p:nvSpPr>
        <p:spPr>
          <a:xfrm>
            <a:off x="3291840" y="3429000"/>
            <a:ext cx="1234440" cy="256032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EN PRUEBAS</a:t>
            </a:r>
            <a:endParaRPr lang="es-ES" sz="750" dirty="0"/>
          </a:p>
        </p:txBody>
      </p:sp>
      <p:sp>
        <p:nvSpPr>
          <p:cNvPr id="11" name="Shape 11"/>
          <p:cNvSpPr/>
          <p:nvPr/>
        </p:nvSpPr>
        <p:spPr>
          <a:xfrm>
            <a:off x="548640" y="3977640"/>
            <a:ext cx="4206240" cy="1691640"/>
          </a:xfrm>
          <a:prstGeom prst="roundRect">
            <a:avLst>
              <a:gd name="adj" fmla="val 4324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2" name="Shape 12"/>
          <p:cNvSpPr/>
          <p:nvPr/>
        </p:nvSpPr>
        <p:spPr>
          <a:xfrm>
            <a:off x="777240" y="4160520"/>
            <a:ext cx="457200" cy="45720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13" name="Icono 13" descr="Icono industry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4274820"/>
            <a:ext cx="228600" cy="228600"/>
          </a:xfrm>
          <a:prstGeom prst="rect">
            <a:avLst/>
          </a:prstGeom>
        </p:spPr>
      </p:pic>
      <p:sp>
        <p:nvSpPr>
          <p:cNvPr id="14" name="Shape 14"/>
          <p:cNvSpPr txBox="1"/>
          <p:nvPr/>
        </p:nvSpPr>
        <p:spPr>
          <a:xfrm>
            <a:off x="1371600" y="4160520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250" b="1" i="0" dirty="0">
                <a:solidFill>
                  <a:srgbClr val="00263A"/>
                </a:solidFill>
                <a:latin typeface="Montserrat"/>
                <a:cs typeface="Montserrat"/>
              </a:rPr>
              <a:t>Papresa · Nueva papelera</a:t>
            </a:r>
            <a:endParaRPr lang="es-ES" sz="1250" dirty="0"/>
          </a:p>
        </p:txBody>
      </p:sp>
      <p:sp>
        <p:nvSpPr>
          <p:cNvPr id="15" name="Shape 15"/>
          <p:cNvSpPr txBox="1"/>
          <p:nvPr/>
        </p:nvSpPr>
        <p:spPr>
          <a:xfrm>
            <a:off x="777240" y="4727448"/>
            <a:ext cx="37490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5B6B78"/>
                </a:solidFill>
                <a:latin typeface="Montserrat"/>
                <a:cs typeface="Montserrat"/>
              </a:rPr>
              <a:t>Entra en el mismo flujo intercompany. Sin SAP, la trazabilidad compra-venta se cruza hoy en un HTML conectado a los distintos ERP.</a:t>
            </a:r>
            <a:endParaRPr lang="es-ES" sz="950" dirty="0"/>
          </a:p>
        </p:txBody>
      </p:sp>
      <p:sp>
        <p:nvSpPr>
          <p:cNvPr id="16" name="Shape 16"/>
          <p:cNvSpPr txBox="1"/>
          <p:nvPr/>
        </p:nvSpPr>
        <p:spPr>
          <a:xfrm>
            <a:off x="777240" y="5285232"/>
            <a:ext cx="2103120" cy="29260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Objetivo de integración</a:t>
            </a:r>
            <a:endParaRPr lang="es-ES" sz="950" dirty="0"/>
          </a:p>
        </p:txBody>
      </p:sp>
      <p:sp>
        <p:nvSpPr>
          <p:cNvPr id="17" name="Shape 17"/>
          <p:cNvSpPr/>
          <p:nvPr/>
        </p:nvSpPr>
        <p:spPr>
          <a:xfrm>
            <a:off x="2788920" y="5303520"/>
            <a:ext cx="1737360" cy="25603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98C9EB"/>
                </a:solidFill>
                <a:latin typeface="Montserrat"/>
                <a:cs typeface="Montserrat"/>
              </a:rPr>
              <a:t>EN SAP · 01/01/2027</a:t>
            </a:r>
            <a:endParaRPr lang="es-ES" sz="750" dirty="0"/>
          </a:p>
        </p:txBody>
      </p:sp>
      <p:sp>
        <p:nvSpPr>
          <p:cNvPr id="18" name="Shape 18"/>
          <p:cNvSpPr/>
          <p:nvPr/>
        </p:nvSpPr>
        <p:spPr>
          <a:xfrm>
            <a:off x="4983480" y="2194560"/>
            <a:ext cx="6656832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9" name="Shape 19"/>
          <p:cNvSpPr txBox="1"/>
          <p:nvPr/>
        </p:nvSpPr>
        <p:spPr>
          <a:xfrm>
            <a:off x="5212080" y="2359152"/>
            <a:ext cx="427939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200" b="1" i="0" dirty="0">
                <a:solidFill>
                  <a:srgbClr val="00263A"/>
                </a:solidFill>
                <a:latin typeface="Montserrat"/>
                <a:cs typeface="Montserrat"/>
              </a:rPr>
              <a:t>% de integración en Ondupack</a:t>
            </a:r>
            <a:endParaRPr lang="es-ES" sz="1200" dirty="0"/>
          </a:p>
        </p:txBody>
      </p:sp>
      <p:sp>
        <p:nvSpPr>
          <p:cNvPr id="20" name="Shape 20"/>
          <p:cNvSpPr txBox="1"/>
          <p:nvPr/>
        </p:nvSpPr>
        <p:spPr>
          <a:xfrm>
            <a:off x="5212080" y="2633472"/>
            <a:ext cx="427939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50" b="0" i="0" dirty="0">
                <a:solidFill>
                  <a:srgbClr val="5B6B78"/>
                </a:solidFill>
                <a:latin typeface="Montserrat"/>
                <a:cs typeface="Montserrat"/>
              </a:rPr>
              <a:t>Recepciones servidas por MGT, PDA y Papresa · evolución mensual</a:t>
            </a:r>
            <a:endParaRPr lang="es-ES" sz="850" dirty="0"/>
          </a:p>
        </p:txBody>
      </p:sp>
      <p:sp>
        <p:nvSpPr>
          <p:cNvPr id="21" name="Shape 21"/>
          <p:cNvSpPr/>
          <p:nvPr/>
        </p:nvSpPr>
        <p:spPr>
          <a:xfrm>
            <a:off x="9674352" y="2423160"/>
            <a:ext cx="1737360" cy="292608"/>
          </a:xfrm>
          <a:prstGeom prst="roundRect">
            <a:avLst>
              <a:gd name="adj" fmla="val 50000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00" b="1" i="0" spc="40" dirty="0">
                <a:solidFill>
                  <a:srgbClr val="244C5A"/>
                </a:solidFill>
                <a:latin typeface="Montserrat"/>
                <a:cs typeface="Montserrat"/>
              </a:rPr>
              <a:t>META OCT-26: ≈ 100%</a:t>
            </a:r>
            <a:endParaRPr lang="es-ES" sz="800" dirty="0"/>
          </a:p>
        </p:txBody>
      </p:sp>
      <p:sp>
        <p:nvSpPr>
          <p:cNvPr id="22" name="Shape 22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10</a:t>
            </a:r>
            <a:endParaRPr lang="es-ES" sz="900" dirty="0"/>
          </a:p>
        </p:txBody>
      </p:sp>
      <p:graphicFrame>
        <p:nvGraphicFramePr>
          <p:cNvPr id="23" name="Grafico integracion"/>
          <p:cNvGraphicFramePr>
            <a:graphicFrameLocks noGrp="1"/>
          </p:cNvGraphicFramePr>
          <p:nvPr/>
        </p:nvGraphicFramePr>
        <p:xfrm>
          <a:off x="5074920" y="2926080"/>
          <a:ext cx="6428232" cy="26517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C50BB-C186-2811-D9AF-F569E357C0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AEF7C8-FEB2-E98C-2C37-B3D12D291FA3}"/>
              </a:ext>
            </a:extLst>
          </p:cNvPr>
          <p:cNvSpPr/>
          <p:nvPr/>
        </p:nvSpPr>
        <p:spPr>
          <a:xfrm>
            <a:off x="0" y="0"/>
            <a:ext cx="6729984" cy="6858000"/>
          </a:xfrm>
          <a:prstGeom prst="rect">
            <a:avLst/>
          </a:prstGeom>
          <a:solidFill>
            <a:srgbClr val="98C9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B7FBF1-834B-FFDA-65C3-BFF103FD6937}"/>
              </a:ext>
            </a:extLst>
          </p:cNvPr>
          <p:cNvSpPr/>
          <p:nvPr/>
        </p:nvSpPr>
        <p:spPr>
          <a:xfrm>
            <a:off x="6729984" y="0"/>
            <a:ext cx="4526280" cy="6858000"/>
          </a:xfrm>
          <a:prstGeom prst="rect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88A323-4ECB-FC5D-D8EB-5622CE16BA3D}"/>
              </a:ext>
            </a:extLst>
          </p:cNvPr>
          <p:cNvSpPr/>
          <p:nvPr/>
        </p:nvSpPr>
        <p:spPr>
          <a:xfrm>
            <a:off x="11256264" y="0"/>
            <a:ext cx="941832" cy="6858000"/>
          </a:xfrm>
          <a:prstGeom prst="rect">
            <a:avLst/>
          </a:prstGeom>
          <a:solidFill>
            <a:srgbClr val="D2DC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endParaRPr/>
          </a:p>
        </p:txBody>
      </p:sp>
      <p:pic>
        <p:nvPicPr>
          <p:cNvPr id="5" name="Picture 4" descr="image.png">
            <a:extLst>
              <a:ext uri="{FF2B5EF4-FFF2-40B4-BE49-F238E27FC236}">
                <a16:creationId xmlns:a16="http://schemas.microsoft.com/office/drawing/2014/main" id="{B8513DF5-9298-7C9B-5216-B15E2987EA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1097280"/>
            <a:ext cx="2145550" cy="932688"/>
          </a:xfrm>
          <a:prstGeom prst="rect">
            <a:avLst/>
          </a:prstGeom>
        </p:spPr>
      </p:pic>
      <p:sp>
        <p:nvSpPr>
          <p:cNvPr id="6" name="Oval 5">
            <a:extLst>
              <a:ext uri="{FF2B5EF4-FFF2-40B4-BE49-F238E27FC236}">
                <a16:creationId xmlns:a16="http://schemas.microsoft.com/office/drawing/2014/main" id="{6DD7FDC2-9D58-DC28-F6AA-9C84AA9DD249}"/>
              </a:ext>
            </a:extLst>
          </p:cNvPr>
          <p:cNvSpPr/>
          <p:nvPr/>
        </p:nvSpPr>
        <p:spPr>
          <a:xfrm>
            <a:off x="868680" y="2788920"/>
            <a:ext cx="713232" cy="713232"/>
          </a:xfrm>
          <a:prstGeom prst="ellipse">
            <a:avLst/>
          </a:prstGeom>
          <a:solidFill>
            <a:srgbClr val="0026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>
              <a:lnSpc>
                <a:spcPct val="105000"/>
              </a:lnSpc>
              <a:buNone/>
            </a:pPr>
            <a:r>
              <a:rPr sz="2000" b="1" i="0">
                <a:solidFill>
                  <a:srgbClr val="98C9EB"/>
                </a:solidFill>
                <a:latin typeface="Montserrat"/>
              </a:rPr>
              <a:t>04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06F8D91-83FB-40B3-6567-207DD67D5BD2}"/>
              </a:ext>
            </a:extLst>
          </p:cNvPr>
          <p:cNvSpPr txBox="1"/>
          <p:nvPr/>
        </p:nvSpPr>
        <p:spPr>
          <a:xfrm>
            <a:off x="868680" y="3767328"/>
            <a:ext cx="5394960" cy="914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es-ES" sz="3400" b="1" i="0" dirty="0">
                <a:solidFill>
                  <a:srgbClr val="00263A"/>
                </a:solidFill>
                <a:latin typeface="Montserrat"/>
              </a:rPr>
              <a:t>Anexo</a:t>
            </a:r>
            <a:endParaRPr sz="3400" b="1" i="0" dirty="0">
              <a:solidFill>
                <a:srgbClr val="00263A"/>
              </a:solidFill>
              <a:latin typeface="Montserrat"/>
            </a:endParaRPr>
          </a:p>
        </p:txBody>
      </p:sp>
      <p:sp>
        <p:nvSpPr>
          <p:cNvPr id="51" name="Shape 51">
            <a:extLst>
              <a:ext uri="{FF2B5EF4-FFF2-40B4-BE49-F238E27FC236}">
                <a16:creationId xmlns:a16="http://schemas.microsoft.com/office/drawing/2014/main" id="{BE82DFA5-96C1-60B3-FCB1-88E39A52A197}"/>
              </a:ext>
            </a:extLst>
          </p:cNvPr>
          <p:cNvSpPr/>
          <p:nvPr/>
        </p:nvSpPr>
        <p:spPr>
          <a:xfrm>
            <a:off x="868680" y="5074920"/>
            <a:ext cx="1920240" cy="347472"/>
          </a:xfrm>
          <a:prstGeom prst="roundRect">
            <a:avLst>
              <a:gd name="adj" fmla="val 50000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spc="40" dirty="0">
                <a:solidFill>
                  <a:srgbClr val="98C9EB"/>
                </a:solidFill>
                <a:latin typeface="Montserrat"/>
                <a:cs typeface="Montserrat"/>
              </a:rPr>
              <a:t>EN PREPARACIÓN</a:t>
            </a:r>
            <a:endParaRPr lang="es-ES" sz="900" dirty="0"/>
          </a:p>
        </p:txBody>
      </p:sp>
    </p:spTree>
    <p:extLst>
      <p:ext uri="{BB962C8B-B14F-4D97-AF65-F5344CB8AC3E}">
        <p14:creationId xmlns:p14="http://schemas.microsoft.com/office/powerpoint/2010/main" val="9275348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Ondupet · Próximos pasos</a:t>
            </a:r>
          </a:p>
        </p:txBody>
      </p:sp>
      <p:sp>
        <p:nvSpPr>
          <p:cNvPr id="3" name="Shape 3"/>
          <p:cNvSpPr/>
          <p:nvPr/>
        </p:nvSpPr>
        <p:spPr>
          <a:xfrm>
            <a:off x="7360920" y="3108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4 DESARROLLOS</a:t>
            </a:r>
            <a:endParaRPr lang="es-ES" sz="850" dirty="0"/>
          </a:p>
        </p:txBody>
      </p:sp>
      <p:sp>
        <p:nvSpPr>
          <p:cNvPr id="4" name="Shape 4"/>
          <p:cNvSpPr/>
          <p:nvPr/>
        </p:nvSpPr>
        <p:spPr>
          <a:xfrm>
            <a:off x="548640" y="1325880"/>
            <a:ext cx="2601468" cy="2788920"/>
          </a:xfrm>
          <a:prstGeom prst="roundRect">
            <a:avLst>
              <a:gd name="adj" fmla="val 2811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" name="Shape 5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6" name="Icono 6" descr="Icono scal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91640"/>
            <a:ext cx="274320" cy="274320"/>
          </a:xfrm>
          <a:prstGeom prst="rect">
            <a:avLst/>
          </a:prstGeom>
        </p:spPr>
      </p:pic>
      <p:sp>
        <p:nvSpPr>
          <p:cNvPr id="7" name="Shape 7"/>
          <p:cNvSpPr/>
          <p:nvPr/>
        </p:nvSpPr>
        <p:spPr>
          <a:xfrm>
            <a:off x="1869948" y="16733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CONTROL</a:t>
            </a:r>
            <a:endParaRPr lang="es-ES" sz="750" dirty="0"/>
          </a:p>
        </p:txBody>
      </p:sp>
      <p:sp>
        <p:nvSpPr>
          <p:cNvPr id="8" name="Shape 8"/>
          <p:cNvSpPr txBox="1"/>
          <p:nvPr/>
        </p:nvSpPr>
        <p:spPr>
          <a:xfrm>
            <a:off x="777240" y="2240280"/>
            <a:ext cx="21442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Balance de masas</a:t>
            </a:r>
            <a:endParaRPr lang="es-ES" sz="1350" dirty="0"/>
          </a:p>
        </p:txBody>
      </p:sp>
      <p:sp>
        <p:nvSpPr>
          <p:cNvPr id="9" name="Shape 9"/>
          <p:cNvSpPr txBox="1"/>
          <p:nvPr/>
        </p:nvSpPr>
        <p:spPr>
          <a:xfrm>
            <a:off x="777240" y="265176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10" name="Shape 10"/>
          <p:cNvSpPr txBox="1"/>
          <p:nvPr/>
        </p:nvSpPr>
        <p:spPr>
          <a:xfrm>
            <a:off x="777240" y="286207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Consumo real frente a teórico, por pedido.</a:t>
            </a:r>
            <a:endParaRPr lang="es-ES" sz="950" dirty="0"/>
          </a:p>
        </p:txBody>
      </p:sp>
      <p:sp>
        <p:nvSpPr>
          <p:cNvPr id="11" name="Shape 11"/>
          <p:cNvSpPr txBox="1"/>
          <p:nvPr/>
        </p:nvSpPr>
        <p:spPr>
          <a:xfrm>
            <a:off x="777240" y="33832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12" name="Shape 12"/>
          <p:cNvSpPr txBox="1"/>
          <p:nvPr/>
        </p:nvSpPr>
        <p:spPr>
          <a:xfrm>
            <a:off x="777240" y="359359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Detectar desviaciones y errores que descuadran el stock.</a:t>
            </a:r>
            <a:endParaRPr lang="es-ES" sz="950" dirty="0"/>
          </a:p>
        </p:txBody>
      </p:sp>
      <p:sp>
        <p:nvSpPr>
          <p:cNvPr id="13" name="Shape 13"/>
          <p:cNvSpPr/>
          <p:nvPr/>
        </p:nvSpPr>
        <p:spPr>
          <a:xfrm>
            <a:off x="3378708" y="1325880"/>
            <a:ext cx="2601468" cy="2788920"/>
          </a:xfrm>
          <a:prstGeom prst="roundRect">
            <a:avLst>
              <a:gd name="adj" fmla="val 2811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4" name="Shape 14"/>
          <p:cNvSpPr/>
          <p:nvPr/>
        </p:nvSpPr>
        <p:spPr>
          <a:xfrm>
            <a:off x="3607308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15" name="Icono 15" descr="Icono hourglas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4468" y="1691640"/>
            <a:ext cx="274320" cy="274320"/>
          </a:xfrm>
          <a:prstGeom prst="rect">
            <a:avLst/>
          </a:prstGeom>
        </p:spPr>
      </p:pic>
      <p:sp>
        <p:nvSpPr>
          <p:cNvPr id="16" name="Shape 16"/>
          <p:cNvSpPr/>
          <p:nvPr/>
        </p:nvSpPr>
        <p:spPr>
          <a:xfrm>
            <a:off x="4700016" y="16733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ENTREGA</a:t>
            </a:r>
            <a:endParaRPr lang="es-ES" sz="750" dirty="0"/>
          </a:p>
        </p:txBody>
      </p:sp>
      <p:sp>
        <p:nvSpPr>
          <p:cNvPr id="17" name="Shape 17"/>
          <p:cNvSpPr txBox="1"/>
          <p:nvPr/>
        </p:nvSpPr>
        <p:spPr>
          <a:xfrm>
            <a:off x="3607308" y="2240280"/>
            <a:ext cx="21442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Atraso de pedidos</a:t>
            </a:r>
            <a:endParaRPr lang="es-ES" sz="1350" dirty="0"/>
          </a:p>
        </p:txBody>
      </p:sp>
      <p:sp>
        <p:nvSpPr>
          <p:cNvPr id="18" name="Shape 18"/>
          <p:cNvSpPr txBox="1"/>
          <p:nvPr/>
        </p:nvSpPr>
        <p:spPr>
          <a:xfrm>
            <a:off x="3607308" y="265176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19" name="Shape 19"/>
          <p:cNvSpPr txBox="1"/>
          <p:nvPr/>
        </p:nvSpPr>
        <p:spPr>
          <a:xfrm>
            <a:off x="3607308" y="286207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Fecha de disponibilidad para cada pedido según lo planificado.</a:t>
            </a:r>
            <a:endParaRPr lang="es-ES" sz="950" dirty="0"/>
          </a:p>
        </p:txBody>
      </p:sp>
      <p:sp>
        <p:nvSpPr>
          <p:cNvPr id="20" name="Shape 20"/>
          <p:cNvSpPr txBox="1"/>
          <p:nvPr/>
        </p:nvSpPr>
        <p:spPr>
          <a:xfrm>
            <a:off x="3607308" y="33832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21" name="Shape 21"/>
          <p:cNvSpPr txBox="1"/>
          <p:nvPr/>
        </p:nvSpPr>
        <p:spPr>
          <a:xfrm>
            <a:off x="3607308" y="359359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Anticipar retrasos y avisar al cliente antes de que ocurran.</a:t>
            </a:r>
            <a:endParaRPr lang="es-ES" sz="950" dirty="0"/>
          </a:p>
        </p:txBody>
      </p:sp>
      <p:sp>
        <p:nvSpPr>
          <p:cNvPr id="22" name="Shape 22"/>
          <p:cNvSpPr/>
          <p:nvPr/>
        </p:nvSpPr>
        <p:spPr>
          <a:xfrm>
            <a:off x="6208776" y="1325880"/>
            <a:ext cx="2601468" cy="2788920"/>
          </a:xfrm>
          <a:prstGeom prst="roundRect">
            <a:avLst>
              <a:gd name="adj" fmla="val 2811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3" name="Shape 23"/>
          <p:cNvSpPr/>
          <p:nvPr/>
        </p:nvSpPr>
        <p:spPr>
          <a:xfrm>
            <a:off x="6437376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24" name="Icono 24" descr="Icono loc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4536" y="1691640"/>
            <a:ext cx="274320" cy="274320"/>
          </a:xfrm>
          <a:prstGeom prst="rect">
            <a:avLst/>
          </a:prstGeom>
        </p:spPr>
      </p:pic>
      <p:sp>
        <p:nvSpPr>
          <p:cNvPr id="25" name="Shape 25"/>
          <p:cNvSpPr/>
          <p:nvPr/>
        </p:nvSpPr>
        <p:spPr>
          <a:xfrm>
            <a:off x="7530084" y="16733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ENTREGA</a:t>
            </a:r>
            <a:endParaRPr lang="es-ES" sz="750" dirty="0"/>
          </a:p>
        </p:txBody>
      </p:sp>
      <p:sp>
        <p:nvSpPr>
          <p:cNvPr id="26" name="Shape 26"/>
          <p:cNvSpPr txBox="1"/>
          <p:nvPr/>
        </p:nvSpPr>
        <p:spPr>
          <a:xfrm>
            <a:off x="6437376" y="2240280"/>
            <a:ext cx="21442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Sistema de reservas</a:t>
            </a:r>
            <a:endParaRPr lang="es-ES" sz="1350" dirty="0"/>
          </a:p>
        </p:txBody>
      </p:sp>
      <p:sp>
        <p:nvSpPr>
          <p:cNvPr id="27" name="Shape 27"/>
          <p:cNvSpPr txBox="1"/>
          <p:nvPr/>
        </p:nvSpPr>
        <p:spPr>
          <a:xfrm>
            <a:off x="6437376" y="265176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28" name="Shape 28"/>
          <p:cNvSpPr txBox="1"/>
          <p:nvPr/>
        </p:nvSpPr>
        <p:spPr>
          <a:xfrm>
            <a:off x="6437376" y="286207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Stock asignado a cada pedido por fechas, con ajuste manual.</a:t>
            </a:r>
            <a:endParaRPr lang="es-ES" sz="950" dirty="0"/>
          </a:p>
        </p:txBody>
      </p:sp>
      <p:sp>
        <p:nvSpPr>
          <p:cNvPr id="29" name="Shape 29"/>
          <p:cNvSpPr txBox="1"/>
          <p:nvPr/>
        </p:nvSpPr>
        <p:spPr>
          <a:xfrm>
            <a:off x="6437376" y="33832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30" name="Shape 30"/>
          <p:cNvSpPr txBox="1"/>
          <p:nvPr/>
        </p:nvSpPr>
        <p:spPr>
          <a:xfrm>
            <a:off x="6437376" y="359359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Saber qué stock está comprometido y con qué pedido.</a:t>
            </a:r>
            <a:endParaRPr lang="es-ES" sz="950" dirty="0"/>
          </a:p>
        </p:txBody>
      </p:sp>
      <p:sp>
        <p:nvSpPr>
          <p:cNvPr id="31" name="Shape 31"/>
          <p:cNvSpPr/>
          <p:nvPr/>
        </p:nvSpPr>
        <p:spPr>
          <a:xfrm>
            <a:off x="9038844" y="1325880"/>
            <a:ext cx="2601468" cy="2788920"/>
          </a:xfrm>
          <a:prstGeom prst="roundRect">
            <a:avLst>
              <a:gd name="adj" fmla="val 2811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2" name="Shape 32"/>
          <p:cNvSpPr/>
          <p:nvPr/>
        </p:nvSpPr>
        <p:spPr>
          <a:xfrm>
            <a:off x="9267444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33" name="Icono 33" descr="Icono gaug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4604" y="1691640"/>
            <a:ext cx="274320" cy="274320"/>
          </a:xfrm>
          <a:prstGeom prst="rect">
            <a:avLst/>
          </a:prstGeom>
        </p:spPr>
      </p:pic>
      <p:sp>
        <p:nvSpPr>
          <p:cNvPr id="34" name="Shape 34"/>
          <p:cNvSpPr/>
          <p:nvPr/>
        </p:nvSpPr>
        <p:spPr>
          <a:xfrm>
            <a:off x="10360152" y="1673352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CAPACIDAD</a:t>
            </a:r>
            <a:endParaRPr lang="es-ES" sz="750" dirty="0"/>
          </a:p>
        </p:txBody>
      </p:sp>
      <p:sp>
        <p:nvSpPr>
          <p:cNvPr id="35" name="Shape 35"/>
          <p:cNvSpPr txBox="1"/>
          <p:nvPr/>
        </p:nvSpPr>
        <p:spPr>
          <a:xfrm>
            <a:off x="9267444" y="2240280"/>
            <a:ext cx="21442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Carga de capacidad</a:t>
            </a:r>
            <a:endParaRPr lang="es-ES" sz="1350" dirty="0"/>
          </a:p>
        </p:txBody>
      </p:sp>
      <p:sp>
        <p:nvSpPr>
          <p:cNvPr id="36" name="Shape 36"/>
          <p:cNvSpPr txBox="1"/>
          <p:nvPr/>
        </p:nvSpPr>
        <p:spPr>
          <a:xfrm>
            <a:off x="9267444" y="265176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37" name="Shape 37"/>
          <p:cNvSpPr txBox="1"/>
          <p:nvPr/>
        </p:nvSpPr>
        <p:spPr>
          <a:xfrm>
            <a:off x="9267444" y="286207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% de saturación por línea según previsión y órdenes lanzadas.</a:t>
            </a:r>
            <a:endParaRPr lang="es-ES" sz="950" dirty="0"/>
          </a:p>
        </p:txBody>
      </p:sp>
      <p:sp>
        <p:nvSpPr>
          <p:cNvPr id="38" name="Shape 38"/>
          <p:cNvSpPr txBox="1"/>
          <p:nvPr/>
        </p:nvSpPr>
        <p:spPr>
          <a:xfrm>
            <a:off x="9267444" y="3383280"/>
            <a:ext cx="2144268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39" name="Shape 39"/>
          <p:cNvSpPr txBox="1"/>
          <p:nvPr/>
        </p:nvSpPr>
        <p:spPr>
          <a:xfrm>
            <a:off x="9267444" y="3593592"/>
            <a:ext cx="2144268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Detectar cuellos de botella y equilibrar líneas con antelación.</a:t>
            </a:r>
            <a:endParaRPr lang="es-ES" sz="950" dirty="0"/>
          </a:p>
        </p:txBody>
      </p:sp>
      <p:sp>
        <p:nvSpPr>
          <p:cNvPr id="40" name="Shape 40"/>
          <p:cNvSpPr/>
          <p:nvPr/>
        </p:nvSpPr>
        <p:spPr>
          <a:xfrm>
            <a:off x="548640" y="4343400"/>
            <a:ext cx="11091672" cy="1234440"/>
          </a:xfrm>
          <a:prstGeom prst="roundRect">
            <a:avLst>
              <a:gd name="adj" fmla="val 5925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1" name="Shape 41"/>
          <p:cNvSpPr txBox="1"/>
          <p:nvPr/>
        </p:nvSpPr>
        <p:spPr>
          <a:xfrm>
            <a:off x="2743200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Dato maestro</a:t>
            </a:r>
            <a:endParaRPr lang="es-ES" sz="750" dirty="0"/>
          </a:p>
        </p:txBody>
      </p:sp>
      <p:sp>
        <p:nvSpPr>
          <p:cNvPr id="42" name="Shape 42"/>
          <p:cNvSpPr txBox="1"/>
          <p:nvPr/>
        </p:nvSpPr>
        <p:spPr>
          <a:xfrm>
            <a:off x="3613023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Demanda</a:t>
            </a:r>
            <a:endParaRPr lang="es-ES" sz="750" dirty="0"/>
          </a:p>
        </p:txBody>
      </p:sp>
      <p:sp>
        <p:nvSpPr>
          <p:cNvPr id="43" name="Shape 43"/>
          <p:cNvSpPr txBox="1"/>
          <p:nvPr/>
        </p:nvSpPr>
        <p:spPr>
          <a:xfrm>
            <a:off x="4482846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Cartera</a:t>
            </a:r>
            <a:endParaRPr lang="es-ES" sz="750" dirty="0"/>
          </a:p>
        </p:txBody>
      </p:sp>
      <p:sp>
        <p:nvSpPr>
          <p:cNvPr id="44" name="Shape 44"/>
          <p:cNvSpPr txBox="1"/>
          <p:nvPr/>
        </p:nvSpPr>
        <p:spPr>
          <a:xfrm>
            <a:off x="5352669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Necesidades</a:t>
            </a:r>
            <a:endParaRPr lang="es-ES" sz="750" dirty="0"/>
          </a:p>
        </p:txBody>
      </p:sp>
      <p:sp>
        <p:nvSpPr>
          <p:cNvPr id="45" name="Shape 45"/>
          <p:cNvSpPr txBox="1"/>
          <p:nvPr/>
        </p:nvSpPr>
        <p:spPr>
          <a:xfrm>
            <a:off x="6222492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Capacidad</a:t>
            </a:r>
            <a:endParaRPr lang="es-ES" sz="750" dirty="0"/>
          </a:p>
        </p:txBody>
      </p:sp>
      <p:sp>
        <p:nvSpPr>
          <p:cNvPr id="46" name="Shape 46"/>
          <p:cNvSpPr txBox="1"/>
          <p:nvPr/>
        </p:nvSpPr>
        <p:spPr>
          <a:xfrm>
            <a:off x="7092315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Programación</a:t>
            </a:r>
            <a:endParaRPr lang="es-ES" sz="750" dirty="0"/>
          </a:p>
        </p:txBody>
      </p:sp>
      <p:sp>
        <p:nvSpPr>
          <p:cNvPr id="47" name="Shape 47"/>
          <p:cNvSpPr txBox="1"/>
          <p:nvPr/>
        </p:nvSpPr>
        <p:spPr>
          <a:xfrm>
            <a:off x="7962138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Entrega</a:t>
            </a:r>
            <a:endParaRPr lang="es-ES" sz="750" dirty="0"/>
          </a:p>
        </p:txBody>
      </p:sp>
      <p:sp>
        <p:nvSpPr>
          <p:cNvPr id="48" name="Shape 48"/>
          <p:cNvSpPr txBox="1"/>
          <p:nvPr/>
        </p:nvSpPr>
        <p:spPr>
          <a:xfrm>
            <a:off x="8831961" y="4453128"/>
            <a:ext cx="906399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dirty="0">
                <a:solidFill>
                  <a:srgbClr val="244C5A"/>
                </a:solidFill>
                <a:latin typeface="Montserrat"/>
                <a:cs typeface="Montserrat"/>
              </a:rPr>
              <a:t>Control</a:t>
            </a:r>
            <a:endParaRPr lang="es-ES" sz="750" dirty="0"/>
          </a:p>
        </p:txBody>
      </p:sp>
      <p:sp>
        <p:nvSpPr>
          <p:cNvPr id="49" name="Shape 49"/>
          <p:cNvSpPr txBox="1"/>
          <p:nvPr/>
        </p:nvSpPr>
        <p:spPr>
          <a:xfrm>
            <a:off x="822960" y="4690872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00263A"/>
                </a:solidFill>
                <a:latin typeface="Montserrat"/>
                <a:cs typeface="Montserrat"/>
              </a:rPr>
              <a:t>Hoy</a:t>
            </a:r>
            <a:endParaRPr lang="es-ES" sz="1000" dirty="0"/>
          </a:p>
        </p:txBody>
      </p:sp>
      <p:sp>
        <p:nvSpPr>
          <p:cNvPr id="50" name="Shape 50"/>
          <p:cNvSpPr/>
          <p:nvPr/>
        </p:nvSpPr>
        <p:spPr>
          <a:xfrm>
            <a:off x="2788920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1" name="Shape 51"/>
          <p:cNvSpPr/>
          <p:nvPr/>
        </p:nvSpPr>
        <p:spPr>
          <a:xfrm>
            <a:off x="3658743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2" name="Shape 52"/>
          <p:cNvSpPr/>
          <p:nvPr/>
        </p:nvSpPr>
        <p:spPr>
          <a:xfrm>
            <a:off x="4528566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3" name="Shape 53"/>
          <p:cNvSpPr/>
          <p:nvPr/>
        </p:nvSpPr>
        <p:spPr>
          <a:xfrm>
            <a:off x="5398389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4" name="Shape 54"/>
          <p:cNvSpPr/>
          <p:nvPr/>
        </p:nvSpPr>
        <p:spPr>
          <a:xfrm>
            <a:off x="6268212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5875">
            <a:solidFill>
              <a:srgbClr val="98C9EB"/>
            </a:solidFill>
            <a:prstDash val="dash"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5" name="Shape 55"/>
          <p:cNvSpPr/>
          <p:nvPr/>
        </p:nvSpPr>
        <p:spPr>
          <a:xfrm>
            <a:off x="7138035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6" name="Shape 56"/>
          <p:cNvSpPr/>
          <p:nvPr/>
        </p:nvSpPr>
        <p:spPr>
          <a:xfrm>
            <a:off x="8007858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7" name="Shape 57"/>
          <p:cNvSpPr/>
          <p:nvPr/>
        </p:nvSpPr>
        <p:spPr>
          <a:xfrm>
            <a:off x="8877681" y="472744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FFFFFF"/>
          </a:solidFill>
          <a:ln w="15875">
            <a:solidFill>
              <a:srgbClr val="98C9EB"/>
            </a:solidFill>
            <a:prstDash val="dash"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8" name="Shape 58"/>
          <p:cNvSpPr txBox="1"/>
          <p:nvPr/>
        </p:nvSpPr>
        <p:spPr>
          <a:xfrm>
            <a:off x="9875520" y="4690872"/>
            <a:ext cx="1581912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244C5A"/>
                </a:solidFill>
                <a:latin typeface="Montserrat"/>
                <a:cs typeface="Montserrat"/>
              </a:rPr>
              <a:t>5 de 8  ·  1 parcial</a:t>
            </a:r>
            <a:endParaRPr lang="es-ES" sz="1000" dirty="0"/>
          </a:p>
        </p:txBody>
      </p:sp>
      <p:sp>
        <p:nvSpPr>
          <p:cNvPr id="59" name="Shape 59"/>
          <p:cNvSpPr txBox="1"/>
          <p:nvPr/>
        </p:nvSpPr>
        <p:spPr>
          <a:xfrm>
            <a:off x="822960" y="5102352"/>
            <a:ext cx="192024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00263A"/>
                </a:solidFill>
                <a:latin typeface="Montserrat"/>
                <a:cs typeface="Montserrat"/>
              </a:rPr>
              <a:t>Con los próximos pasos</a:t>
            </a:r>
            <a:endParaRPr lang="es-ES" sz="1000" dirty="0"/>
          </a:p>
        </p:txBody>
      </p:sp>
      <p:sp>
        <p:nvSpPr>
          <p:cNvPr id="60" name="Shape 60"/>
          <p:cNvSpPr/>
          <p:nvPr/>
        </p:nvSpPr>
        <p:spPr>
          <a:xfrm>
            <a:off x="2788920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1" name="Shape 61"/>
          <p:cNvSpPr/>
          <p:nvPr/>
        </p:nvSpPr>
        <p:spPr>
          <a:xfrm>
            <a:off x="3658743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2" name="Shape 62"/>
          <p:cNvSpPr/>
          <p:nvPr/>
        </p:nvSpPr>
        <p:spPr>
          <a:xfrm>
            <a:off x="4528566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3" name="Shape 63"/>
          <p:cNvSpPr/>
          <p:nvPr/>
        </p:nvSpPr>
        <p:spPr>
          <a:xfrm>
            <a:off x="5398389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4" name="Shape 64"/>
          <p:cNvSpPr/>
          <p:nvPr/>
        </p:nvSpPr>
        <p:spPr>
          <a:xfrm>
            <a:off x="6268212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5" name="Shape 65"/>
          <p:cNvSpPr/>
          <p:nvPr/>
        </p:nvSpPr>
        <p:spPr>
          <a:xfrm>
            <a:off x="7138035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6" name="Shape 66"/>
          <p:cNvSpPr/>
          <p:nvPr/>
        </p:nvSpPr>
        <p:spPr>
          <a:xfrm>
            <a:off x="8007858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7" name="Shape 67"/>
          <p:cNvSpPr/>
          <p:nvPr/>
        </p:nvSpPr>
        <p:spPr>
          <a:xfrm>
            <a:off x="8877681" y="5138928"/>
            <a:ext cx="814959" cy="274320"/>
          </a:xfrm>
          <a:prstGeom prst="roundRect">
            <a:avLst>
              <a:gd name="adj" fmla="val 16666"/>
            </a:avLst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68" name="Shape 68"/>
          <p:cNvSpPr txBox="1"/>
          <p:nvPr/>
        </p:nvSpPr>
        <p:spPr>
          <a:xfrm>
            <a:off x="9875520" y="5102352"/>
            <a:ext cx="1581912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00" b="1" i="0" dirty="0">
                <a:solidFill>
                  <a:srgbClr val="244C5A"/>
                </a:solidFill>
                <a:latin typeface="Montserrat"/>
                <a:cs typeface="Montserrat"/>
              </a:rPr>
              <a:t>8 de 8  ·  ciclo completo</a:t>
            </a:r>
            <a:endParaRPr lang="es-ES" sz="1000" dirty="0"/>
          </a:p>
        </p:txBody>
      </p:sp>
      <p:sp>
        <p:nvSpPr>
          <p:cNvPr id="69" name="Shape 69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12</a:t>
            </a:r>
            <a:endParaRPr lang="es-E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>
          <a:xfrm>
            <a:off x="548640" y="146304"/>
            <a:ext cx="6766560" cy="731520"/>
          </a:xfrm>
        </p:spPr>
        <p:txBody>
          <a:bodyPr wrap="square" anchor="ctr"/>
          <a:lstStyle/>
          <a:p>
            <a:pPr algn="l">
              <a:lnSpc>
                <a:spcPct val="105000"/>
              </a:lnSpc>
              <a:buNone/>
            </a:pPr>
            <a:r>
              <a:rPr lang="es-ES" sz="2300" b="1" i="0" dirty="0">
                <a:solidFill>
                  <a:srgbClr val="FFFFFF"/>
                </a:solidFill>
                <a:latin typeface="Montserrat"/>
              </a:rPr>
              <a:t>Anexo · Proyectos 2027</a:t>
            </a:r>
          </a:p>
        </p:txBody>
      </p:sp>
      <p:sp>
        <p:nvSpPr>
          <p:cNvPr id="3" name="Shape 3"/>
          <p:cNvSpPr/>
          <p:nvPr/>
        </p:nvSpPr>
        <p:spPr>
          <a:xfrm>
            <a:off x="7360920" y="310896"/>
            <a:ext cx="2240280" cy="329184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850" b="1" i="0" spc="40" dirty="0">
                <a:solidFill>
                  <a:srgbClr val="00263A"/>
                </a:solidFill>
                <a:latin typeface="Montserrat"/>
                <a:cs typeface="Montserrat"/>
              </a:rPr>
              <a:t>POR VALIDAR CON NEGOCIO</a:t>
            </a:r>
            <a:endParaRPr lang="es-ES" sz="850" dirty="0"/>
          </a:p>
        </p:txBody>
      </p:sp>
      <p:sp>
        <p:nvSpPr>
          <p:cNvPr id="4" name="Shape 4"/>
          <p:cNvSpPr/>
          <p:nvPr/>
        </p:nvSpPr>
        <p:spPr>
          <a:xfrm>
            <a:off x="548640" y="1325880"/>
            <a:ext cx="3544824" cy="2926080"/>
          </a:xfrm>
          <a:prstGeom prst="roundRect">
            <a:avLst>
              <a:gd name="adj" fmla="val 250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5" name="Shape 5"/>
          <p:cNvSpPr/>
          <p:nvPr/>
        </p:nvSpPr>
        <p:spPr>
          <a:xfrm>
            <a:off x="777240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6" name="Icono 6" descr="Icono glob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691640"/>
            <a:ext cx="274320" cy="274320"/>
          </a:xfrm>
          <a:prstGeom prst="rect">
            <a:avLst/>
          </a:prstGeom>
        </p:spPr>
      </p:pic>
      <p:sp>
        <p:nvSpPr>
          <p:cNvPr id="7" name="Shape 7"/>
          <p:cNvSpPr/>
          <p:nvPr/>
        </p:nvSpPr>
        <p:spPr>
          <a:xfrm>
            <a:off x="2767584" y="169164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ONDUPACK</a:t>
            </a:r>
            <a:endParaRPr lang="es-ES" sz="750" dirty="0"/>
          </a:p>
        </p:txBody>
      </p:sp>
      <p:sp>
        <p:nvSpPr>
          <p:cNvPr id="8" name="Shape 8"/>
          <p:cNvSpPr/>
          <p:nvPr/>
        </p:nvSpPr>
        <p:spPr>
          <a:xfrm>
            <a:off x="1578864" y="169164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ONDUPET</a:t>
            </a:r>
            <a:endParaRPr lang="es-ES" sz="750" dirty="0"/>
          </a:p>
        </p:txBody>
      </p:sp>
      <p:sp>
        <p:nvSpPr>
          <p:cNvPr id="9" name="Shape 9"/>
          <p:cNvSpPr txBox="1"/>
          <p:nvPr/>
        </p:nvSpPr>
        <p:spPr>
          <a:xfrm>
            <a:off x="777240" y="2240280"/>
            <a:ext cx="308762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Migración a aplicación web</a:t>
            </a:r>
            <a:endParaRPr lang="es-ES" sz="1350" dirty="0"/>
          </a:p>
        </p:txBody>
      </p:sp>
      <p:sp>
        <p:nvSpPr>
          <p:cNvPr id="10" name="Shape 10"/>
          <p:cNvSpPr txBox="1"/>
          <p:nvPr/>
        </p:nvSpPr>
        <p:spPr>
          <a:xfrm>
            <a:off x="777240" y="2651760"/>
            <a:ext cx="308762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11" name="Shape 11"/>
          <p:cNvSpPr txBox="1"/>
          <p:nvPr/>
        </p:nvSpPr>
        <p:spPr>
          <a:xfrm>
            <a:off x="777240" y="2862072"/>
            <a:ext cx="308762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Pasar las pantallas de planificación de la aplicación de escritorio a una aplicación web.</a:t>
            </a:r>
            <a:endParaRPr lang="es-ES" sz="950" dirty="0"/>
          </a:p>
        </p:txBody>
      </p:sp>
      <p:sp>
        <p:nvSpPr>
          <p:cNvPr id="12" name="Shape 12"/>
          <p:cNvSpPr txBox="1"/>
          <p:nvPr/>
        </p:nvSpPr>
        <p:spPr>
          <a:xfrm>
            <a:off x="777240" y="3337560"/>
            <a:ext cx="308762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13" name="Shape 13"/>
          <p:cNvSpPr txBox="1"/>
          <p:nvPr/>
        </p:nvSpPr>
        <p:spPr>
          <a:xfrm>
            <a:off x="777240" y="3538728"/>
            <a:ext cx="3087624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Acceso desde el navegador, despliegue más sencillo, base común para las plantas, bases de datos separadas y mayor velocidad.</a:t>
            </a:r>
            <a:endParaRPr lang="es-ES" sz="950" dirty="0"/>
          </a:p>
        </p:txBody>
      </p:sp>
      <p:sp>
        <p:nvSpPr>
          <p:cNvPr id="14" name="Shape 14"/>
          <p:cNvSpPr/>
          <p:nvPr/>
        </p:nvSpPr>
        <p:spPr>
          <a:xfrm>
            <a:off x="4322064" y="1325880"/>
            <a:ext cx="3544824" cy="2926080"/>
          </a:xfrm>
          <a:prstGeom prst="roundRect">
            <a:avLst>
              <a:gd name="adj" fmla="val 250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15" name="Shape 15"/>
          <p:cNvSpPr/>
          <p:nvPr/>
        </p:nvSpPr>
        <p:spPr>
          <a:xfrm>
            <a:off x="4550664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16" name="Icono 16" descr="Icono puzzl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87824" y="1691640"/>
            <a:ext cx="274320" cy="274320"/>
          </a:xfrm>
          <a:prstGeom prst="rect">
            <a:avLst/>
          </a:prstGeom>
        </p:spPr>
      </p:pic>
      <p:sp>
        <p:nvSpPr>
          <p:cNvPr id="17" name="Shape 17"/>
          <p:cNvSpPr/>
          <p:nvPr/>
        </p:nvSpPr>
        <p:spPr>
          <a:xfrm>
            <a:off x="6541008" y="169164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ONDUPACK</a:t>
            </a:r>
            <a:endParaRPr lang="es-ES" sz="750" dirty="0"/>
          </a:p>
        </p:txBody>
      </p:sp>
      <p:sp>
        <p:nvSpPr>
          <p:cNvPr id="18" name="Shape 18"/>
          <p:cNvSpPr txBox="1"/>
          <p:nvPr/>
        </p:nvSpPr>
        <p:spPr>
          <a:xfrm>
            <a:off x="4550664" y="2240280"/>
            <a:ext cx="308762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Algoritmo de combinación</a:t>
            </a:r>
            <a:endParaRPr lang="es-ES" sz="1350" dirty="0"/>
          </a:p>
        </p:txBody>
      </p:sp>
      <p:sp>
        <p:nvSpPr>
          <p:cNvPr id="19" name="Shape 19"/>
          <p:cNvSpPr txBox="1"/>
          <p:nvPr/>
        </p:nvSpPr>
        <p:spPr>
          <a:xfrm>
            <a:off x="4550664" y="2651760"/>
            <a:ext cx="308762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20" name="Shape 20"/>
          <p:cNvSpPr txBox="1"/>
          <p:nvPr/>
        </p:nvSpPr>
        <p:spPr>
          <a:xfrm>
            <a:off x="4550664" y="2862072"/>
            <a:ext cx="308762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Combinación automática de pedidos que mejora la planificación sin intervención manual.</a:t>
            </a:r>
            <a:endParaRPr lang="es-ES" sz="950" dirty="0"/>
          </a:p>
        </p:txBody>
      </p:sp>
      <p:sp>
        <p:nvSpPr>
          <p:cNvPr id="21" name="Shape 21"/>
          <p:cNvSpPr txBox="1"/>
          <p:nvPr/>
        </p:nvSpPr>
        <p:spPr>
          <a:xfrm>
            <a:off x="4550664" y="3337560"/>
            <a:ext cx="308762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22" name="Shape 22"/>
          <p:cNvSpPr txBox="1"/>
          <p:nvPr/>
        </p:nvSpPr>
        <p:spPr>
          <a:xfrm>
            <a:off x="4550664" y="3538728"/>
            <a:ext cx="3087624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Mejores combinaciones en menos tiempo y menos trabajo manual en Combiplan.</a:t>
            </a:r>
            <a:endParaRPr lang="es-ES" sz="950" dirty="0"/>
          </a:p>
        </p:txBody>
      </p:sp>
      <p:sp>
        <p:nvSpPr>
          <p:cNvPr id="23" name="Shape 23"/>
          <p:cNvSpPr/>
          <p:nvPr/>
        </p:nvSpPr>
        <p:spPr>
          <a:xfrm>
            <a:off x="8095488" y="1325880"/>
            <a:ext cx="3544824" cy="2926080"/>
          </a:xfrm>
          <a:prstGeom prst="roundRect">
            <a:avLst>
              <a:gd name="adj" fmla="val 2500"/>
            </a:avLst>
          </a:prstGeom>
          <a:solidFill>
            <a:srgbClr val="F5F7F8"/>
          </a:solidFill>
          <a:ln w="9525">
            <a:solidFill>
              <a:srgbClr val="D7DFE5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24" name="Shape 24"/>
          <p:cNvSpPr/>
          <p:nvPr/>
        </p:nvSpPr>
        <p:spPr>
          <a:xfrm>
            <a:off x="8324088" y="1554480"/>
            <a:ext cx="548640" cy="548640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25" name="Icono 25" descr="Icono usersclock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61248" y="1691640"/>
            <a:ext cx="274320" cy="274320"/>
          </a:xfrm>
          <a:prstGeom prst="rect">
            <a:avLst/>
          </a:prstGeom>
        </p:spPr>
      </p:pic>
      <p:sp>
        <p:nvSpPr>
          <p:cNvPr id="26" name="Shape 26"/>
          <p:cNvSpPr/>
          <p:nvPr/>
        </p:nvSpPr>
        <p:spPr>
          <a:xfrm>
            <a:off x="10314432" y="1691640"/>
            <a:ext cx="1097280" cy="274320"/>
          </a:xfrm>
          <a:prstGeom prst="roundRect">
            <a:avLst>
              <a:gd name="adj" fmla="val 50000"/>
            </a:avLst>
          </a:prstGeom>
          <a:solidFill>
            <a:srgbClr val="98C9E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750" b="1" i="0" spc="40" dirty="0">
                <a:solidFill>
                  <a:srgbClr val="00263A"/>
                </a:solidFill>
                <a:latin typeface="Montserrat"/>
                <a:cs typeface="Montserrat"/>
              </a:rPr>
              <a:t>ONDUPET</a:t>
            </a:r>
            <a:endParaRPr lang="es-ES" sz="750" dirty="0"/>
          </a:p>
        </p:txBody>
      </p:sp>
      <p:sp>
        <p:nvSpPr>
          <p:cNvPr id="27" name="Shape 27"/>
          <p:cNvSpPr txBox="1"/>
          <p:nvPr/>
        </p:nvSpPr>
        <p:spPr>
          <a:xfrm>
            <a:off x="8324088" y="2240280"/>
            <a:ext cx="3087624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350" b="1" i="0" dirty="0">
                <a:solidFill>
                  <a:srgbClr val="00263A"/>
                </a:solidFill>
                <a:latin typeface="Montserrat"/>
                <a:cs typeface="Montserrat"/>
              </a:rPr>
              <a:t>PRAE</a:t>
            </a:r>
            <a:endParaRPr lang="es-ES" sz="1350" dirty="0"/>
          </a:p>
        </p:txBody>
      </p:sp>
      <p:sp>
        <p:nvSpPr>
          <p:cNvPr id="28" name="Shape 28"/>
          <p:cNvSpPr txBox="1"/>
          <p:nvPr/>
        </p:nvSpPr>
        <p:spPr>
          <a:xfrm>
            <a:off x="8324088" y="2651760"/>
            <a:ext cx="308762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ES</a:t>
            </a:r>
            <a:endParaRPr lang="es-ES" sz="800" dirty="0"/>
          </a:p>
        </p:txBody>
      </p:sp>
      <p:sp>
        <p:nvSpPr>
          <p:cNvPr id="29" name="Shape 29"/>
          <p:cNvSpPr txBox="1"/>
          <p:nvPr/>
        </p:nvSpPr>
        <p:spPr>
          <a:xfrm>
            <a:off x="8324088" y="2862072"/>
            <a:ext cx="3087624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0" i="0" dirty="0">
                <a:solidFill>
                  <a:srgbClr val="00263A"/>
                </a:solidFill>
                <a:latin typeface="Montserrat"/>
                <a:cs typeface="Montserrat"/>
              </a:rPr>
              <a:t>Asignación de personas, con nombre y apellidos, a turnos y máquinas.</a:t>
            </a:r>
            <a:endParaRPr lang="es-ES" sz="950" dirty="0"/>
          </a:p>
        </p:txBody>
      </p:sp>
      <p:sp>
        <p:nvSpPr>
          <p:cNvPr id="30" name="Shape 30"/>
          <p:cNvSpPr txBox="1"/>
          <p:nvPr/>
        </p:nvSpPr>
        <p:spPr>
          <a:xfrm>
            <a:off x="8324088" y="3337560"/>
            <a:ext cx="3087624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800" b="1" i="0" spc="120" dirty="0">
                <a:solidFill>
                  <a:srgbClr val="244C5A"/>
                </a:solidFill>
                <a:latin typeface="Montserrat"/>
                <a:cs typeface="Montserrat"/>
              </a:rPr>
              <a:t>QUÉ APORTA</a:t>
            </a:r>
            <a:endParaRPr lang="es-ES" sz="800" dirty="0"/>
          </a:p>
        </p:txBody>
      </p:sp>
      <p:sp>
        <p:nvSpPr>
          <p:cNvPr id="31" name="Shape 31"/>
          <p:cNvSpPr txBox="1"/>
          <p:nvPr/>
        </p:nvSpPr>
        <p:spPr>
          <a:xfrm>
            <a:off x="8324088" y="3538728"/>
            <a:ext cx="3087624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es-ES" sz="950" b="1" i="0" dirty="0">
                <a:solidFill>
                  <a:srgbClr val="00263A"/>
                </a:solidFill>
                <a:latin typeface="Montserrat"/>
                <a:cs typeface="Montserrat"/>
              </a:rPr>
              <a:t>Planificar también la mano de obra: quién está en cada turno y en cada máquina.</a:t>
            </a:r>
            <a:endParaRPr lang="es-ES" sz="950" dirty="0"/>
          </a:p>
        </p:txBody>
      </p:sp>
      <p:sp>
        <p:nvSpPr>
          <p:cNvPr id="32" name="Shape 32"/>
          <p:cNvSpPr/>
          <p:nvPr/>
        </p:nvSpPr>
        <p:spPr>
          <a:xfrm>
            <a:off x="548640" y="4434840"/>
            <a:ext cx="11091672" cy="1325880"/>
          </a:xfrm>
          <a:prstGeom prst="roundRect">
            <a:avLst>
              <a:gd name="adj" fmla="val 5517"/>
            </a:avLst>
          </a:prstGeom>
          <a:solidFill>
            <a:srgbClr val="EAF3FA"/>
          </a:solidFill>
          <a:ln w="9525">
            <a:solidFill>
              <a:srgbClr val="98C9EB"/>
            </a:solidFill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33" name="Shape 33"/>
          <p:cNvSpPr txBox="1"/>
          <p:nvPr/>
        </p:nvSpPr>
        <p:spPr>
          <a:xfrm>
            <a:off x="2926080" y="4544568"/>
            <a:ext cx="2813304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244C5A"/>
                </a:solidFill>
                <a:latin typeface="Montserrat"/>
                <a:cs typeface="Montserrat"/>
              </a:rPr>
              <a:t>Migración a aplicación web</a:t>
            </a:r>
            <a:endParaRPr lang="es-ES" sz="900" dirty="0"/>
          </a:p>
        </p:txBody>
      </p:sp>
      <p:sp>
        <p:nvSpPr>
          <p:cNvPr id="34" name="Shape 34"/>
          <p:cNvSpPr txBox="1"/>
          <p:nvPr/>
        </p:nvSpPr>
        <p:spPr>
          <a:xfrm>
            <a:off x="5739384" y="4544568"/>
            <a:ext cx="2813304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244C5A"/>
                </a:solidFill>
                <a:latin typeface="Montserrat"/>
                <a:cs typeface="Montserrat"/>
              </a:rPr>
              <a:t>Algoritmo de combinación</a:t>
            </a:r>
            <a:endParaRPr lang="es-ES" sz="900" dirty="0"/>
          </a:p>
        </p:txBody>
      </p:sp>
      <p:sp>
        <p:nvSpPr>
          <p:cNvPr id="35" name="Shape 35"/>
          <p:cNvSpPr txBox="1"/>
          <p:nvPr/>
        </p:nvSpPr>
        <p:spPr>
          <a:xfrm>
            <a:off x="8552688" y="4544568"/>
            <a:ext cx="2813304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00" b="1" i="0" dirty="0">
                <a:solidFill>
                  <a:srgbClr val="244C5A"/>
                </a:solidFill>
                <a:latin typeface="Montserrat"/>
                <a:cs typeface="Montserrat"/>
              </a:rPr>
              <a:t>PRAE</a:t>
            </a:r>
            <a:endParaRPr lang="es-ES" sz="900" dirty="0"/>
          </a:p>
        </p:txBody>
      </p:sp>
      <p:sp>
        <p:nvSpPr>
          <p:cNvPr id="36" name="Shape 36"/>
          <p:cNvSpPr txBox="1"/>
          <p:nvPr/>
        </p:nvSpPr>
        <p:spPr>
          <a:xfrm>
            <a:off x="822960" y="4818888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50" b="1" i="0" dirty="0">
                <a:solidFill>
                  <a:srgbClr val="00263A"/>
                </a:solidFill>
                <a:latin typeface="Montserrat"/>
                <a:cs typeface="Montserrat"/>
              </a:rPr>
              <a:t>Ondupet</a:t>
            </a:r>
            <a:endParaRPr lang="es-ES" sz="1050" dirty="0"/>
          </a:p>
        </p:txBody>
      </p:sp>
      <p:sp>
        <p:nvSpPr>
          <p:cNvPr id="37" name="Shape 37"/>
          <p:cNvSpPr/>
          <p:nvPr/>
        </p:nvSpPr>
        <p:spPr>
          <a:xfrm>
            <a:off x="4204716" y="4828032"/>
            <a:ext cx="256032" cy="256032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38" name="Icono 38" descr="Icono check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2323" y="4885639"/>
            <a:ext cx="140818" cy="140818"/>
          </a:xfrm>
          <a:prstGeom prst="rect">
            <a:avLst/>
          </a:prstGeom>
        </p:spPr>
      </p:pic>
      <p:sp>
        <p:nvSpPr>
          <p:cNvPr id="39" name="Shape 39"/>
          <p:cNvSpPr/>
          <p:nvPr/>
        </p:nvSpPr>
        <p:spPr>
          <a:xfrm>
            <a:off x="7100316" y="4910328"/>
            <a:ext cx="91440" cy="91440"/>
          </a:xfrm>
          <a:prstGeom prst="ellipse">
            <a:avLst/>
          </a:prstGeom>
          <a:solidFill>
            <a:srgbClr val="D7DF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0" name="Shape 40"/>
          <p:cNvSpPr/>
          <p:nvPr/>
        </p:nvSpPr>
        <p:spPr>
          <a:xfrm>
            <a:off x="9831324" y="4828032"/>
            <a:ext cx="256032" cy="256032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41" name="Icono 41" descr="Icono check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88931" y="4885639"/>
            <a:ext cx="140818" cy="140818"/>
          </a:xfrm>
          <a:prstGeom prst="rect">
            <a:avLst/>
          </a:prstGeom>
        </p:spPr>
      </p:pic>
      <p:sp>
        <p:nvSpPr>
          <p:cNvPr id="42" name="Shape 42"/>
          <p:cNvSpPr txBox="1"/>
          <p:nvPr/>
        </p:nvSpPr>
        <p:spPr>
          <a:xfrm>
            <a:off x="822960" y="5120640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50" b="1" i="0" dirty="0">
                <a:solidFill>
                  <a:srgbClr val="00263A"/>
                </a:solidFill>
                <a:latin typeface="Montserrat"/>
                <a:cs typeface="Montserrat"/>
              </a:rPr>
              <a:t>Ondupack</a:t>
            </a:r>
            <a:endParaRPr lang="es-ES" sz="1050" dirty="0"/>
          </a:p>
        </p:txBody>
      </p:sp>
      <p:sp>
        <p:nvSpPr>
          <p:cNvPr id="43" name="Shape 43"/>
          <p:cNvSpPr/>
          <p:nvPr/>
        </p:nvSpPr>
        <p:spPr>
          <a:xfrm>
            <a:off x="4204716" y="5129784"/>
            <a:ext cx="256032" cy="256032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44" name="Icono 44" descr="Icono check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62323" y="5187391"/>
            <a:ext cx="140818" cy="140818"/>
          </a:xfrm>
          <a:prstGeom prst="rect">
            <a:avLst/>
          </a:prstGeom>
        </p:spPr>
      </p:pic>
      <p:sp>
        <p:nvSpPr>
          <p:cNvPr id="45" name="Shape 45"/>
          <p:cNvSpPr/>
          <p:nvPr/>
        </p:nvSpPr>
        <p:spPr>
          <a:xfrm>
            <a:off x="7018020" y="5129784"/>
            <a:ext cx="256032" cy="256032"/>
          </a:xfrm>
          <a:prstGeom prst="ellipse">
            <a:avLst/>
          </a:prstGeom>
          <a:solidFill>
            <a:srgbClr val="00263A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pic>
        <p:nvPicPr>
          <p:cNvPr id="46" name="Icono 46" descr="Icono check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75627" y="5187391"/>
            <a:ext cx="140818" cy="140818"/>
          </a:xfrm>
          <a:prstGeom prst="rect">
            <a:avLst/>
          </a:prstGeom>
        </p:spPr>
      </p:pic>
      <p:sp>
        <p:nvSpPr>
          <p:cNvPr id="47" name="Shape 47"/>
          <p:cNvSpPr/>
          <p:nvPr/>
        </p:nvSpPr>
        <p:spPr>
          <a:xfrm>
            <a:off x="9913620" y="5212080"/>
            <a:ext cx="91440" cy="91440"/>
          </a:xfrm>
          <a:prstGeom prst="ellipse">
            <a:avLst/>
          </a:prstGeom>
          <a:solidFill>
            <a:srgbClr val="D7DFE5"/>
          </a:solidFill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endParaRPr lang="es-ES" dirty="0"/>
          </a:p>
        </p:txBody>
      </p:sp>
      <p:sp>
        <p:nvSpPr>
          <p:cNvPr id="48" name="Shape 48"/>
          <p:cNvSpPr txBox="1"/>
          <p:nvPr/>
        </p:nvSpPr>
        <p:spPr>
          <a:xfrm>
            <a:off x="822960" y="5422392"/>
            <a:ext cx="21031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es-ES" sz="1050" b="1" i="0" dirty="0">
                <a:solidFill>
                  <a:srgbClr val="00263A"/>
                </a:solidFill>
                <a:latin typeface="Montserrat"/>
                <a:cs typeface="Montserrat"/>
              </a:rPr>
              <a:t>MGT + PDA</a:t>
            </a:r>
            <a:endParaRPr lang="es-ES" sz="1050" dirty="0"/>
          </a:p>
        </p:txBody>
      </p:sp>
      <p:sp>
        <p:nvSpPr>
          <p:cNvPr id="49" name="Shape 49"/>
          <p:cNvSpPr txBox="1"/>
          <p:nvPr/>
        </p:nvSpPr>
        <p:spPr>
          <a:xfrm>
            <a:off x="2926080" y="5422392"/>
            <a:ext cx="843991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es-ES" sz="950" b="1" i="0" dirty="0">
                <a:solidFill>
                  <a:srgbClr val="244C5A"/>
                </a:solidFill>
                <a:latin typeface="Montserrat"/>
                <a:cs typeface="Montserrat"/>
              </a:rPr>
              <a:t>Ya en SIGPA (web)</a:t>
            </a:r>
            <a:r>
              <a:rPr lang="es-ES" sz="950" b="0" i="1" dirty="0">
                <a:solidFill>
                  <a:srgbClr val="244C5A"/>
                </a:solidFill>
                <a:latin typeface="Montserrat"/>
                <a:cs typeface="Montserrat"/>
              </a:rPr>
              <a:t>  ·  algoritmo de combinación en pruebas</a:t>
            </a:r>
            <a:endParaRPr lang="es-ES" sz="950" dirty="0"/>
          </a:p>
        </p:txBody>
      </p:sp>
      <p:sp>
        <p:nvSpPr>
          <p:cNvPr id="50" name="Shape 50"/>
          <p:cNvSpPr txBox="1"/>
          <p:nvPr/>
        </p:nvSpPr>
        <p:spPr>
          <a:xfrm>
            <a:off x="10424160" y="6053328"/>
            <a:ext cx="1216152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ct val="105000"/>
              </a:lnSpc>
              <a:buNone/>
            </a:pPr>
            <a:r>
              <a:rPr lang="es-ES" sz="900" b="0" i="0" dirty="0">
                <a:solidFill>
                  <a:srgbClr val="9AA9B4"/>
                </a:solidFill>
                <a:latin typeface="Montserrat"/>
                <a:cs typeface="Montserrat"/>
              </a:rPr>
              <a:t>13</a:t>
            </a:r>
            <a:endParaRPr lang="es-E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Interfaz de usuario gráfica&#10;&#10;Descripción generada automáticamente">
            <a:extLst>
              <a:ext uri="{FF2B5EF4-FFF2-40B4-BE49-F238E27FC236}">
                <a16:creationId xmlns:a16="http://schemas.microsoft.com/office/drawing/2014/main" id="{1302C4BC-522D-AEDB-38C9-DE461F85C6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2226699"/>
      </p:ext>
    </p:extLst>
  </p:cSld>
  <p:clrMapOvr>
    <a:masterClrMapping/>
  </p:clrMapOvr>
  <p:transition spd="med"/>
</p:sld>
</file>

<file path=ppt/theme/theme1.xml><?xml version="1.0" encoding="utf-8"?>
<a:theme xmlns:a="http://schemas.openxmlformats.org/drawingml/2006/main" name="4_Tema de Office">
  <a:themeElements>
    <a:clrScheme name="Personalizado 3">
      <a:dk1>
        <a:srgbClr val="00263A"/>
      </a:dk1>
      <a:lt1>
        <a:srgbClr val="FFFFFF"/>
      </a:lt1>
      <a:dk2>
        <a:srgbClr val="A7A7A7"/>
      </a:dk2>
      <a:lt2>
        <a:srgbClr val="535353"/>
      </a:lt2>
      <a:accent1>
        <a:srgbClr val="D1DDE6"/>
      </a:accent1>
      <a:accent2>
        <a:srgbClr val="9BCBEB"/>
      </a:accent2>
      <a:accent3>
        <a:srgbClr val="244C5A"/>
      </a:accent3>
      <a:accent4>
        <a:srgbClr val="94B7BB"/>
      </a:accent4>
      <a:accent5>
        <a:srgbClr val="C8D8EB"/>
      </a:accent5>
      <a:accent6>
        <a:srgbClr val="001930"/>
      </a:accent6>
      <a:hlink>
        <a:srgbClr val="244C5A"/>
      </a:hlink>
      <a:folHlink>
        <a:srgbClr val="9BCBEB"/>
      </a:folHlink>
    </a:clrScheme>
    <a:fontScheme name="Tema de Office">
      <a:majorFont>
        <a:latin typeface="Helvetica"/>
        <a:ea typeface="Helvetica"/>
        <a:cs typeface="Helvetica"/>
      </a:majorFont>
      <a:minorFont>
        <a:latin typeface="Montserrat Semi Bold"/>
        <a:ea typeface="Montserrat Semi Bold"/>
        <a:cs typeface="Montserrat Semi Bold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ctr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800" b="0" i="0" u="none" strike="noStrike" cap="none" spc="0" normalizeH="0" baseline="0">
            <a:ln>
              <a:noFill/>
            </a:ln>
            <a:solidFill>
              <a:schemeClr val="accent6"/>
            </a:solidFill>
            <a:effectLst/>
            <a:uFillTx/>
            <a:latin typeface="+mn-lt"/>
            <a:ea typeface="+mn-ea"/>
            <a:cs typeface="+mn-cs"/>
            <a:sym typeface="Montserrat Semi Bold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91439" tIns="45719" rIns="91439" bIns="45719" numCol="1" spcCol="38100" rtlCol="0" anchor="t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1800" b="0" i="0" u="none" strike="noStrike" cap="none" spc="0" normalizeH="0" baseline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8" tIns="45718" rIns="45718" bIns="45718" numCol="1" spcCol="38100" rtlCol="0" anchor="t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kumimoji="0" sz="2800" b="0" i="0" u="none" strike="noStrike" cap="none" spc="0" normalizeH="0" baseline="0" dirty="0">
            <a:ln>
              <a:noFill/>
            </a:ln>
            <a:solidFill>
              <a:schemeClr val="accent6"/>
            </a:solidFill>
            <a:effectLst/>
            <a:uFillTx/>
            <a:latin typeface="+mn-lt"/>
            <a:ea typeface="+mn-ea"/>
            <a:cs typeface="+mn-cs"/>
            <a:sym typeface="Montserrat Semi Bold"/>
          </a:defRPr>
        </a:defPPr>
      </a:lstStyle>
      <a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none"/>
      </a: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A9A001796EFF641A3FF3E67E9A0118F" ma:contentTypeVersion="0" ma:contentTypeDescription="Crear nuevo documento." ma:contentTypeScope="" ma:versionID="4627a3d8309003ba6818bcb7e833fbb3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6f811a6767019e7426d133b423302158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4D8A436-2D6F-4EAC-B067-AE32550131DE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30400B80-59EE-4429-9CBF-B44159A31EE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F62DCD97-C284-4F08-8EE7-BA7AA4D3C55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8869</TotalTime>
  <Words>778</Words>
  <Application>Microsoft Office PowerPoint</Application>
  <PresentationFormat>Panorámica</PresentationFormat>
  <Paragraphs>197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2</vt:i4>
      </vt:variant>
      <vt:variant>
        <vt:lpstr>Títulos de diapositiva</vt:lpstr>
      </vt:variant>
      <vt:variant>
        <vt:i4>11</vt:i4>
      </vt:variant>
    </vt:vector>
  </HeadingPairs>
  <TitlesOfParts>
    <vt:vector size="20" baseType="lpstr">
      <vt:lpstr>Aptos</vt:lpstr>
      <vt:lpstr>Arial</vt:lpstr>
      <vt:lpstr>Calibri</vt:lpstr>
      <vt:lpstr>Calibri Light</vt:lpstr>
      <vt:lpstr>Montserrat</vt:lpstr>
      <vt:lpstr>Montserrat Semi Bold</vt:lpstr>
      <vt:lpstr>Verdana</vt:lpstr>
      <vt:lpstr>4_Tema de Office</vt:lpstr>
      <vt:lpstr>Office Theme</vt:lpstr>
      <vt:lpstr>Planificación de Packaging Mejoras realizadas y próximos pasos por planta Ondupet  ·  Ondupack  ·  MGT + PDA  |  Octubre 2026</vt:lpstr>
      <vt:lpstr>Índice</vt:lpstr>
      <vt:lpstr>Presentación de PowerPoint</vt:lpstr>
      <vt:lpstr>Ondupet · Matriz de procesos</vt:lpstr>
      <vt:lpstr>Presentación de PowerPoint</vt:lpstr>
      <vt:lpstr>Ondupack · Matriz de procesos</vt:lpstr>
      <vt:lpstr>Presentación de PowerPoint</vt:lpstr>
      <vt:lpstr>Presentación de PowerPoint</vt:lpstr>
      <vt:lpstr>Ondupet · Próximos pasos</vt:lpstr>
      <vt:lpstr>Anexo · Proyectos 2027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Lara Hospital</dc:creator>
  <cp:lastModifiedBy>Tejada Fornieles, Enrique</cp:lastModifiedBy>
  <cp:revision>7</cp:revision>
  <dcterms:created xsi:type="dcterms:W3CDTF">2024-06-09T19:11:53Z</dcterms:created>
  <dcterms:modified xsi:type="dcterms:W3CDTF">2026-10-01T14:33:14Z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2024-05-23T00:00:00Z</vt:filetime>
  </property>
  <property fmtid="{D5CDD505-2E9C-101B-9397-08002B2CF9AE}" pid="3" name="Creator">
    <vt:lpwstr>Microsoft® PowerPoint® para Microsoft 365</vt:lpwstr>
  </property>
  <property fmtid="{D5CDD505-2E9C-101B-9397-08002B2CF9AE}" pid="4" name="LastSaved">
    <vt:filetime>2024-06-09T00:00:00Z</vt:filetime>
  </property>
  <property fmtid="{D5CDD505-2E9C-101B-9397-08002B2CF9AE}" pid="5" name="ContentTypeId">
    <vt:lpwstr>0x0101005A9A001796EFF641A3FF3E67E9A0118F</vt:lpwstr>
  </property>
</Properties>
</file>