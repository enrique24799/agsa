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4"/>
    <p:sldMasterId id="2147483685" r:id="rId5"/>
  </p:sldMasterIdLst>
  <p:notesMasterIdLst>
    <p:notesMasterId r:id="rId21"/>
  </p:notesMasterIdLst>
  <p:sldIdLst>
    <p:sldId id="257" r:id="rId6"/>
    <p:sldId id="2964" r:id="rId7"/>
    <p:sldId id="2971" r:id="rId8"/>
    <p:sldId id="2969" r:id="rId9"/>
    <p:sldId id="2975" r:id="rId10"/>
    <p:sldId id="2983" r:id="rId11"/>
    <p:sldId id="2981" r:id="rId12"/>
    <p:sldId id="2985" r:id="rId13"/>
    <p:sldId id="2987" r:id="rId14"/>
    <p:sldId id="2988" r:id="rId15"/>
    <p:sldId id="2984" r:id="rId16"/>
    <p:sldId id="2982" r:id="rId17"/>
    <p:sldId id="2972" r:id="rId18"/>
    <p:sldId id="2986" r:id="rId19"/>
    <p:sldId id="2963" r:id="rId20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95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</c:v>
                </c:pt>
              </c:strCache>
            </c:strRef>
          </c:tx>
          <c:spPr>
            <a:ln w="28575">
              <a:solidFill>
                <a:srgbClr val="B14C5A"/>
              </a:solidFill>
            </a:ln>
          </c:spPr>
          <c:marker>
            <c:symbol val="circle"/>
            <c:size val="6"/>
            <c:spPr>
              <a:solidFill>
                <a:srgbClr val="B14C5A"/>
              </a:solidFill>
              <a:ln w="9525">
                <a:solidFill>
                  <a:srgbClr val="FFFFFF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</c:strCache>
            </c:strRef>
          </c:cat>
          <c:val>
            <c:numRef>
              <c:f>Sheet1!$B$2:$B$22</c:f>
              <c:numCache>
                <c:formatCode>0%</c:formatCode>
                <c:ptCount val="21"/>
                <c:pt idx="0">
                  <c:v>0.61</c:v>
                </c:pt>
                <c:pt idx="1">
                  <c:v>0.68</c:v>
                </c:pt>
                <c:pt idx="2">
                  <c:v>0.59</c:v>
                </c:pt>
                <c:pt idx="3">
                  <c:v>0.53</c:v>
                </c:pt>
                <c:pt idx="4">
                  <c:v>0.61</c:v>
                </c:pt>
                <c:pt idx="5">
                  <c:v>0.56999999999999995</c:v>
                </c:pt>
                <c:pt idx="6">
                  <c:v>0.61</c:v>
                </c:pt>
                <c:pt idx="7">
                  <c:v>0.56999999999999995</c:v>
                </c:pt>
                <c:pt idx="8">
                  <c:v>0.5</c:v>
                </c:pt>
                <c:pt idx="9">
                  <c:v>0.48</c:v>
                </c:pt>
                <c:pt idx="10">
                  <c:v>0.52</c:v>
                </c:pt>
                <c:pt idx="11">
                  <c:v>0.54</c:v>
                </c:pt>
                <c:pt idx="12">
                  <c:v>0.59</c:v>
                </c:pt>
                <c:pt idx="13">
                  <c:v>0.52</c:v>
                </c:pt>
                <c:pt idx="14">
                  <c:v>0.55000000000000004</c:v>
                </c:pt>
                <c:pt idx="15">
                  <c:v>0.67</c:v>
                </c:pt>
                <c:pt idx="16">
                  <c:v>0.65</c:v>
                </c:pt>
                <c:pt idx="17">
                  <c:v>0.69</c:v>
                </c:pt>
                <c:pt idx="18">
                  <c:v>0.72</c:v>
                </c:pt>
                <c:pt idx="19">
                  <c:v>0.62</c:v>
                </c:pt>
                <c:pt idx="20">
                  <c:v>0.86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11-4406-9F22-27CC5C04BD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</c:v>
                </c:pt>
              </c:strCache>
            </c:strRef>
          </c:tx>
          <c:spPr>
            <a:ln w="22225">
              <a:solidFill>
                <a:srgbClr val="1A5DA6"/>
              </a:solidFill>
            </a:ln>
          </c:spPr>
          <c:marker>
            <c:symbol val="circle"/>
            <c:size val="6"/>
            <c:spPr>
              <a:solidFill>
                <a:srgbClr val="1A5DA6"/>
              </a:solidFill>
              <a:ln w="9525">
                <a:solidFill>
                  <a:srgbClr val="FFFFFF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</c:strCache>
            </c:strRef>
          </c:cat>
          <c:val>
            <c:numRef>
              <c:f>Sheet1!$C$2:$C$22</c:f>
              <c:numCache>
                <c:formatCode>0%</c:formatCode>
                <c:ptCount val="21"/>
                <c:pt idx="0">
                  <c:v>0.76</c:v>
                </c:pt>
                <c:pt idx="1">
                  <c:v>0.72</c:v>
                </c:pt>
                <c:pt idx="2">
                  <c:v>0.65</c:v>
                </c:pt>
                <c:pt idx="3">
                  <c:v>0.63</c:v>
                </c:pt>
                <c:pt idx="4">
                  <c:v>0.7</c:v>
                </c:pt>
                <c:pt idx="5">
                  <c:v>0.68</c:v>
                </c:pt>
                <c:pt idx="6">
                  <c:v>0.73</c:v>
                </c:pt>
                <c:pt idx="7">
                  <c:v>0.56999999999999995</c:v>
                </c:pt>
                <c:pt idx="8">
                  <c:v>0.68</c:v>
                </c:pt>
                <c:pt idx="9">
                  <c:v>0.68</c:v>
                </c:pt>
                <c:pt idx="10">
                  <c:v>0.62</c:v>
                </c:pt>
                <c:pt idx="11">
                  <c:v>0.54</c:v>
                </c:pt>
                <c:pt idx="12">
                  <c:v>0.57999999999999996</c:v>
                </c:pt>
                <c:pt idx="13">
                  <c:v>0.5</c:v>
                </c:pt>
                <c:pt idx="14">
                  <c:v>0.5</c:v>
                </c:pt>
                <c:pt idx="15">
                  <c:v>0.43</c:v>
                </c:pt>
                <c:pt idx="16">
                  <c:v>0.49</c:v>
                </c:pt>
                <c:pt idx="17">
                  <c:v>0.54</c:v>
                </c:pt>
                <c:pt idx="18">
                  <c:v>0.65</c:v>
                </c:pt>
                <c:pt idx="19">
                  <c:v>0.45</c:v>
                </c:pt>
                <c:pt idx="20">
                  <c:v>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E11-4406-9F22-27CC5C04BD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SQ</c:v>
                </c:pt>
              </c:strCache>
            </c:strRef>
          </c:tx>
          <c:spPr>
            <a:ln w="22225">
              <a:solidFill>
                <a:srgbClr val="4AA3E3"/>
              </a:solidFill>
            </a:ln>
          </c:spPr>
          <c:marker>
            <c:symbol val="circle"/>
            <c:size val="6"/>
            <c:spPr>
              <a:solidFill>
                <a:srgbClr val="4AA3E3"/>
              </a:solidFill>
              <a:ln w="9525">
                <a:solidFill>
                  <a:srgbClr val="FFFFFF"/>
                </a:solidFill>
              </a:ln>
            </c:spPr>
          </c:marker>
          <c:cat>
            <c:strRef>
              <c:f>Sheet1!$A$2:$A$22</c:f>
              <c:strCache>
                <c:ptCount val="21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</c:strCache>
            </c:strRef>
          </c:cat>
          <c:val>
            <c:numRef>
              <c:f>Sheet1!$D$2:$D$22</c:f>
              <c:numCache>
                <c:formatCode>0%</c:formatCode>
                <c:ptCount val="21"/>
                <c:pt idx="0">
                  <c:v>0.51</c:v>
                </c:pt>
                <c:pt idx="1">
                  <c:v>0.65</c:v>
                </c:pt>
                <c:pt idx="2">
                  <c:v>0.55000000000000004</c:v>
                </c:pt>
                <c:pt idx="3">
                  <c:v>0.46</c:v>
                </c:pt>
                <c:pt idx="4">
                  <c:v>0.55000000000000004</c:v>
                </c:pt>
                <c:pt idx="5">
                  <c:v>0.51</c:v>
                </c:pt>
                <c:pt idx="6">
                  <c:v>0.53</c:v>
                </c:pt>
                <c:pt idx="7">
                  <c:v>0.56999999999999995</c:v>
                </c:pt>
                <c:pt idx="8">
                  <c:v>0.37</c:v>
                </c:pt>
                <c:pt idx="9">
                  <c:v>0.38</c:v>
                </c:pt>
                <c:pt idx="10">
                  <c:v>0.44</c:v>
                </c:pt>
                <c:pt idx="11">
                  <c:v>0.54</c:v>
                </c:pt>
                <c:pt idx="12">
                  <c:v>0.59</c:v>
                </c:pt>
                <c:pt idx="13">
                  <c:v>0.54</c:v>
                </c:pt>
                <c:pt idx="14">
                  <c:v>0.59</c:v>
                </c:pt>
                <c:pt idx="15">
                  <c:v>0.79</c:v>
                </c:pt>
                <c:pt idx="16">
                  <c:v>0.72</c:v>
                </c:pt>
                <c:pt idx="17">
                  <c:v>0.78</c:v>
                </c:pt>
                <c:pt idx="18">
                  <c:v>0.77</c:v>
                </c:pt>
                <c:pt idx="19">
                  <c:v>0.78</c:v>
                </c:pt>
                <c:pt idx="20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E11-4406-9F22-27CC5C04B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7DFE5"/>
            </a:solidFill>
          </a:ln>
        </c:sp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3E8EC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0.2"/>
      </c:valAx>
    </c:plotArea>
    <c:legend>
      <c:legendPos val="t"/>
      <c:overlay val="0"/>
      <c:txPr>
        <a:bodyPr/>
        <a:lstStyle/>
        <a:p>
          <a:pPr>
            <a:defRPr sz="900"/>
          </a:pPr>
          <a:endParaRPr lang="es-ES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5B6B78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B594C-0463-4CFE-9216-90B43449E6C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E8C00-4FF0-4F63-ADE8-3842858E8E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02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apositiva de destacad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3"/>
          <p:cNvSpPr/>
          <p:nvPr/>
        </p:nvSpPr>
        <p:spPr>
          <a:xfrm>
            <a:off x="0" y="0"/>
            <a:ext cx="4680000" cy="6858000"/>
          </a:xfrm>
          <a:prstGeom prst="rect">
            <a:avLst/>
          </a:prstGeom>
          <a:solidFill>
            <a:srgbClr val="98C9E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" name="Rectángulo 6"/>
          <p:cNvSpPr/>
          <p:nvPr/>
        </p:nvSpPr>
        <p:spPr>
          <a:xfrm>
            <a:off x="6581436" y="0"/>
            <a:ext cx="5610568" cy="6858000"/>
          </a:xfrm>
          <a:prstGeom prst="rect">
            <a:avLst/>
          </a:prstGeom>
          <a:solidFill>
            <a:srgbClr val="D2DCE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3" name="Texto del título"/>
          <p:cNvSpPr txBox="1">
            <a:spLocks noGrp="1"/>
          </p:cNvSpPr>
          <p:nvPr>
            <p:ph type="title"/>
          </p:nvPr>
        </p:nvSpPr>
        <p:spPr>
          <a:xfrm>
            <a:off x="701698" y="2357756"/>
            <a:ext cx="3501431" cy="20047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>
                <a:solidFill>
                  <a:schemeClr val="accent6"/>
                </a:solidFill>
              </a:defRPr>
            </a:lvl1pPr>
          </a:lstStyle>
          <a:p>
            <a:r>
              <a:t>Texto del título</a:t>
            </a:r>
          </a:p>
        </p:txBody>
      </p:sp>
      <p:sp>
        <p:nvSpPr>
          <p:cNvPr id="54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4686300" y="0"/>
            <a:ext cx="1905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E033685-77BB-81A3-F3FA-C5E30A4A2C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t="36312" r="6662" b="37222"/>
          <a:stretch/>
        </p:blipFill>
        <p:spPr>
          <a:xfrm>
            <a:off x="469280" y="5952576"/>
            <a:ext cx="1207397" cy="508368"/>
          </a:xfrm>
          <a:prstGeom prst="rect">
            <a:avLst/>
          </a:prstGeom>
        </p:spPr>
      </p:pic>
      <p:sp>
        <p:nvSpPr>
          <p:cNvPr id="5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353799" y="6220144"/>
            <a:ext cx="613916" cy="6375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689543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Diapositiva de destacad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3"/>
          <p:cNvSpPr/>
          <p:nvPr/>
        </p:nvSpPr>
        <p:spPr>
          <a:xfrm>
            <a:off x="0" y="0"/>
            <a:ext cx="4680000" cy="6858000"/>
          </a:xfrm>
          <a:prstGeom prst="rect">
            <a:avLst/>
          </a:prstGeom>
          <a:solidFill>
            <a:srgbClr val="98C9E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2" name="Rectángulo 6"/>
          <p:cNvSpPr/>
          <p:nvPr/>
        </p:nvSpPr>
        <p:spPr>
          <a:xfrm>
            <a:off x="6581436" y="0"/>
            <a:ext cx="5610568" cy="6858000"/>
          </a:xfrm>
          <a:prstGeom prst="rect">
            <a:avLst/>
          </a:prstGeom>
          <a:solidFill>
            <a:srgbClr val="D2DCE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3" name="Texto del título"/>
          <p:cNvSpPr txBox="1">
            <a:spLocks noGrp="1"/>
          </p:cNvSpPr>
          <p:nvPr>
            <p:ph type="title"/>
          </p:nvPr>
        </p:nvSpPr>
        <p:spPr>
          <a:xfrm>
            <a:off x="701698" y="2357756"/>
            <a:ext cx="3501431" cy="20047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>
                <a:solidFill>
                  <a:schemeClr val="accent6"/>
                </a:solidFill>
              </a:defRPr>
            </a:lvl1pPr>
          </a:lstStyle>
          <a:p>
            <a:r>
              <a:t>Texto del título</a:t>
            </a:r>
          </a:p>
        </p:txBody>
      </p:sp>
      <p:sp>
        <p:nvSpPr>
          <p:cNvPr id="54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4686300" y="0"/>
            <a:ext cx="1905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353799" y="6220144"/>
            <a:ext cx="613916" cy="6375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76A4052-62CF-DEAB-7FFA-C30D5E55CE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t="36312" r="6662" b="37222"/>
          <a:stretch/>
        </p:blipFill>
        <p:spPr>
          <a:xfrm>
            <a:off x="469280" y="5952576"/>
            <a:ext cx="1207397" cy="50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8865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n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ángulo 4"/>
          <p:cNvSpPr/>
          <p:nvPr/>
        </p:nvSpPr>
        <p:spPr>
          <a:xfrm>
            <a:off x="0" y="2523536"/>
            <a:ext cx="12192000" cy="4351742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88" name="Picture Placeholder 4"/>
          <p:cNvSpPr>
            <a:spLocks noGrp="1"/>
          </p:cNvSpPr>
          <p:nvPr>
            <p:ph type="pic" sz="half" idx="21"/>
          </p:nvPr>
        </p:nvSpPr>
        <p:spPr>
          <a:xfrm>
            <a:off x="-4070" y="0"/>
            <a:ext cx="12200138" cy="254471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0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2DF0212F-24A1-9FAE-D95D-6D5C050887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t="36312" r="6662" b="37222"/>
          <a:stretch/>
        </p:blipFill>
        <p:spPr>
          <a:xfrm>
            <a:off x="469280" y="5952576"/>
            <a:ext cx="1207397" cy="50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9032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áfic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ángulo 3"/>
          <p:cNvSpPr/>
          <p:nvPr/>
        </p:nvSpPr>
        <p:spPr>
          <a:xfrm>
            <a:off x="0" y="0"/>
            <a:ext cx="4680000" cy="6858000"/>
          </a:xfrm>
          <a:prstGeom prst="rect">
            <a:avLst/>
          </a:prstGeom>
          <a:solidFill>
            <a:srgbClr val="98C9E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9" name="Rectángulo 6"/>
          <p:cNvSpPr/>
          <p:nvPr/>
        </p:nvSpPr>
        <p:spPr>
          <a:xfrm>
            <a:off x="4679998" y="0"/>
            <a:ext cx="7511999" cy="6858000"/>
          </a:xfrm>
          <a:prstGeom prst="rect">
            <a:avLst/>
          </a:prstGeom>
          <a:solidFill>
            <a:srgbClr val="D2DCE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10" name="Texto del título"/>
          <p:cNvSpPr txBox="1">
            <a:spLocks noGrp="1"/>
          </p:cNvSpPr>
          <p:nvPr>
            <p:ph type="title"/>
          </p:nvPr>
        </p:nvSpPr>
        <p:spPr>
          <a:xfrm>
            <a:off x="863600" y="881062"/>
            <a:ext cx="2725887" cy="948933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11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43086" y="1849435"/>
            <a:ext cx="2993828" cy="18847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13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353799" y="6220144"/>
            <a:ext cx="613916" cy="6375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FA9FCDD6-A06C-BC94-EF85-217E5815E0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t="36312" r="6662" b="37222"/>
          <a:stretch/>
        </p:blipFill>
        <p:spPr>
          <a:xfrm>
            <a:off x="469280" y="5952576"/>
            <a:ext cx="1207397" cy="50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8960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áfic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ángulo 3"/>
          <p:cNvSpPr/>
          <p:nvPr/>
        </p:nvSpPr>
        <p:spPr>
          <a:xfrm>
            <a:off x="7511998" y="0"/>
            <a:ext cx="4680003" cy="6858000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1" name="Texto del título"/>
          <p:cNvSpPr txBox="1">
            <a:spLocks noGrp="1"/>
          </p:cNvSpPr>
          <p:nvPr>
            <p:ph type="title"/>
          </p:nvPr>
        </p:nvSpPr>
        <p:spPr>
          <a:xfrm>
            <a:off x="8064500" y="1763534"/>
            <a:ext cx="2656733" cy="95504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Texto del título</a:t>
            </a:r>
          </a:p>
        </p:txBody>
      </p:sp>
      <p:sp>
        <p:nvSpPr>
          <p:cNvPr id="122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077200" y="2725735"/>
            <a:ext cx="3017890" cy="2597280"/>
          </a:xfrm>
          <a:prstGeom prst="rect">
            <a:avLst/>
          </a:prstGeom>
        </p:spPr>
        <p:txBody>
          <a:bodyPr/>
          <a:lstStyle>
            <a:lvl1pPr algn="ctr">
              <a:spcBef>
                <a:spcPts val="600"/>
              </a:spcBef>
              <a:defRPr sz="1400" b="1">
                <a:latin typeface="Montserrat"/>
                <a:ea typeface="Montserrat"/>
                <a:cs typeface="Montserrat"/>
                <a:sym typeface="Montserrat"/>
              </a:defRPr>
            </a:lvl1pPr>
            <a:lvl2pPr algn="ctr">
              <a:spcBef>
                <a:spcPts val="600"/>
              </a:spcBef>
              <a:defRPr sz="1400" b="1">
                <a:latin typeface="Montserrat"/>
                <a:ea typeface="Montserrat"/>
                <a:cs typeface="Montserrat"/>
                <a:sym typeface="Montserrat"/>
              </a:defRPr>
            </a:lvl2pPr>
            <a:lvl3pPr algn="ctr">
              <a:spcBef>
                <a:spcPts val="600"/>
              </a:spcBef>
              <a:defRPr sz="1400" b="1">
                <a:latin typeface="Montserrat"/>
                <a:ea typeface="Montserrat"/>
                <a:cs typeface="Montserrat"/>
                <a:sym typeface="Montserrat"/>
              </a:defRPr>
            </a:lvl3pPr>
            <a:lvl4pPr algn="ctr">
              <a:spcBef>
                <a:spcPts val="600"/>
              </a:spcBef>
              <a:defRPr sz="1400" b="1">
                <a:latin typeface="Montserrat"/>
                <a:ea typeface="Montserrat"/>
                <a:cs typeface="Montserrat"/>
                <a:sym typeface="Montserrat"/>
              </a:defRPr>
            </a:lvl4pPr>
            <a:lvl5pPr algn="ctr">
              <a:spcBef>
                <a:spcPts val="600"/>
              </a:spcBef>
              <a:defRPr sz="1400" b="1"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763C307-1CAF-78ED-81C2-36EC4EC624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9" t="35460" r="8485" b="37302"/>
          <a:stretch/>
        </p:blipFill>
        <p:spPr>
          <a:xfrm>
            <a:off x="464802" y="5944091"/>
            <a:ext cx="1172087" cy="514106"/>
          </a:xfrm>
          <a:prstGeom prst="rect">
            <a:avLst/>
          </a:prstGeom>
        </p:spPr>
      </p:pic>
      <p:sp>
        <p:nvSpPr>
          <p:cNvPr id="12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353799" y="6220144"/>
            <a:ext cx="613916" cy="63753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314049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n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ángulo 4"/>
          <p:cNvSpPr/>
          <p:nvPr/>
        </p:nvSpPr>
        <p:spPr>
          <a:xfrm>
            <a:off x="0" y="3168481"/>
            <a:ext cx="12192000" cy="3689519"/>
          </a:xfrm>
          <a:prstGeom prst="rect">
            <a:avLst/>
          </a:prstGeom>
          <a:solidFill>
            <a:srgbClr val="D2DCE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76" name="Texto del título"/>
          <p:cNvSpPr txBox="1">
            <a:spLocks noGrp="1"/>
          </p:cNvSpPr>
          <p:nvPr>
            <p:ph type="title"/>
          </p:nvPr>
        </p:nvSpPr>
        <p:spPr>
          <a:xfrm>
            <a:off x="838199" y="949325"/>
            <a:ext cx="6422977" cy="698652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77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6" y="1645398"/>
            <a:ext cx="6880436" cy="140338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1600"/>
              </a:lnSpc>
              <a:defRPr sz="1200">
                <a:solidFill>
                  <a:schemeClr val="accent6"/>
                </a:solidFill>
              </a:defRPr>
            </a:lvl1pPr>
            <a:lvl2pPr>
              <a:lnSpc>
                <a:spcPts val="1600"/>
              </a:lnSpc>
              <a:defRPr sz="1200">
                <a:solidFill>
                  <a:schemeClr val="accent6"/>
                </a:solidFill>
              </a:defRPr>
            </a:lvl2pPr>
            <a:lvl3pPr>
              <a:lnSpc>
                <a:spcPts val="1600"/>
              </a:lnSpc>
              <a:defRPr sz="1200">
                <a:solidFill>
                  <a:schemeClr val="accent6"/>
                </a:solidFill>
              </a:defRPr>
            </a:lvl3pPr>
            <a:lvl4pPr>
              <a:lnSpc>
                <a:spcPts val="1600"/>
              </a:lnSpc>
              <a:defRPr sz="1200">
                <a:solidFill>
                  <a:schemeClr val="accent6"/>
                </a:solidFill>
              </a:defRPr>
            </a:lvl4pPr>
            <a:lvl5pPr>
              <a:lnSpc>
                <a:spcPts val="1600"/>
              </a:lnSpc>
              <a:defRPr sz="1200">
                <a:solidFill>
                  <a:schemeClr val="accent6"/>
                </a:solidFill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8" name="Picture Placeholder 4"/>
          <p:cNvSpPr>
            <a:spLocks noGrp="1"/>
          </p:cNvSpPr>
          <p:nvPr>
            <p:ph type="pic" sz="half" idx="21"/>
          </p:nvPr>
        </p:nvSpPr>
        <p:spPr>
          <a:xfrm>
            <a:off x="8056257" y="0"/>
            <a:ext cx="4135745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9830BA7D-8D14-F998-A8C5-1CCCD90C3A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t="36312" r="6662" b="37222"/>
          <a:stretch/>
        </p:blipFill>
        <p:spPr>
          <a:xfrm>
            <a:off x="469280" y="5952576"/>
            <a:ext cx="1207397" cy="50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643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Imagen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ángulo 4"/>
          <p:cNvSpPr/>
          <p:nvPr/>
        </p:nvSpPr>
        <p:spPr>
          <a:xfrm>
            <a:off x="0" y="-1"/>
            <a:ext cx="12192000" cy="980904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98" name="Imagen" descr="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6" y="5987989"/>
            <a:ext cx="821939" cy="359956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o del título"/>
          <p:cNvSpPr txBox="1">
            <a:spLocks noGrp="1"/>
          </p:cNvSpPr>
          <p:nvPr>
            <p:ph type="title"/>
          </p:nvPr>
        </p:nvSpPr>
        <p:spPr>
          <a:xfrm>
            <a:off x="548386" y="160730"/>
            <a:ext cx="6422977" cy="698652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0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406C63A-6FDC-AA8F-5B20-A37FEDF798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9" t="35460" r="8485" b="37302"/>
          <a:stretch/>
        </p:blipFill>
        <p:spPr>
          <a:xfrm>
            <a:off x="464802" y="5944091"/>
            <a:ext cx="1172087" cy="51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343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2_Imagen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7E7B4FF-1FD2-0FF2-78BA-DA609228946F}"/>
              </a:ext>
            </a:extLst>
          </p:cNvPr>
          <p:cNvSpPr/>
          <p:nvPr userDrawn="1"/>
        </p:nvSpPr>
        <p:spPr>
          <a:xfrm>
            <a:off x="0" y="909783"/>
            <a:ext cx="12192000" cy="160731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2800" b="0" i="0" u="none" strike="noStrike" cap="none" spc="0" normalizeH="0" baseline="0">
              <a:ln>
                <a:noFill/>
              </a:ln>
              <a:solidFill>
                <a:schemeClr val="accent6"/>
              </a:solidFill>
              <a:effectLst/>
              <a:uFillTx/>
              <a:latin typeface="+mn-lt"/>
              <a:ea typeface="+mn-ea"/>
              <a:cs typeface="+mn-cs"/>
              <a:sym typeface="Montserrat Semi Bold"/>
            </a:endParaRPr>
          </a:p>
        </p:txBody>
      </p:sp>
      <p:sp>
        <p:nvSpPr>
          <p:cNvPr id="97" name="Rectángulo 4"/>
          <p:cNvSpPr/>
          <p:nvPr/>
        </p:nvSpPr>
        <p:spPr>
          <a:xfrm>
            <a:off x="0" y="-1"/>
            <a:ext cx="12192000" cy="980904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98" name="Imagen" descr="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6" y="5987989"/>
            <a:ext cx="821939" cy="359956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o del título"/>
          <p:cNvSpPr txBox="1">
            <a:spLocks noGrp="1"/>
          </p:cNvSpPr>
          <p:nvPr>
            <p:ph type="title"/>
          </p:nvPr>
        </p:nvSpPr>
        <p:spPr>
          <a:xfrm>
            <a:off x="548386" y="160730"/>
            <a:ext cx="6422977" cy="6986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rPr dirty="0" err="1"/>
              <a:t>Texto</a:t>
            </a:r>
            <a:r>
              <a:rPr dirty="0"/>
              <a:t> del </a:t>
            </a:r>
            <a:r>
              <a:rPr dirty="0" err="1"/>
              <a:t>título</a:t>
            </a:r>
            <a:endParaRPr dirty="0"/>
          </a:p>
        </p:txBody>
      </p:sp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AA6581F3-8269-22BD-79E9-9544AF326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4" t="36312" r="6662" b="37222"/>
          <a:stretch/>
        </p:blipFill>
        <p:spPr>
          <a:xfrm>
            <a:off x="9821097" y="109716"/>
            <a:ext cx="1901651" cy="80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8021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apositiva de 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25100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o del título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ct val="90000"/>
              </a:lnSpc>
              <a:defRPr sz="60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39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6"/>
          </a:xfrm>
          <a:prstGeom prst="rect">
            <a:avLst/>
          </a:prstGeom>
        </p:spPr>
        <p:txBody>
          <a:bodyPr/>
          <a:lstStyle>
            <a:lvl1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0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353800" y="6220144"/>
            <a:ext cx="612682" cy="63753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885257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o del título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lIns="45718" tIns="45718" rIns="45718" bIns="45718" anchor="b"/>
          <a:lstStyle>
            <a:lvl1pPr algn="ctr">
              <a:lnSpc>
                <a:spcPct val="90000"/>
              </a:lnSpc>
              <a:defRPr sz="60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48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 lIns="45718" tIns="45718" rIns="45718" bIns="45718"/>
          <a:lstStyle>
            <a:lvl1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9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79736" y="6404293"/>
            <a:ext cx="274065" cy="269239"/>
          </a:xfrm>
          <a:prstGeom prst="rect">
            <a:avLst/>
          </a:prstGeom>
        </p:spPr>
        <p:txBody>
          <a:bodyPr lIns="45718" tIns="45718" rIns="45718" bIns="45718"/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809314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45718" tIns="45718" rIns="45718" bIns="45718" anchor="ctr"/>
          <a:lstStyle>
            <a:lvl1pPr>
              <a:lnSpc>
                <a:spcPct val="90000"/>
              </a:lnSpc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57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23900" indent="-2667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34438" indent="-320038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27200" indent="-355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84400" indent="-355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58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79736" y="6404293"/>
            <a:ext cx="274065" cy="269239"/>
          </a:xfrm>
          <a:prstGeom prst="rect">
            <a:avLst/>
          </a:prstGeom>
        </p:spPr>
        <p:txBody>
          <a:bodyPr lIns="45718" tIns="45718" rIns="45718" bIns="45718"/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43063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 lIns="45718" tIns="45718" rIns="45718" bIns="45718" anchor="ctr"/>
          <a:lstStyle>
            <a:lvl1pPr>
              <a:lnSpc>
                <a:spcPct val="90000"/>
              </a:lnSpc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66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lnSpc>
                <a:spcPct val="90000"/>
              </a:lnSpc>
              <a:spcBef>
                <a:spcPts val="1000"/>
              </a:spcBef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lnSpc>
                <a:spcPct val="90000"/>
              </a:lnSpc>
              <a:spcBef>
                <a:spcPts val="1000"/>
              </a:spcBef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>
              <a:lnSpc>
                <a:spcPct val="90000"/>
              </a:lnSpc>
              <a:spcBef>
                <a:spcPts val="1000"/>
              </a:spcBef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>
              <a:lnSpc>
                <a:spcPct val="90000"/>
              </a:lnSpc>
              <a:spcBef>
                <a:spcPts val="1000"/>
              </a:spcBef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>
              <a:lnSpc>
                <a:spcPct val="90000"/>
              </a:lnSpc>
              <a:spcBef>
                <a:spcPts val="1000"/>
              </a:spcBef>
              <a:defRPr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7" name="Marcador de texto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lIns="45718" tIns="45718" rIns="45718" bIns="45718" anchor="b"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68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79736" y="6404293"/>
            <a:ext cx="274065" cy="269239"/>
          </a:xfrm>
          <a:prstGeom prst="rect">
            <a:avLst/>
          </a:prstGeom>
        </p:spPr>
        <p:txBody>
          <a:bodyPr lIns="45718" tIns="45718" rIns="45718" bIns="45718"/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045319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lnSpc>
                <a:spcPct val="90000"/>
              </a:lnSpc>
              <a:defRPr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84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45718" tIns="45718" rIns="45718" bIns="45718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18457" indent="-261257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85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 lIns="45718" tIns="45718" rIns="45718" bIns="45718"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8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79736" y="6404293"/>
            <a:ext cx="274065" cy="269239"/>
          </a:xfrm>
          <a:prstGeom prst="rect">
            <a:avLst/>
          </a:prstGeom>
        </p:spPr>
        <p:txBody>
          <a:bodyPr lIns="45718" tIns="45718" rIns="45718" bIns="45718"/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584854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lnSpc>
                <a:spcPct val="90000"/>
              </a:lnSpc>
              <a:defRPr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94" name="Marcador de imagen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95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9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79736" y="6404293"/>
            <a:ext cx="274065" cy="269239"/>
          </a:xfrm>
          <a:prstGeom prst="rect">
            <a:avLst/>
          </a:prstGeom>
        </p:spPr>
        <p:txBody>
          <a:bodyPr lIns="45718" tIns="45718" rIns="45718" bIns="45718"/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33822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9889" y="211328"/>
            <a:ext cx="1101222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2970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3133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011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2842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24754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o del título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45718" tIns="45718" rIns="45718" bIns="45718" anchor="ctr"/>
          <a:lstStyle>
            <a:lvl1pPr>
              <a:lnSpc>
                <a:spcPct val="90000"/>
              </a:lnSpc>
              <a:defRPr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17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11079736" y="6404293"/>
            <a:ext cx="274065" cy="269239"/>
          </a:xfrm>
          <a:prstGeom prst="rect">
            <a:avLst/>
          </a:prstGeom>
        </p:spPr>
        <p:txBody>
          <a:bodyPr lIns="45718" tIns="45718" rIns="45718" bIns="45718"/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393031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2DCE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3" name="Imagen 6" descr="Imagen 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513" y="5938122"/>
            <a:ext cx="1220012" cy="53036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o del título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Texto del título</a:t>
            </a:r>
          </a:p>
        </p:txBody>
      </p:sp>
      <p:sp>
        <p:nvSpPr>
          <p:cNvPr id="5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8737600" y="6037582"/>
            <a:ext cx="2844800" cy="6375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>
              <a:lnSpc>
                <a:spcPct val="80000"/>
              </a:lnSpc>
              <a:defRPr sz="3600" b="1"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3" r:id="rId14"/>
    <p:sldLayoutId id="2147483684" r:id="rId15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98C9EB"/>
          </a:solidFill>
          <a:uFillTx/>
          <a:latin typeface="+mn-lt"/>
          <a:ea typeface="+mn-ea"/>
          <a:cs typeface="+mn-cs"/>
          <a:sym typeface="Montserrat Semi Bold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Montserrat Semi Bold"/>
        </a:defRPr>
      </a:lvl9pPr>
    </p:bodyStyle>
    <p:otherStyle>
      <a:lvl1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1pPr>
      <a:lvl2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2pPr>
      <a:lvl3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3pPr>
      <a:lvl4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4pPr>
      <a:lvl5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5pPr>
      <a:lvl6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6pPr>
      <a:lvl7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7pPr>
      <a:lvl8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8pPr>
      <a:lvl9pPr marL="0" marR="0" indent="0" algn="l" defTabSz="914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822690" cy="889000"/>
          </a:xfrm>
          <a:custGeom>
            <a:avLst/>
            <a:gdLst/>
            <a:ahLst/>
            <a:cxnLst/>
            <a:rect l="l" t="t" r="r" b="b"/>
            <a:pathLst>
              <a:path w="8822690" h="889000">
                <a:moveTo>
                  <a:pt x="0" y="888491"/>
                </a:moveTo>
                <a:lnTo>
                  <a:pt x="8822436" y="888491"/>
                </a:lnTo>
                <a:lnTo>
                  <a:pt x="8822436" y="0"/>
                </a:lnTo>
                <a:lnTo>
                  <a:pt x="0" y="0"/>
                </a:lnTo>
                <a:lnTo>
                  <a:pt x="0" y="888491"/>
                </a:lnTo>
                <a:close/>
              </a:path>
            </a:pathLst>
          </a:custGeom>
          <a:solidFill>
            <a:srgbClr val="0025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930639" y="0"/>
            <a:ext cx="3261360" cy="890269"/>
          </a:xfrm>
          <a:custGeom>
            <a:avLst/>
            <a:gdLst/>
            <a:ahLst/>
            <a:cxnLst/>
            <a:rect l="l" t="t" r="r" b="b"/>
            <a:pathLst>
              <a:path w="3261359" h="890269">
                <a:moveTo>
                  <a:pt x="0" y="890015"/>
                </a:moveTo>
                <a:lnTo>
                  <a:pt x="3261359" y="890015"/>
                </a:lnTo>
                <a:lnTo>
                  <a:pt x="3261359" y="0"/>
                </a:lnTo>
                <a:lnTo>
                  <a:pt x="0" y="0"/>
                </a:lnTo>
                <a:lnTo>
                  <a:pt x="0" y="890015"/>
                </a:lnTo>
                <a:close/>
              </a:path>
            </a:pathLst>
          </a:custGeom>
          <a:solidFill>
            <a:srgbClr val="9BCA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012179" y="0"/>
            <a:ext cx="4215765" cy="890269"/>
          </a:xfrm>
          <a:custGeom>
            <a:avLst/>
            <a:gdLst/>
            <a:ahLst/>
            <a:cxnLst/>
            <a:rect l="l" t="t" r="r" b="b"/>
            <a:pathLst>
              <a:path w="4215765" h="890269">
                <a:moveTo>
                  <a:pt x="4215167" y="0"/>
                </a:moveTo>
                <a:lnTo>
                  <a:pt x="1154192" y="0"/>
                </a:lnTo>
                <a:lnTo>
                  <a:pt x="0" y="890015"/>
                </a:lnTo>
                <a:lnTo>
                  <a:pt x="3070987" y="890015"/>
                </a:lnTo>
                <a:lnTo>
                  <a:pt x="4215167" y="0"/>
                </a:lnTo>
                <a:close/>
              </a:path>
            </a:pathLst>
          </a:custGeom>
          <a:solidFill>
            <a:srgbClr val="0025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43032" y="126492"/>
            <a:ext cx="1420368" cy="61721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6095999" y="0"/>
            <a:ext cx="4114800" cy="889000"/>
          </a:xfrm>
          <a:custGeom>
            <a:avLst/>
            <a:gdLst/>
            <a:ahLst/>
            <a:cxnLst/>
            <a:rect l="l" t="t" r="r" b="b"/>
            <a:pathLst>
              <a:path w="4114800" h="889000">
                <a:moveTo>
                  <a:pt x="4114800" y="0"/>
                </a:moveTo>
                <a:lnTo>
                  <a:pt x="2986913" y="0"/>
                </a:lnTo>
                <a:lnTo>
                  <a:pt x="1260475" y="0"/>
                </a:lnTo>
                <a:lnTo>
                  <a:pt x="1131061" y="1016"/>
                </a:lnTo>
                <a:lnTo>
                  <a:pt x="0" y="888491"/>
                </a:lnTo>
                <a:lnTo>
                  <a:pt x="2992374" y="888491"/>
                </a:lnTo>
                <a:lnTo>
                  <a:pt x="4114800" y="0"/>
                </a:lnTo>
                <a:close/>
              </a:path>
            </a:pathLst>
          </a:custGeom>
          <a:solidFill>
            <a:srgbClr val="234B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1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24995" y="1946851"/>
            <a:ext cx="6077584" cy="3445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836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ángulo 5"/>
          <p:cNvSpPr/>
          <p:nvPr/>
        </p:nvSpPr>
        <p:spPr>
          <a:xfrm>
            <a:off x="0" y="0"/>
            <a:ext cx="6726805" cy="6858000"/>
          </a:xfrm>
          <a:prstGeom prst="rect">
            <a:avLst/>
          </a:prstGeom>
          <a:solidFill>
            <a:srgbClr val="98C9E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38" name="Rectángulo 6"/>
          <p:cNvSpPr/>
          <p:nvPr/>
        </p:nvSpPr>
        <p:spPr>
          <a:xfrm>
            <a:off x="6576000" y="0"/>
            <a:ext cx="4680003" cy="6858000"/>
          </a:xfrm>
          <a:prstGeom prst="rect">
            <a:avLst/>
          </a:prstGeom>
          <a:solidFill>
            <a:srgbClr val="00263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39" name="Rectángulo 7"/>
          <p:cNvSpPr/>
          <p:nvPr/>
        </p:nvSpPr>
        <p:spPr>
          <a:xfrm>
            <a:off x="11255998" y="0"/>
            <a:ext cx="936003" cy="6858000"/>
          </a:xfrm>
          <a:prstGeom prst="rect">
            <a:avLst/>
          </a:prstGeom>
          <a:solidFill>
            <a:srgbClr val="D2DCE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41" name="Título"/>
          <p:cNvSpPr txBox="1">
            <a:spLocks noGrp="1"/>
          </p:cNvSpPr>
          <p:nvPr>
            <p:ph type="title"/>
          </p:nvPr>
        </p:nvSpPr>
        <p:spPr>
          <a:xfrm>
            <a:off x="270316" y="4114800"/>
            <a:ext cx="6219959" cy="210312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defRPr sz="3600">
                <a:solidFill>
                  <a:srgbClr val="00263A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pPr>
            <a:r>
              <a:rPr sz="3300" b="1" i="0">
                <a:solidFill>
                  <a:srgbClr val="00263A"/>
                </a:solidFill>
                <a:latin typeface="Montserrat"/>
              </a:rPr>
              <a:t>Planificación de Packaging</a:t>
            </a:r>
            <a:endParaRPr lang="en-US" sz="2000" dirty="0"/>
          </a:p>
          <a:p>
            <a:pPr algn="l">
              <a:lnSpc>
                <a:spcPct val="105000"/>
              </a:lnSpc>
              <a:buNone/>
            </a:pPr>
            <a:r>
              <a:rPr sz="1500" b="0" i="1">
                <a:solidFill>
                  <a:srgbClr val="244C5A"/>
                </a:solidFill>
                <a:latin typeface="Montserrat"/>
              </a:rPr>
              <a:t>Mejoras realizadas y próximos pasos por planta</a:t>
            </a:r>
          </a:p>
          <a:p>
            <a:pPr algn="l">
              <a:lnSpc>
                <a:spcPct val="105000"/>
              </a:lnSpc>
              <a:spcBef>
                <a:spcPts val="900"/>
              </a:spcBef>
              <a:buNone/>
            </a:pPr>
            <a:r>
              <a:rPr lang="es-ES" sz="1100" b="1" i="0" spc="60">
                <a:solidFill>
                  <a:srgbClr val="244C5A"/>
                </a:solidFill>
                <a:latin typeface="Montserrat"/>
              </a:rPr>
              <a:t>Ondupet  ·  Ondupack  ·  MGT + PDA  |  Octubre 2026</a:t>
            </a:r>
          </a:p>
        </p:txBody>
      </p:sp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C0AE04F5-B570-43A6-AC8C-F2AD37DC6A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41" y="1138241"/>
            <a:ext cx="2420303" cy="105214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Índice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48640" y="16916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PLANTAS</a:t>
            </a:r>
            <a:endParaRPr lang="es-ES" sz="850" dirty="0"/>
          </a:p>
        </p:txBody>
      </p:sp>
      <p:sp>
        <p:nvSpPr>
          <p:cNvPr id="4" name="Shape 4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1300" b="1" i="0" dirty="0">
                <a:solidFill>
                  <a:srgbClr val="98C9EB"/>
                </a:solidFill>
                <a:latin typeface="Montserrat"/>
                <a:cs typeface="Montserrat"/>
              </a:rPr>
              <a:t>01</a:t>
            </a:r>
            <a:endParaRPr lang="es-ES" sz="1300" dirty="0"/>
          </a:p>
        </p:txBody>
      </p:sp>
      <p:sp>
        <p:nvSpPr>
          <p:cNvPr id="5" name="Shape 5"/>
          <p:cNvSpPr txBox="1"/>
          <p:nvPr/>
        </p:nvSpPr>
        <p:spPr>
          <a:xfrm>
            <a:off x="1389888" y="21122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700" b="1" i="0" dirty="0">
                <a:solidFill>
                  <a:srgbClr val="00263A"/>
                </a:solidFill>
                <a:latin typeface="Montserrat"/>
                <a:cs typeface="Montserrat"/>
              </a:rPr>
              <a:t>Ondupet</a:t>
            </a:r>
            <a:endParaRPr lang="es-ES" sz="1700" dirty="0"/>
          </a:p>
        </p:txBody>
      </p:sp>
      <p:sp>
        <p:nvSpPr>
          <p:cNvPr id="6" name="Shape 6"/>
          <p:cNvSpPr txBox="1"/>
          <p:nvPr/>
        </p:nvSpPr>
        <p:spPr>
          <a:xfrm>
            <a:off x="1389888" y="247802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0" i="0" dirty="0">
                <a:solidFill>
                  <a:srgbClr val="5B6B78"/>
                </a:solidFill>
                <a:latin typeface="Montserrat"/>
                <a:cs typeface="Montserrat"/>
              </a:rPr>
              <a:t>Extrusión de lámina y termoformado</a:t>
            </a:r>
            <a:endParaRPr lang="es-E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1300" b="1" i="0" dirty="0">
                <a:solidFill>
                  <a:srgbClr val="98C9EB"/>
                </a:solidFill>
                <a:latin typeface="Montserrat"/>
                <a:cs typeface="Montserrat"/>
              </a:rPr>
              <a:t>02</a:t>
            </a:r>
            <a:endParaRPr lang="es-ES" sz="1300" dirty="0"/>
          </a:p>
        </p:txBody>
      </p:sp>
      <p:sp>
        <p:nvSpPr>
          <p:cNvPr id="8" name="Shape 8"/>
          <p:cNvSpPr txBox="1"/>
          <p:nvPr/>
        </p:nvSpPr>
        <p:spPr>
          <a:xfrm>
            <a:off x="1389888" y="32552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700" b="1" i="0" dirty="0">
                <a:solidFill>
                  <a:srgbClr val="00263A"/>
                </a:solidFill>
                <a:latin typeface="Montserrat"/>
                <a:cs typeface="Montserrat"/>
              </a:rPr>
              <a:t>Ondupack</a:t>
            </a:r>
            <a:endParaRPr lang="es-ES" sz="1700" dirty="0"/>
          </a:p>
        </p:txBody>
      </p:sp>
      <p:sp>
        <p:nvSpPr>
          <p:cNvPr id="9" name="Shape 9"/>
          <p:cNvSpPr txBox="1"/>
          <p:nvPr/>
        </p:nvSpPr>
        <p:spPr>
          <a:xfrm>
            <a:off x="1389888" y="362102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0" i="0" dirty="0">
                <a:solidFill>
                  <a:srgbClr val="5B6B78"/>
                </a:solidFill>
                <a:latin typeface="Montserrat"/>
                <a:cs typeface="Montserrat"/>
              </a:rPr>
              <a:t>Cajas de cartón · onduladora y converting</a:t>
            </a:r>
            <a:endParaRPr lang="es-ES" sz="1000" dirty="0"/>
          </a:p>
        </p:txBody>
      </p:sp>
      <p:sp>
        <p:nvSpPr>
          <p:cNvPr id="10" name="Shape 10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1300" b="1" i="0" dirty="0">
                <a:solidFill>
                  <a:srgbClr val="98C9EB"/>
                </a:solidFill>
                <a:latin typeface="Montserrat"/>
                <a:cs typeface="Montserrat"/>
              </a:rPr>
              <a:t>03</a:t>
            </a:r>
            <a:endParaRPr lang="es-ES" sz="1300" dirty="0"/>
          </a:p>
        </p:txBody>
      </p:sp>
      <p:sp>
        <p:nvSpPr>
          <p:cNvPr id="11" name="Shape 11"/>
          <p:cNvSpPr txBox="1"/>
          <p:nvPr/>
        </p:nvSpPr>
        <p:spPr>
          <a:xfrm>
            <a:off x="1389888" y="43982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700" b="1" i="0" dirty="0">
                <a:solidFill>
                  <a:srgbClr val="00263A"/>
                </a:solidFill>
                <a:latin typeface="Montserrat"/>
                <a:cs typeface="Montserrat"/>
              </a:rPr>
              <a:t>MGT + PDA</a:t>
            </a:r>
            <a:endParaRPr lang="es-ES" sz="1700" dirty="0"/>
          </a:p>
        </p:txBody>
      </p:sp>
      <p:sp>
        <p:nvSpPr>
          <p:cNvPr id="12" name="Shape 12"/>
          <p:cNvSpPr txBox="1"/>
          <p:nvPr/>
        </p:nvSpPr>
        <p:spPr>
          <a:xfrm>
            <a:off x="1389888" y="476402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0" i="0" dirty="0">
                <a:solidFill>
                  <a:srgbClr val="5B6B78"/>
                </a:solidFill>
                <a:latin typeface="Montserrat"/>
                <a:cs typeface="Montserrat"/>
              </a:rPr>
              <a:t>Papeleras · intercompany, SIGPA y Papresa</a:t>
            </a:r>
            <a:endParaRPr lang="es-ES" sz="1000" dirty="0"/>
          </a:p>
        </p:txBody>
      </p:sp>
      <p:sp>
        <p:nvSpPr>
          <p:cNvPr id="13" name="Shape 13"/>
          <p:cNvSpPr txBox="1"/>
          <p:nvPr/>
        </p:nvSpPr>
        <p:spPr>
          <a:xfrm>
            <a:off x="6537960" y="16916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VISIÓN 2027 Y DETALLE</a:t>
            </a:r>
            <a:endParaRPr lang="es-ES" sz="850" dirty="0"/>
          </a:p>
        </p:txBody>
      </p:sp>
      <p:sp>
        <p:nvSpPr>
          <p:cNvPr id="14" name="Shape 14"/>
          <p:cNvSpPr/>
          <p:nvPr/>
        </p:nvSpPr>
        <p:spPr>
          <a:xfrm>
            <a:off x="6537960" y="2148840"/>
            <a:ext cx="566928" cy="566928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1300" b="1" i="0" dirty="0">
                <a:solidFill>
                  <a:srgbClr val="98C9EB"/>
                </a:solidFill>
                <a:latin typeface="Montserrat"/>
                <a:cs typeface="Montserrat"/>
              </a:rPr>
              <a:t>04</a:t>
            </a:r>
            <a:endParaRPr lang="es-ES" sz="1300" dirty="0"/>
          </a:p>
        </p:txBody>
      </p:sp>
      <p:sp>
        <p:nvSpPr>
          <p:cNvPr id="15" name="Shape 15"/>
          <p:cNvSpPr txBox="1"/>
          <p:nvPr/>
        </p:nvSpPr>
        <p:spPr>
          <a:xfrm>
            <a:off x="7379208" y="21122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700" b="1" i="0" dirty="0">
                <a:solidFill>
                  <a:srgbClr val="00263A"/>
                </a:solidFill>
                <a:latin typeface="Montserrat"/>
                <a:cs typeface="Montserrat"/>
              </a:rPr>
              <a:t>Proyectos 2027</a:t>
            </a:r>
            <a:endParaRPr lang="es-ES" sz="1700" dirty="0"/>
          </a:p>
        </p:txBody>
      </p:sp>
      <p:sp>
        <p:nvSpPr>
          <p:cNvPr id="16" name="Shape 16"/>
          <p:cNvSpPr txBox="1"/>
          <p:nvPr/>
        </p:nvSpPr>
        <p:spPr>
          <a:xfrm>
            <a:off x="7379208" y="247802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0" i="0" dirty="0">
                <a:solidFill>
                  <a:srgbClr val="5B6B78"/>
                </a:solidFill>
                <a:latin typeface="Montserrat"/>
                <a:cs typeface="Montserrat"/>
              </a:rPr>
              <a:t>Propuestas por validar con negocio</a:t>
            </a:r>
            <a:endParaRPr lang="es-ES" sz="1000" dirty="0"/>
          </a:p>
        </p:txBody>
      </p:sp>
      <p:sp>
        <p:nvSpPr>
          <p:cNvPr id="17" name="Shape 17"/>
          <p:cNvSpPr/>
          <p:nvPr/>
        </p:nvSpPr>
        <p:spPr>
          <a:xfrm>
            <a:off x="6537960" y="3291840"/>
            <a:ext cx="566928" cy="566928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1300" b="1" i="0" dirty="0">
                <a:solidFill>
                  <a:srgbClr val="98C9EB"/>
                </a:solidFill>
                <a:latin typeface="Montserrat"/>
                <a:cs typeface="Montserrat"/>
              </a:rPr>
              <a:t>05</a:t>
            </a:r>
            <a:endParaRPr lang="es-ES" sz="1300" dirty="0"/>
          </a:p>
        </p:txBody>
      </p:sp>
      <p:sp>
        <p:nvSpPr>
          <p:cNvPr id="18" name="Shape 18"/>
          <p:cNvSpPr txBox="1"/>
          <p:nvPr/>
        </p:nvSpPr>
        <p:spPr>
          <a:xfrm>
            <a:off x="7379208" y="32552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700" b="1" i="0" dirty="0">
                <a:solidFill>
                  <a:srgbClr val="00263A"/>
                </a:solidFill>
                <a:latin typeface="Montserrat"/>
                <a:cs typeface="Montserrat"/>
              </a:rPr>
              <a:t>Anexo</a:t>
            </a:r>
            <a:endParaRPr lang="es-ES" sz="1700" dirty="0"/>
          </a:p>
        </p:txBody>
      </p:sp>
      <p:sp>
        <p:nvSpPr>
          <p:cNvPr id="19" name="Shape 19"/>
          <p:cNvSpPr txBox="1"/>
          <p:nvPr/>
        </p:nvSpPr>
        <p:spPr>
          <a:xfrm>
            <a:off x="7379208" y="3621024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0" i="0" dirty="0">
                <a:solidFill>
                  <a:srgbClr val="5B6B78"/>
                </a:solidFill>
                <a:latin typeface="Montserrat"/>
                <a:cs typeface="Montserrat"/>
              </a:rPr>
              <a:t>Próximos pasos de Ondupet y flujo intercompany</a:t>
            </a:r>
            <a:endParaRPr lang="es-ES" sz="1000" dirty="0"/>
          </a:p>
        </p:txBody>
      </p:sp>
      <p:sp>
        <p:nvSpPr>
          <p:cNvPr id="20" name="Shape 20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2</a:t>
            </a:r>
            <a:endParaRPr lang="es-E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29984" cy="6858000"/>
          </a:xfrm>
          <a:prstGeom prst="rect">
            <a:avLst/>
          </a:prstGeom>
          <a:solidFill>
            <a:srgbClr val="98C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29984" y="0"/>
            <a:ext cx="4526280" cy="6858000"/>
          </a:xfrm>
          <a:prstGeom prst="rect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56264" y="0"/>
            <a:ext cx="941832" cy="6858000"/>
          </a:xfrm>
          <a:prstGeom prst="rect">
            <a:avLst/>
          </a:prstGeom>
          <a:solidFill>
            <a:srgbClr val="D2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97280"/>
            <a:ext cx="2145550" cy="93268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" y="2788920"/>
            <a:ext cx="713232" cy="713232"/>
          </a:xfrm>
          <a:prstGeom prst="ellipse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  <a:buNone/>
            </a:pPr>
            <a:r>
              <a:rPr sz="2000" b="1" i="0">
                <a:solidFill>
                  <a:srgbClr val="98C9EB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67328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00263A"/>
                </a:solidFill>
                <a:latin typeface="Montserrat"/>
              </a:rPr>
              <a:t>Ondupet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81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350" b="0" i="1">
                <a:solidFill>
                  <a:srgbClr val="244C5A"/>
                </a:solidFill>
                <a:latin typeface="Montserrat"/>
              </a:rPr>
              <a:t>Extrusión de lámina y termoformado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Ondupet · Matriz de procesos</a:t>
            </a:r>
          </a:p>
        </p:txBody>
      </p:sp>
      <p:sp>
        <p:nvSpPr>
          <p:cNvPr id="3" name="Shape 3"/>
          <p:cNvSpPr/>
          <p:nvPr/>
        </p:nvSpPr>
        <p:spPr>
          <a:xfrm>
            <a:off x="73609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850" b="1" i="0" spc="40" dirty="0">
                <a:solidFill>
                  <a:srgbClr val="00263A"/>
                </a:solidFill>
                <a:latin typeface="Montserrat"/>
                <a:cs typeface="Montserrat"/>
              </a:rPr>
              <a:t>5 DE 8 IMPLANTADOS</a:t>
            </a:r>
            <a:endParaRPr lang="es-ES" sz="8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28016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PROCESO</a:t>
            </a:r>
            <a:endParaRPr lang="es-ES" sz="850" dirty="0"/>
          </a:p>
        </p:txBody>
      </p:sp>
      <p:sp>
        <p:nvSpPr>
          <p:cNvPr id="5" name="Shape 5"/>
          <p:cNvSpPr txBox="1"/>
          <p:nvPr/>
        </p:nvSpPr>
        <p:spPr>
          <a:xfrm>
            <a:off x="2807208" y="12801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ESTADO</a:t>
            </a:r>
            <a:endParaRPr lang="es-ES" sz="850" dirty="0"/>
          </a:p>
        </p:txBody>
      </p:sp>
      <p:sp>
        <p:nvSpPr>
          <p:cNvPr id="6" name="Shape 6"/>
          <p:cNvSpPr txBox="1"/>
          <p:nvPr/>
        </p:nvSpPr>
        <p:spPr>
          <a:xfrm>
            <a:off x="4425696" y="1280160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TENEMOS HOY</a:t>
            </a:r>
            <a:endParaRPr lang="es-ES" sz="850" dirty="0"/>
          </a:p>
        </p:txBody>
      </p:sp>
      <p:sp>
        <p:nvSpPr>
          <p:cNvPr id="7" name="Shape 7"/>
          <p:cNvSpPr txBox="1"/>
          <p:nvPr/>
        </p:nvSpPr>
        <p:spPr>
          <a:xfrm>
            <a:off x="9153144" y="1280160"/>
            <a:ext cx="2624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SIGUIENTE PASO (DICIEMBRE 2026)</a:t>
            </a:r>
            <a:endParaRPr lang="es-ES" sz="850" dirty="0"/>
          </a:p>
        </p:txBody>
      </p:sp>
      <p:sp>
        <p:nvSpPr>
          <p:cNvPr id="8" name="Shape 8"/>
          <p:cNvSpPr/>
          <p:nvPr/>
        </p:nvSpPr>
        <p:spPr>
          <a:xfrm>
            <a:off x="548640" y="1572768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9" name="Shape 9"/>
          <p:cNvSpPr/>
          <p:nvPr/>
        </p:nvSpPr>
        <p:spPr>
          <a:xfrm>
            <a:off x="685800" y="1655064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1</a:t>
            </a:r>
            <a:endParaRPr lang="es-ES" sz="900" dirty="0"/>
          </a:p>
        </p:txBody>
      </p:sp>
      <p:sp>
        <p:nvSpPr>
          <p:cNvPr id="10" name="Shape 10"/>
          <p:cNvSpPr txBox="1"/>
          <p:nvPr/>
        </p:nvSpPr>
        <p:spPr>
          <a:xfrm>
            <a:off x="1078992" y="157276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Dato maestro</a:t>
            </a:r>
            <a:endParaRPr lang="es-ES" sz="1100" dirty="0"/>
          </a:p>
        </p:txBody>
      </p:sp>
      <p:sp>
        <p:nvSpPr>
          <p:cNvPr id="11" name="Shape 11"/>
          <p:cNvSpPr/>
          <p:nvPr/>
        </p:nvSpPr>
        <p:spPr>
          <a:xfrm>
            <a:off x="2807208" y="16642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12" name="Shape 12"/>
          <p:cNvSpPr txBox="1"/>
          <p:nvPr/>
        </p:nvSpPr>
        <p:spPr>
          <a:xfrm>
            <a:off x="4425696" y="1572768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ABC y estrategia MTS/MTO por material, duplicados depurados; velocidades, cambios y calendario parametrizados</a:t>
            </a:r>
            <a:endParaRPr lang="es-ES" sz="900" dirty="0"/>
          </a:p>
        </p:txBody>
      </p:sp>
      <p:sp>
        <p:nvSpPr>
          <p:cNvPr id="13" name="Shape 13"/>
          <p:cNvSpPr txBox="1"/>
          <p:nvPr/>
        </p:nvSpPr>
        <p:spPr>
          <a:xfrm>
            <a:off x="9153144" y="1572768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14" name="Shape 14"/>
          <p:cNvSpPr/>
          <p:nvPr/>
        </p:nvSpPr>
        <p:spPr>
          <a:xfrm>
            <a:off x="548640" y="2066544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5" name="Shape 15"/>
          <p:cNvSpPr/>
          <p:nvPr/>
        </p:nvSpPr>
        <p:spPr>
          <a:xfrm>
            <a:off x="685800" y="2148840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2</a:t>
            </a:r>
            <a:endParaRPr lang="es-ES" sz="900" dirty="0"/>
          </a:p>
        </p:txBody>
      </p:sp>
      <p:sp>
        <p:nvSpPr>
          <p:cNvPr id="16" name="Shape 16"/>
          <p:cNvSpPr txBox="1"/>
          <p:nvPr/>
        </p:nvSpPr>
        <p:spPr>
          <a:xfrm>
            <a:off x="1078992" y="2066544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Demanda</a:t>
            </a:r>
            <a:endParaRPr lang="es-ES" sz="1100" dirty="0"/>
          </a:p>
        </p:txBody>
      </p:sp>
      <p:sp>
        <p:nvSpPr>
          <p:cNvPr id="17" name="Shape 17"/>
          <p:cNvSpPr/>
          <p:nvPr/>
        </p:nvSpPr>
        <p:spPr>
          <a:xfrm>
            <a:off x="2807208" y="215798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18" name="Shape 18"/>
          <p:cNvSpPr txBox="1"/>
          <p:nvPr/>
        </p:nvSpPr>
        <p:spPr>
          <a:xfrm>
            <a:off x="4425696" y="2066544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Propuesta automática de fabricación desde la previsión, con su precisión medida y la demanda perdida registrada</a:t>
            </a:r>
            <a:endParaRPr lang="es-ES" sz="900" dirty="0"/>
          </a:p>
        </p:txBody>
      </p:sp>
      <p:sp>
        <p:nvSpPr>
          <p:cNvPr id="19" name="Shape 19"/>
          <p:cNvSpPr txBox="1"/>
          <p:nvPr/>
        </p:nvSpPr>
        <p:spPr>
          <a:xfrm>
            <a:off x="9153144" y="206654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20" name="Shape 20"/>
          <p:cNvSpPr/>
          <p:nvPr/>
        </p:nvSpPr>
        <p:spPr>
          <a:xfrm>
            <a:off x="548640" y="2560320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1" name="Shape 21"/>
          <p:cNvSpPr/>
          <p:nvPr/>
        </p:nvSpPr>
        <p:spPr>
          <a:xfrm>
            <a:off x="685800" y="2642616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3</a:t>
            </a:r>
            <a:endParaRPr lang="es-ES" sz="900" dirty="0"/>
          </a:p>
        </p:txBody>
      </p:sp>
      <p:sp>
        <p:nvSpPr>
          <p:cNvPr id="22" name="Shape 22"/>
          <p:cNvSpPr txBox="1"/>
          <p:nvPr/>
        </p:nvSpPr>
        <p:spPr>
          <a:xfrm>
            <a:off x="1078992" y="256032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Cartera</a:t>
            </a:r>
            <a:endParaRPr lang="es-ES" sz="1100" dirty="0"/>
          </a:p>
        </p:txBody>
      </p:sp>
      <p:sp>
        <p:nvSpPr>
          <p:cNvPr id="23" name="Shape 23"/>
          <p:cNvSpPr/>
          <p:nvPr/>
        </p:nvSpPr>
        <p:spPr>
          <a:xfrm>
            <a:off x="2807208" y="26517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24" name="Shape 24"/>
          <p:cNvSpPr txBox="1"/>
          <p:nvPr/>
        </p:nvSpPr>
        <p:spPr>
          <a:xfrm>
            <a:off x="4425696" y="2560320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Pedidos con pendiente, stock y cargas asociadas; cierre de pedidos (saldado)</a:t>
            </a:r>
            <a:endParaRPr lang="es-ES" sz="900" dirty="0"/>
          </a:p>
        </p:txBody>
      </p:sp>
      <p:sp>
        <p:nvSpPr>
          <p:cNvPr id="25" name="Shape 25"/>
          <p:cNvSpPr txBox="1"/>
          <p:nvPr/>
        </p:nvSpPr>
        <p:spPr>
          <a:xfrm>
            <a:off x="9153144" y="2560320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26" name="Shape 26"/>
          <p:cNvSpPr/>
          <p:nvPr/>
        </p:nvSpPr>
        <p:spPr>
          <a:xfrm>
            <a:off x="548640" y="3054096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7" name="Shape 27"/>
          <p:cNvSpPr/>
          <p:nvPr/>
        </p:nvSpPr>
        <p:spPr>
          <a:xfrm>
            <a:off x="685800" y="3136392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4</a:t>
            </a:r>
            <a:endParaRPr lang="es-ES" sz="900" dirty="0"/>
          </a:p>
        </p:txBody>
      </p:sp>
      <p:sp>
        <p:nvSpPr>
          <p:cNvPr id="28" name="Shape 28"/>
          <p:cNvSpPr txBox="1"/>
          <p:nvPr/>
        </p:nvSpPr>
        <p:spPr>
          <a:xfrm>
            <a:off x="1078992" y="3054096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Necesidades</a:t>
            </a:r>
            <a:endParaRPr lang="es-ES" sz="1100" dirty="0"/>
          </a:p>
        </p:txBody>
      </p:sp>
      <p:sp>
        <p:nvSpPr>
          <p:cNvPr id="29" name="Shape 29"/>
          <p:cNvSpPr/>
          <p:nvPr/>
        </p:nvSpPr>
        <p:spPr>
          <a:xfrm>
            <a:off x="2807208" y="314553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30" name="Shape 30"/>
          <p:cNvSpPr txBox="1"/>
          <p:nvPr/>
        </p:nvSpPr>
        <p:spPr>
          <a:xfrm>
            <a:off x="4425696" y="3054096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MRP en SAP montado desde cero e integrado con GIO: producto terminado y bobina</a:t>
            </a:r>
            <a:endParaRPr lang="es-ES" sz="900" dirty="0"/>
          </a:p>
        </p:txBody>
      </p:sp>
      <p:sp>
        <p:nvSpPr>
          <p:cNvPr id="31" name="Shape 31"/>
          <p:cNvSpPr txBox="1"/>
          <p:nvPr/>
        </p:nvSpPr>
        <p:spPr>
          <a:xfrm>
            <a:off x="9153144" y="3054096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32" name="Shape 32"/>
          <p:cNvSpPr/>
          <p:nvPr/>
        </p:nvSpPr>
        <p:spPr>
          <a:xfrm>
            <a:off x="548640" y="3547872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33" name="Shape 33"/>
          <p:cNvSpPr/>
          <p:nvPr/>
        </p:nvSpPr>
        <p:spPr>
          <a:xfrm>
            <a:off x="9015984" y="3547872"/>
            <a:ext cx="2624328" cy="438912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34" name="Shape 34"/>
          <p:cNvSpPr/>
          <p:nvPr/>
        </p:nvSpPr>
        <p:spPr>
          <a:xfrm>
            <a:off x="685800" y="3630168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5</a:t>
            </a:r>
            <a:endParaRPr lang="es-ES" sz="900" dirty="0"/>
          </a:p>
        </p:txBody>
      </p:sp>
      <p:sp>
        <p:nvSpPr>
          <p:cNvPr id="35" name="Shape 35"/>
          <p:cNvSpPr txBox="1"/>
          <p:nvPr/>
        </p:nvSpPr>
        <p:spPr>
          <a:xfrm>
            <a:off x="1078992" y="354787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Capacidad</a:t>
            </a:r>
            <a:endParaRPr lang="es-ES" sz="1100" dirty="0"/>
          </a:p>
        </p:txBody>
      </p:sp>
      <p:sp>
        <p:nvSpPr>
          <p:cNvPr id="36" name="Shape 36"/>
          <p:cNvSpPr/>
          <p:nvPr/>
        </p:nvSpPr>
        <p:spPr>
          <a:xfrm>
            <a:off x="2807208" y="363931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8C9EB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244C5A"/>
                </a:solidFill>
                <a:latin typeface="Montserrat"/>
                <a:cs typeface="Montserrat"/>
              </a:rPr>
              <a:t>PRÓXIMO PASO</a:t>
            </a:r>
            <a:endParaRPr lang="es-ES" sz="750" dirty="0"/>
          </a:p>
        </p:txBody>
      </p:sp>
      <p:sp>
        <p:nvSpPr>
          <p:cNvPr id="37" name="Shape 37"/>
          <p:cNvSpPr txBox="1"/>
          <p:nvPr/>
        </p:nvSpPr>
        <p:spPr>
          <a:xfrm>
            <a:off x="4425696" y="3547872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Base preparada: calendario real y velocidades de extrusión</a:t>
            </a:r>
            <a:endParaRPr lang="es-ES" sz="900" dirty="0"/>
          </a:p>
        </p:txBody>
      </p:sp>
      <p:sp>
        <p:nvSpPr>
          <p:cNvPr id="38" name="Shape 38"/>
          <p:cNvSpPr txBox="1"/>
          <p:nvPr/>
        </p:nvSpPr>
        <p:spPr>
          <a:xfrm>
            <a:off x="9153144" y="3547872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Carga de capacidad: % de saturación por línea</a:t>
            </a:r>
            <a:endParaRPr lang="es-ES" sz="900" dirty="0"/>
          </a:p>
        </p:txBody>
      </p:sp>
      <p:sp>
        <p:nvSpPr>
          <p:cNvPr id="39" name="Shape 39"/>
          <p:cNvSpPr/>
          <p:nvPr/>
        </p:nvSpPr>
        <p:spPr>
          <a:xfrm>
            <a:off x="548640" y="4041648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0" name="Shape 40"/>
          <p:cNvSpPr/>
          <p:nvPr/>
        </p:nvSpPr>
        <p:spPr>
          <a:xfrm>
            <a:off x="685800" y="4123944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6</a:t>
            </a:r>
            <a:endParaRPr lang="es-ES" sz="900" dirty="0"/>
          </a:p>
        </p:txBody>
      </p:sp>
      <p:sp>
        <p:nvSpPr>
          <p:cNvPr id="41" name="Shape 41"/>
          <p:cNvSpPr txBox="1"/>
          <p:nvPr/>
        </p:nvSpPr>
        <p:spPr>
          <a:xfrm>
            <a:off x="1078992" y="404164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Programación</a:t>
            </a:r>
            <a:endParaRPr lang="es-ES" sz="1100" dirty="0"/>
          </a:p>
        </p:txBody>
      </p:sp>
      <p:sp>
        <p:nvSpPr>
          <p:cNvPr id="42" name="Shape 42"/>
          <p:cNvSpPr/>
          <p:nvPr/>
        </p:nvSpPr>
        <p:spPr>
          <a:xfrm>
            <a:off x="2807208" y="41330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43" name="Shape 43"/>
          <p:cNvSpPr txBox="1"/>
          <p:nvPr/>
        </p:nvSpPr>
        <p:spPr>
          <a:xfrm>
            <a:off x="4425696" y="4041648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Ciclos de termoformado (por molde) y de extrusión (por calidad), con cronograma de cambios</a:t>
            </a:r>
            <a:endParaRPr lang="es-ES" sz="900" dirty="0"/>
          </a:p>
        </p:txBody>
      </p:sp>
      <p:sp>
        <p:nvSpPr>
          <p:cNvPr id="44" name="Shape 44"/>
          <p:cNvSpPr txBox="1"/>
          <p:nvPr/>
        </p:nvSpPr>
        <p:spPr>
          <a:xfrm>
            <a:off x="9153144" y="4041648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45" name="Shape 45"/>
          <p:cNvSpPr/>
          <p:nvPr/>
        </p:nvSpPr>
        <p:spPr>
          <a:xfrm>
            <a:off x="548640" y="4535424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6" name="Shape 46"/>
          <p:cNvSpPr/>
          <p:nvPr/>
        </p:nvSpPr>
        <p:spPr>
          <a:xfrm>
            <a:off x="9015984" y="4535424"/>
            <a:ext cx="2624328" cy="438912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7" name="Shape 47"/>
          <p:cNvSpPr/>
          <p:nvPr/>
        </p:nvSpPr>
        <p:spPr>
          <a:xfrm>
            <a:off x="685800" y="4617720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7</a:t>
            </a:r>
            <a:endParaRPr lang="es-ES" sz="900" dirty="0"/>
          </a:p>
        </p:txBody>
      </p:sp>
      <p:sp>
        <p:nvSpPr>
          <p:cNvPr id="48" name="Shape 48"/>
          <p:cNvSpPr txBox="1"/>
          <p:nvPr/>
        </p:nvSpPr>
        <p:spPr>
          <a:xfrm>
            <a:off x="1078992" y="4535424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Entrega</a:t>
            </a:r>
            <a:endParaRPr lang="es-ES" sz="1100" dirty="0"/>
          </a:p>
        </p:txBody>
      </p:sp>
      <p:sp>
        <p:nvSpPr>
          <p:cNvPr id="49" name="Shape 49"/>
          <p:cNvSpPr/>
          <p:nvPr/>
        </p:nvSpPr>
        <p:spPr>
          <a:xfrm>
            <a:off x="2807208" y="462686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PARCIAL</a:t>
            </a:r>
            <a:endParaRPr lang="es-ES" sz="750" dirty="0"/>
          </a:p>
        </p:txBody>
      </p:sp>
      <p:sp>
        <p:nvSpPr>
          <p:cNvPr id="50" name="Shape 50"/>
          <p:cNvSpPr txBox="1"/>
          <p:nvPr/>
        </p:nvSpPr>
        <p:spPr>
          <a:xfrm>
            <a:off x="4425696" y="4535424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Consulta de plazos (CTP) sobre los huecos de cada ciclo</a:t>
            </a:r>
            <a:endParaRPr lang="es-ES" sz="900" dirty="0"/>
          </a:p>
        </p:txBody>
      </p:sp>
      <p:sp>
        <p:nvSpPr>
          <p:cNvPr id="51" name="Shape 51"/>
          <p:cNvSpPr txBox="1"/>
          <p:nvPr/>
        </p:nvSpPr>
        <p:spPr>
          <a:xfrm>
            <a:off x="9153144" y="453542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Reservas de stock y fecha de disponibilidad por pedido</a:t>
            </a:r>
            <a:endParaRPr lang="es-ES" sz="900" dirty="0"/>
          </a:p>
        </p:txBody>
      </p:sp>
      <p:sp>
        <p:nvSpPr>
          <p:cNvPr id="52" name="Shape 52"/>
          <p:cNvSpPr/>
          <p:nvPr/>
        </p:nvSpPr>
        <p:spPr>
          <a:xfrm>
            <a:off x="548640" y="5029200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3" name="Shape 53"/>
          <p:cNvSpPr/>
          <p:nvPr/>
        </p:nvSpPr>
        <p:spPr>
          <a:xfrm>
            <a:off x="9015984" y="5029200"/>
            <a:ext cx="2624328" cy="438912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4" name="Shape 54"/>
          <p:cNvSpPr/>
          <p:nvPr/>
        </p:nvSpPr>
        <p:spPr>
          <a:xfrm>
            <a:off x="685800" y="5111496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8</a:t>
            </a:r>
            <a:endParaRPr lang="es-ES" sz="900" dirty="0"/>
          </a:p>
        </p:txBody>
      </p:sp>
      <p:sp>
        <p:nvSpPr>
          <p:cNvPr id="55" name="Shape 55"/>
          <p:cNvSpPr txBox="1"/>
          <p:nvPr/>
        </p:nvSpPr>
        <p:spPr>
          <a:xfrm>
            <a:off x="1078992" y="50292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Control</a:t>
            </a:r>
            <a:endParaRPr lang="es-ES" sz="1100" dirty="0"/>
          </a:p>
        </p:txBody>
      </p:sp>
      <p:sp>
        <p:nvSpPr>
          <p:cNvPr id="56" name="Shape 56"/>
          <p:cNvSpPr/>
          <p:nvPr/>
        </p:nvSpPr>
        <p:spPr>
          <a:xfrm>
            <a:off x="2807208" y="51206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98C9EB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244C5A"/>
                </a:solidFill>
                <a:latin typeface="Montserrat"/>
                <a:cs typeface="Montserrat"/>
              </a:rPr>
              <a:t>PRÓXIMO PASO</a:t>
            </a:r>
            <a:endParaRPr lang="es-ES" sz="750" dirty="0"/>
          </a:p>
        </p:txBody>
      </p:sp>
      <p:sp>
        <p:nvSpPr>
          <p:cNvPr id="57" name="Shape 57"/>
          <p:cNvSpPr txBox="1"/>
          <p:nvPr/>
        </p:nvSpPr>
        <p:spPr>
          <a:xfrm>
            <a:off x="4425696" y="5029200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Pedidos cerrados y cargas trazadas por pedido</a:t>
            </a:r>
            <a:endParaRPr lang="es-ES" sz="900" dirty="0"/>
          </a:p>
        </p:txBody>
      </p:sp>
      <p:sp>
        <p:nvSpPr>
          <p:cNvPr id="58" name="Shape 58"/>
          <p:cNvSpPr txBox="1"/>
          <p:nvPr/>
        </p:nvSpPr>
        <p:spPr>
          <a:xfrm>
            <a:off x="9153144" y="5029200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Balance de masas: consumo real vs. teórico</a:t>
            </a:r>
            <a:endParaRPr lang="es-ES" sz="900" dirty="0"/>
          </a:p>
        </p:txBody>
      </p:sp>
      <p:sp>
        <p:nvSpPr>
          <p:cNvPr id="59" name="Shape 59"/>
          <p:cNvSpPr/>
          <p:nvPr/>
        </p:nvSpPr>
        <p:spPr>
          <a:xfrm>
            <a:off x="9015984" y="5596128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8C9E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0" i="1" dirty="0">
                <a:solidFill>
                  <a:srgbClr val="244C5A"/>
                </a:solidFill>
                <a:latin typeface="Montserrat"/>
                <a:cs typeface="Montserrat"/>
              </a:rPr>
              <a:t>Próximos pasos detallados en </a:t>
            </a:r>
            <a:r>
              <a:rPr lang="es-ES" sz="900" b="1" i="0" dirty="0">
                <a:solidFill>
                  <a:srgbClr val="244C5A"/>
                </a:solidFill>
                <a:latin typeface="Montserrat"/>
                <a:cs typeface="Montserrat"/>
              </a:rPr>
              <a:t>Anexo</a:t>
            </a:r>
            <a:endParaRPr lang="es-ES" sz="900" dirty="0"/>
          </a:p>
        </p:txBody>
      </p:sp>
      <p:sp>
        <p:nvSpPr>
          <p:cNvPr id="60" name="Shape 60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4</a:t>
            </a:r>
            <a:endParaRPr lang="es-E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29984" cy="6858000"/>
          </a:xfrm>
          <a:prstGeom prst="rect">
            <a:avLst/>
          </a:prstGeom>
          <a:solidFill>
            <a:srgbClr val="98C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29984" y="0"/>
            <a:ext cx="4526280" cy="6858000"/>
          </a:xfrm>
          <a:prstGeom prst="rect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56264" y="0"/>
            <a:ext cx="941832" cy="6858000"/>
          </a:xfrm>
          <a:prstGeom prst="rect">
            <a:avLst/>
          </a:prstGeom>
          <a:solidFill>
            <a:srgbClr val="D2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97280"/>
            <a:ext cx="2145550" cy="93268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" y="2788920"/>
            <a:ext cx="713232" cy="713232"/>
          </a:xfrm>
          <a:prstGeom prst="ellipse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  <a:buNone/>
            </a:pPr>
            <a:r>
              <a:rPr sz="2000" b="1" i="0">
                <a:solidFill>
                  <a:srgbClr val="98C9EB"/>
                </a:solidFill>
                <a:latin typeface="Montserra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67328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00263A"/>
                </a:solidFill>
                <a:latin typeface="Montserrat"/>
              </a:rPr>
              <a:t>Ondupack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81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350" b="0" i="1">
                <a:solidFill>
                  <a:srgbClr val="244C5A"/>
                </a:solidFill>
                <a:latin typeface="Montserrat"/>
              </a:rPr>
              <a:t>Cajas de cartón · onduladora y converting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Ondupack · Matriz de procesos</a:t>
            </a:r>
          </a:p>
        </p:txBody>
      </p:sp>
      <p:sp>
        <p:nvSpPr>
          <p:cNvPr id="3" name="Shape 3"/>
          <p:cNvSpPr/>
          <p:nvPr/>
        </p:nvSpPr>
        <p:spPr>
          <a:xfrm>
            <a:off x="73609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850" b="1" i="0" spc="40" dirty="0">
                <a:solidFill>
                  <a:srgbClr val="00263A"/>
                </a:solidFill>
                <a:latin typeface="Montserrat"/>
                <a:cs typeface="Montserrat"/>
              </a:rPr>
              <a:t>5 DE 8 IMPLANTADOS</a:t>
            </a:r>
            <a:endParaRPr lang="es-ES" sz="8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28016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PROCESO</a:t>
            </a:r>
            <a:endParaRPr lang="es-ES" sz="850" dirty="0"/>
          </a:p>
        </p:txBody>
      </p:sp>
      <p:sp>
        <p:nvSpPr>
          <p:cNvPr id="5" name="Shape 5"/>
          <p:cNvSpPr txBox="1"/>
          <p:nvPr/>
        </p:nvSpPr>
        <p:spPr>
          <a:xfrm>
            <a:off x="2807208" y="12801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ESTADO</a:t>
            </a:r>
            <a:endParaRPr lang="es-ES" sz="850" dirty="0"/>
          </a:p>
        </p:txBody>
      </p:sp>
      <p:sp>
        <p:nvSpPr>
          <p:cNvPr id="6" name="Shape 6"/>
          <p:cNvSpPr txBox="1"/>
          <p:nvPr/>
        </p:nvSpPr>
        <p:spPr>
          <a:xfrm>
            <a:off x="4425696" y="1280160"/>
            <a:ext cx="4617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TENEMOS HOY</a:t>
            </a:r>
            <a:endParaRPr lang="es-ES" sz="850" dirty="0"/>
          </a:p>
        </p:txBody>
      </p:sp>
      <p:sp>
        <p:nvSpPr>
          <p:cNvPr id="7" name="Shape 7"/>
          <p:cNvSpPr txBox="1"/>
          <p:nvPr/>
        </p:nvSpPr>
        <p:spPr>
          <a:xfrm>
            <a:off x="9153144" y="1280160"/>
            <a:ext cx="262432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SIGUIENTE PASO</a:t>
            </a:r>
            <a:endParaRPr lang="es-ES" sz="850" dirty="0"/>
          </a:p>
        </p:txBody>
      </p:sp>
      <p:sp>
        <p:nvSpPr>
          <p:cNvPr id="8" name="Shape 8"/>
          <p:cNvSpPr/>
          <p:nvPr/>
        </p:nvSpPr>
        <p:spPr>
          <a:xfrm>
            <a:off x="548640" y="1572768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9" name="Shape 9"/>
          <p:cNvSpPr/>
          <p:nvPr/>
        </p:nvSpPr>
        <p:spPr>
          <a:xfrm>
            <a:off x="685800" y="1655064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1</a:t>
            </a:r>
            <a:endParaRPr lang="es-ES" sz="900" dirty="0"/>
          </a:p>
        </p:txBody>
      </p:sp>
      <p:sp>
        <p:nvSpPr>
          <p:cNvPr id="10" name="Shape 10"/>
          <p:cNvSpPr txBox="1"/>
          <p:nvPr/>
        </p:nvSpPr>
        <p:spPr>
          <a:xfrm>
            <a:off x="1078992" y="157276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Dato maestro</a:t>
            </a:r>
            <a:endParaRPr lang="es-ES" sz="1100" dirty="0"/>
          </a:p>
        </p:txBody>
      </p:sp>
      <p:sp>
        <p:nvSpPr>
          <p:cNvPr id="11" name="Shape 11"/>
          <p:cNvSpPr/>
          <p:nvPr/>
        </p:nvSpPr>
        <p:spPr>
          <a:xfrm>
            <a:off x="2807208" y="16642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12" name="Shape 12"/>
          <p:cNvSpPr txBox="1"/>
          <p:nvPr/>
        </p:nvSpPr>
        <p:spPr>
          <a:xfrm>
            <a:off x="4425696" y="1572768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Velocidades objetivo de onduladora y converting, con propuesta según las reales; calendario de turnos, días y paradas por máquina</a:t>
            </a:r>
            <a:endParaRPr lang="es-ES" sz="900" dirty="0"/>
          </a:p>
        </p:txBody>
      </p:sp>
      <p:sp>
        <p:nvSpPr>
          <p:cNvPr id="13" name="Shape 13"/>
          <p:cNvSpPr txBox="1"/>
          <p:nvPr/>
        </p:nvSpPr>
        <p:spPr>
          <a:xfrm>
            <a:off x="9153144" y="1572768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14" name="Shape 14"/>
          <p:cNvSpPr/>
          <p:nvPr/>
        </p:nvSpPr>
        <p:spPr>
          <a:xfrm>
            <a:off x="548640" y="2066544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5" name="Shape 15"/>
          <p:cNvSpPr/>
          <p:nvPr/>
        </p:nvSpPr>
        <p:spPr>
          <a:xfrm>
            <a:off x="685800" y="2148840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2</a:t>
            </a:r>
            <a:endParaRPr lang="es-ES" sz="900" dirty="0"/>
          </a:p>
        </p:txBody>
      </p:sp>
      <p:sp>
        <p:nvSpPr>
          <p:cNvPr id="16" name="Shape 16"/>
          <p:cNvSpPr txBox="1"/>
          <p:nvPr/>
        </p:nvSpPr>
        <p:spPr>
          <a:xfrm>
            <a:off x="1078992" y="2066544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Demanda</a:t>
            </a:r>
            <a:endParaRPr lang="es-ES" sz="1100" dirty="0"/>
          </a:p>
        </p:txBody>
      </p:sp>
      <p:sp>
        <p:nvSpPr>
          <p:cNvPr id="17" name="Shape 17"/>
          <p:cNvSpPr/>
          <p:nvPr/>
        </p:nvSpPr>
        <p:spPr>
          <a:xfrm>
            <a:off x="2807208" y="215798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F7F8"/>
          </a:solidFill>
          <a:ln w="15875">
            <a:solidFill>
              <a:srgbClr val="D7DFE5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9AA9B4"/>
                </a:solidFill>
                <a:latin typeface="Montserrat"/>
                <a:cs typeface="Montserrat"/>
              </a:rPr>
              <a:t>SIN ABORDAR</a:t>
            </a:r>
            <a:endParaRPr lang="es-ES" sz="750" dirty="0"/>
          </a:p>
        </p:txBody>
      </p:sp>
      <p:sp>
        <p:nvSpPr>
          <p:cNvPr id="18" name="Shape 18"/>
          <p:cNvSpPr txBox="1"/>
          <p:nvPr/>
        </p:nvSpPr>
        <p:spPr>
          <a:xfrm>
            <a:off x="4425696" y="2066544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Se planifica contra los pedidos de cartera; sin desarrollos de previsión</a:t>
            </a:r>
            <a:endParaRPr lang="es-ES" sz="900" dirty="0"/>
          </a:p>
        </p:txBody>
      </p:sp>
      <p:sp>
        <p:nvSpPr>
          <p:cNvPr id="19" name="Shape 19"/>
          <p:cNvSpPr txBox="1"/>
          <p:nvPr/>
        </p:nvSpPr>
        <p:spPr>
          <a:xfrm>
            <a:off x="9153144" y="206654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1" dirty="0">
                <a:solidFill>
                  <a:srgbClr val="9AA9B4"/>
                </a:solidFill>
                <a:latin typeface="Montserrat"/>
                <a:cs typeface="Montserrat"/>
              </a:rPr>
              <a:t>Por definir</a:t>
            </a:r>
            <a:endParaRPr lang="es-ES" sz="900" dirty="0"/>
          </a:p>
        </p:txBody>
      </p:sp>
      <p:sp>
        <p:nvSpPr>
          <p:cNvPr id="20" name="Shape 20"/>
          <p:cNvSpPr/>
          <p:nvPr/>
        </p:nvSpPr>
        <p:spPr>
          <a:xfrm>
            <a:off x="548640" y="2560320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1" name="Shape 21"/>
          <p:cNvSpPr/>
          <p:nvPr/>
        </p:nvSpPr>
        <p:spPr>
          <a:xfrm>
            <a:off x="685800" y="2642616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3</a:t>
            </a:r>
            <a:endParaRPr lang="es-ES" sz="900" dirty="0"/>
          </a:p>
        </p:txBody>
      </p:sp>
      <p:sp>
        <p:nvSpPr>
          <p:cNvPr id="22" name="Shape 22"/>
          <p:cNvSpPr txBox="1"/>
          <p:nvPr/>
        </p:nvSpPr>
        <p:spPr>
          <a:xfrm>
            <a:off x="1078992" y="256032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Cartera</a:t>
            </a:r>
            <a:endParaRPr lang="es-ES" sz="1100" dirty="0"/>
          </a:p>
        </p:txBody>
      </p:sp>
      <p:sp>
        <p:nvSpPr>
          <p:cNvPr id="23" name="Shape 23"/>
          <p:cNvSpPr/>
          <p:nvPr/>
        </p:nvSpPr>
        <p:spPr>
          <a:xfrm>
            <a:off x="2807208" y="26517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24" name="Shape 24"/>
          <p:cNvSpPr txBox="1"/>
          <p:nvPr/>
        </p:nvSpPr>
        <p:spPr>
          <a:xfrm>
            <a:off x="4425696" y="2560320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dirty="0" err="1">
                <a:solidFill>
                  <a:srgbClr val="00263A"/>
                </a:solidFill>
                <a:latin typeface="Montserrat"/>
                <a:cs typeface="Montserrat"/>
              </a:rPr>
              <a:t>Visualización</a:t>
            </a:r>
            <a:r>
              <a:rPr lang="es-ES" sz="900" dirty="0">
                <a:solidFill>
                  <a:srgbClr val="00263A"/>
                </a:solidFill>
                <a:latin typeface="Montserrat"/>
                <a:cs typeface="Montserrat"/>
              </a:rPr>
              <a:t> </a:t>
            </a: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pedidos pendientes y selección hacia Combiplan, el pool de pedidos que combinan bien</a:t>
            </a:r>
            <a:endParaRPr lang="es-ES" sz="900" dirty="0"/>
          </a:p>
        </p:txBody>
      </p:sp>
      <p:sp>
        <p:nvSpPr>
          <p:cNvPr id="25" name="Shape 25"/>
          <p:cNvSpPr txBox="1"/>
          <p:nvPr/>
        </p:nvSpPr>
        <p:spPr>
          <a:xfrm>
            <a:off x="9153144" y="2560320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26" name="Shape 26"/>
          <p:cNvSpPr/>
          <p:nvPr/>
        </p:nvSpPr>
        <p:spPr>
          <a:xfrm>
            <a:off x="548640" y="3054096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7" name="Shape 27"/>
          <p:cNvSpPr/>
          <p:nvPr/>
        </p:nvSpPr>
        <p:spPr>
          <a:xfrm>
            <a:off x="685800" y="3136392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4</a:t>
            </a:r>
            <a:endParaRPr lang="es-ES" sz="900" dirty="0"/>
          </a:p>
        </p:txBody>
      </p:sp>
      <p:sp>
        <p:nvSpPr>
          <p:cNvPr id="28" name="Shape 28"/>
          <p:cNvSpPr txBox="1"/>
          <p:nvPr/>
        </p:nvSpPr>
        <p:spPr>
          <a:xfrm>
            <a:off x="1078992" y="3054096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Necesidades</a:t>
            </a:r>
            <a:endParaRPr lang="es-ES" sz="1100" dirty="0"/>
          </a:p>
        </p:txBody>
      </p:sp>
      <p:sp>
        <p:nvSpPr>
          <p:cNvPr id="29" name="Shape 29"/>
          <p:cNvSpPr/>
          <p:nvPr/>
        </p:nvSpPr>
        <p:spPr>
          <a:xfrm>
            <a:off x="2807208" y="314553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PARCIAL</a:t>
            </a:r>
            <a:endParaRPr lang="es-ES" sz="750" dirty="0"/>
          </a:p>
        </p:txBody>
      </p:sp>
      <p:sp>
        <p:nvSpPr>
          <p:cNvPr id="30" name="Shape 30"/>
          <p:cNvSpPr txBox="1"/>
          <p:nvPr/>
        </p:nvSpPr>
        <p:spPr>
          <a:xfrm>
            <a:off x="4425696" y="3054096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Faltas de cartón para converting detectadas en el control de producción, con su efecto en fechas. </a:t>
            </a: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Sin MRP plenamente funcional.</a:t>
            </a:r>
            <a:endParaRPr lang="es-ES" sz="900" dirty="0"/>
          </a:p>
        </p:txBody>
      </p:sp>
      <p:sp>
        <p:nvSpPr>
          <p:cNvPr id="31" name="Shape 31"/>
          <p:cNvSpPr txBox="1"/>
          <p:nvPr/>
        </p:nvSpPr>
        <p:spPr>
          <a:xfrm>
            <a:off x="9153144" y="3054096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1" dirty="0">
                <a:solidFill>
                  <a:srgbClr val="9AA9B4"/>
                </a:solidFill>
                <a:latin typeface="Montserrat"/>
                <a:cs typeface="Montserrat"/>
              </a:rPr>
              <a:t>Por definir</a:t>
            </a:r>
            <a:endParaRPr lang="es-ES" sz="900" dirty="0"/>
          </a:p>
        </p:txBody>
      </p:sp>
      <p:sp>
        <p:nvSpPr>
          <p:cNvPr id="32" name="Shape 32"/>
          <p:cNvSpPr/>
          <p:nvPr/>
        </p:nvSpPr>
        <p:spPr>
          <a:xfrm>
            <a:off x="548640" y="3547872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33" name="Shape 33"/>
          <p:cNvSpPr/>
          <p:nvPr/>
        </p:nvSpPr>
        <p:spPr>
          <a:xfrm>
            <a:off x="685800" y="3630168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5</a:t>
            </a:r>
            <a:endParaRPr lang="es-ES" sz="900" dirty="0"/>
          </a:p>
        </p:txBody>
      </p:sp>
      <p:sp>
        <p:nvSpPr>
          <p:cNvPr id="34" name="Shape 34"/>
          <p:cNvSpPr txBox="1"/>
          <p:nvPr/>
        </p:nvSpPr>
        <p:spPr>
          <a:xfrm>
            <a:off x="1078992" y="354787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Capacidad</a:t>
            </a:r>
            <a:endParaRPr lang="es-ES" sz="1100" dirty="0"/>
          </a:p>
        </p:txBody>
      </p:sp>
      <p:sp>
        <p:nvSpPr>
          <p:cNvPr id="35" name="Shape 35"/>
          <p:cNvSpPr/>
          <p:nvPr/>
        </p:nvSpPr>
        <p:spPr>
          <a:xfrm>
            <a:off x="2807208" y="363931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36" name="Shape 36"/>
          <p:cNvSpPr txBox="1"/>
          <p:nvPr/>
        </p:nvSpPr>
        <p:spPr>
          <a:xfrm>
            <a:off x="4425696" y="3547872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Carga diaria por máquina (lanzado y cartera) y saturación prevista de los almacenes de WIP y producto terminado</a:t>
            </a:r>
            <a:endParaRPr lang="es-ES" sz="900" dirty="0"/>
          </a:p>
        </p:txBody>
      </p:sp>
      <p:sp>
        <p:nvSpPr>
          <p:cNvPr id="37" name="Shape 37"/>
          <p:cNvSpPr txBox="1"/>
          <p:nvPr/>
        </p:nvSpPr>
        <p:spPr>
          <a:xfrm>
            <a:off x="9153144" y="3547872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38" name="Shape 38"/>
          <p:cNvSpPr/>
          <p:nvPr/>
        </p:nvSpPr>
        <p:spPr>
          <a:xfrm>
            <a:off x="548640" y="4041648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39" name="Shape 39"/>
          <p:cNvSpPr/>
          <p:nvPr/>
        </p:nvSpPr>
        <p:spPr>
          <a:xfrm>
            <a:off x="9015984" y="4041648"/>
            <a:ext cx="2624328" cy="438912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0" name="Shape 40"/>
          <p:cNvSpPr/>
          <p:nvPr/>
        </p:nvSpPr>
        <p:spPr>
          <a:xfrm>
            <a:off x="685800" y="4123944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6</a:t>
            </a:r>
            <a:endParaRPr lang="es-ES" sz="900" dirty="0"/>
          </a:p>
        </p:txBody>
      </p:sp>
      <p:sp>
        <p:nvSpPr>
          <p:cNvPr id="41" name="Shape 41"/>
          <p:cNvSpPr txBox="1"/>
          <p:nvPr/>
        </p:nvSpPr>
        <p:spPr>
          <a:xfrm>
            <a:off x="1078992" y="404164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Programación</a:t>
            </a:r>
            <a:endParaRPr lang="es-ES" sz="1100" dirty="0"/>
          </a:p>
        </p:txBody>
      </p:sp>
      <p:sp>
        <p:nvSpPr>
          <p:cNvPr id="43" name="Shape 43"/>
          <p:cNvSpPr txBox="1"/>
          <p:nvPr/>
        </p:nvSpPr>
        <p:spPr>
          <a:xfrm>
            <a:off x="4425696" y="4041648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Fechas de inicio y fin con velocidades y tiempos de cambio reales; combinación de pedidos en Combiplan</a:t>
            </a:r>
            <a:endParaRPr lang="es-ES" sz="900" dirty="0"/>
          </a:p>
        </p:txBody>
      </p:sp>
      <p:sp>
        <p:nvSpPr>
          <p:cNvPr id="44" name="Shape 44"/>
          <p:cNvSpPr txBox="1"/>
          <p:nvPr/>
        </p:nvSpPr>
        <p:spPr>
          <a:xfrm>
            <a:off x="9153144" y="4041648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Algoritmo de combinación automática (propuesta 2027)</a:t>
            </a:r>
            <a:endParaRPr lang="es-ES" sz="900" dirty="0"/>
          </a:p>
        </p:txBody>
      </p:sp>
      <p:sp>
        <p:nvSpPr>
          <p:cNvPr id="45" name="Shape 45"/>
          <p:cNvSpPr/>
          <p:nvPr/>
        </p:nvSpPr>
        <p:spPr>
          <a:xfrm>
            <a:off x="548640" y="4535424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6" name="Shape 46"/>
          <p:cNvSpPr/>
          <p:nvPr/>
        </p:nvSpPr>
        <p:spPr>
          <a:xfrm>
            <a:off x="685800" y="4617720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7</a:t>
            </a:r>
            <a:endParaRPr lang="es-ES" sz="900" dirty="0"/>
          </a:p>
        </p:txBody>
      </p:sp>
      <p:sp>
        <p:nvSpPr>
          <p:cNvPr id="47" name="Shape 47"/>
          <p:cNvSpPr txBox="1"/>
          <p:nvPr/>
        </p:nvSpPr>
        <p:spPr>
          <a:xfrm>
            <a:off x="1078992" y="4535424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Entrega</a:t>
            </a:r>
            <a:endParaRPr lang="es-ES" sz="1100" dirty="0"/>
          </a:p>
        </p:txBody>
      </p:sp>
      <p:sp>
        <p:nvSpPr>
          <p:cNvPr id="48" name="Shape 48"/>
          <p:cNvSpPr/>
          <p:nvPr/>
        </p:nvSpPr>
        <p:spPr>
          <a:xfrm>
            <a:off x="2807208" y="462686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49" name="Shape 49"/>
          <p:cNvSpPr txBox="1"/>
          <p:nvPr/>
        </p:nvSpPr>
        <p:spPr>
          <a:xfrm>
            <a:off x="4425696" y="4535424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Consulta de plazos sobre la carga de capacidad de cada máquina e integración de fechas a la carga</a:t>
            </a:r>
            <a:endParaRPr lang="es-ES" sz="900" dirty="0"/>
          </a:p>
        </p:txBody>
      </p:sp>
      <p:sp>
        <p:nvSpPr>
          <p:cNvPr id="50" name="Shape 50"/>
          <p:cNvSpPr txBox="1"/>
          <p:nvPr/>
        </p:nvSpPr>
        <p:spPr>
          <a:xfrm>
            <a:off x="9153144" y="4535424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51" name="Shape 51"/>
          <p:cNvSpPr/>
          <p:nvPr/>
        </p:nvSpPr>
        <p:spPr>
          <a:xfrm>
            <a:off x="548640" y="5029200"/>
            <a:ext cx="11091672" cy="438912"/>
          </a:xfrm>
          <a:prstGeom prst="roundRect">
            <a:avLst>
              <a:gd name="adj" fmla="val 125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2" name="Shape 52"/>
          <p:cNvSpPr/>
          <p:nvPr/>
        </p:nvSpPr>
        <p:spPr>
          <a:xfrm>
            <a:off x="685800" y="5111496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8</a:t>
            </a:r>
            <a:endParaRPr lang="es-ES" sz="900" dirty="0"/>
          </a:p>
        </p:txBody>
      </p:sp>
      <p:sp>
        <p:nvSpPr>
          <p:cNvPr id="53" name="Shape 53"/>
          <p:cNvSpPr txBox="1"/>
          <p:nvPr/>
        </p:nvSpPr>
        <p:spPr>
          <a:xfrm>
            <a:off x="1078992" y="50292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Control</a:t>
            </a:r>
            <a:endParaRPr lang="es-ES" sz="1100" dirty="0"/>
          </a:p>
        </p:txBody>
      </p:sp>
      <p:sp>
        <p:nvSpPr>
          <p:cNvPr id="54" name="Shape 54"/>
          <p:cNvSpPr/>
          <p:nvPr/>
        </p:nvSpPr>
        <p:spPr>
          <a:xfrm>
            <a:off x="2807208" y="51206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FFFFFF"/>
                </a:solidFill>
                <a:latin typeface="Montserrat"/>
                <a:cs typeface="Montserrat"/>
              </a:rPr>
              <a:t>IMPLANTADO</a:t>
            </a:r>
            <a:endParaRPr lang="es-ES" sz="750" dirty="0"/>
          </a:p>
        </p:txBody>
      </p:sp>
      <p:sp>
        <p:nvSpPr>
          <p:cNvPr id="55" name="Shape 55"/>
          <p:cNvSpPr txBox="1"/>
          <p:nvPr/>
        </p:nvSpPr>
        <p:spPr>
          <a:xfrm>
            <a:off x="4425696" y="5029200"/>
            <a:ext cx="4434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900" b="0" i="0" dirty="0">
                <a:solidFill>
                  <a:srgbClr val="00263A"/>
                </a:solidFill>
                <a:latin typeface="Montserrat"/>
                <a:cs typeface="Montserrat"/>
              </a:rPr>
              <a:t>OEE por máquina (disponibilidad, rendimiento y calidad), con propuestas según los valores reales</a:t>
            </a:r>
            <a:endParaRPr lang="es-ES" sz="900" dirty="0"/>
          </a:p>
        </p:txBody>
      </p:sp>
      <p:sp>
        <p:nvSpPr>
          <p:cNvPr id="56" name="Shape 56"/>
          <p:cNvSpPr txBox="1"/>
          <p:nvPr/>
        </p:nvSpPr>
        <p:spPr>
          <a:xfrm>
            <a:off x="9153144" y="5029200"/>
            <a:ext cx="239572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000" b="0" i="0" dirty="0">
                <a:solidFill>
                  <a:srgbClr val="9AA9B4"/>
                </a:solidFill>
                <a:latin typeface="Montserrat"/>
                <a:cs typeface="Montserrat"/>
              </a:rPr>
              <a:t>—</a:t>
            </a:r>
            <a:endParaRPr lang="es-ES" sz="1000" dirty="0"/>
          </a:p>
        </p:txBody>
      </p:sp>
      <p:sp>
        <p:nvSpPr>
          <p:cNvPr id="57" name="Shape 57"/>
          <p:cNvSpPr/>
          <p:nvPr/>
        </p:nvSpPr>
        <p:spPr>
          <a:xfrm>
            <a:off x="9015984" y="5596128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8C9E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0" i="1" dirty="0">
                <a:solidFill>
                  <a:srgbClr val="244C5A"/>
                </a:solidFill>
                <a:latin typeface="Montserrat"/>
                <a:cs typeface="Montserrat"/>
              </a:rPr>
              <a:t>Más detalle en </a:t>
            </a:r>
            <a:r>
              <a:rPr lang="es-ES" sz="900" b="1" i="0" dirty="0">
                <a:solidFill>
                  <a:srgbClr val="244C5A"/>
                </a:solidFill>
                <a:latin typeface="Montserrat"/>
                <a:cs typeface="Montserrat"/>
              </a:rPr>
              <a:t>Proyectos 2027</a:t>
            </a:r>
            <a:endParaRPr lang="es-ES" sz="900" dirty="0"/>
          </a:p>
        </p:txBody>
      </p:sp>
      <p:sp>
        <p:nvSpPr>
          <p:cNvPr id="58" name="Shape 58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6</a:t>
            </a:r>
            <a:endParaRPr lang="es-ES" sz="900" dirty="0"/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A221A704-F298-6B4E-69BC-B3F56339EC49}"/>
              </a:ext>
            </a:extLst>
          </p:cNvPr>
          <p:cNvSpPr/>
          <p:nvPr/>
        </p:nvSpPr>
        <p:spPr>
          <a:xfrm>
            <a:off x="2816352" y="41330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PARCIAL</a:t>
            </a:r>
            <a:endParaRPr lang="es-E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29984" cy="6858000"/>
          </a:xfrm>
          <a:prstGeom prst="rect">
            <a:avLst/>
          </a:prstGeom>
          <a:solidFill>
            <a:srgbClr val="98C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29984" y="0"/>
            <a:ext cx="4526280" cy="6858000"/>
          </a:xfrm>
          <a:prstGeom prst="rect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56264" y="0"/>
            <a:ext cx="941832" cy="6858000"/>
          </a:xfrm>
          <a:prstGeom prst="rect">
            <a:avLst/>
          </a:prstGeom>
          <a:solidFill>
            <a:srgbClr val="D2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97280"/>
            <a:ext cx="2145550" cy="93268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" y="2788920"/>
            <a:ext cx="713232" cy="713232"/>
          </a:xfrm>
          <a:prstGeom prst="ellipse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  <a:buNone/>
            </a:pPr>
            <a:r>
              <a:rPr sz="2000" b="1" i="0">
                <a:solidFill>
                  <a:srgbClr val="98C9EB"/>
                </a:solidFill>
                <a:latin typeface="Montserrat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67328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00263A"/>
                </a:solidFill>
                <a:latin typeface="Montserrat"/>
              </a:rPr>
              <a:t>MGT + PDA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81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350" b="0" i="1">
                <a:solidFill>
                  <a:srgbClr val="244C5A"/>
                </a:solidFill>
                <a:latin typeface="Montserrat"/>
              </a:rPr>
              <a:t>Papeleras · integración de necesidades con Ondupack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MGT + PDA · Integración </a:t>
            </a:r>
          </a:p>
        </p:txBody>
      </p:sp>
      <p:sp>
        <p:nvSpPr>
          <p:cNvPr id="3" name="Shape 3"/>
          <p:cNvSpPr/>
          <p:nvPr/>
        </p:nvSpPr>
        <p:spPr>
          <a:xfrm>
            <a:off x="73609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850" b="1" i="0" spc="40" dirty="0">
                <a:solidFill>
                  <a:srgbClr val="00263A"/>
                </a:solidFill>
                <a:latin typeface="Montserrat"/>
                <a:cs typeface="Montserrat"/>
              </a:rPr>
              <a:t>PROYECTO INTERCOMPANY</a:t>
            </a:r>
            <a:endParaRPr lang="es-ES" sz="850" dirty="0"/>
          </a:p>
        </p:txBody>
      </p:sp>
      <p:sp>
        <p:nvSpPr>
          <p:cNvPr id="4" name="Shape 4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0263A"/>
          </a:solidFill>
          <a:ln w="9525">
            <a:solidFill>
              <a:srgbClr val="00263A"/>
            </a:solidFill>
          </a:ln>
        </p:spPr>
        <p:txBody>
          <a:bodyPr wrap="square" lIns="274320" tIns="45720" rIns="274320" bIns="45720" rtlCol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1250" b="1" i="0" dirty="0">
                <a:solidFill>
                  <a:srgbClr val="98C9EB"/>
                </a:solidFill>
                <a:latin typeface="Montserrat"/>
                <a:cs typeface="Montserrat"/>
              </a:rPr>
              <a:t>Objetivo:  </a:t>
            </a:r>
            <a:r>
              <a:rPr lang="es-ES" sz="1250" b="1" i="0" dirty="0">
                <a:solidFill>
                  <a:srgbClr val="FFFFFF"/>
                </a:solidFill>
                <a:latin typeface="Montserrat"/>
                <a:cs typeface="Montserrat"/>
              </a:rPr>
              <a:t>un sistema pull para que Ondupack Almendralejo y Navalmoral no rompan stock en sus referencias planificadas, abastecidas por MGT y PDA.</a:t>
            </a:r>
            <a:endParaRPr lang="es-ES" sz="1250" dirty="0"/>
          </a:p>
        </p:txBody>
      </p:sp>
      <p:sp>
        <p:nvSpPr>
          <p:cNvPr id="5" name="Shape 5"/>
          <p:cNvSpPr txBox="1"/>
          <p:nvPr/>
        </p:nvSpPr>
        <p:spPr>
          <a:xfrm>
            <a:off x="548640" y="221284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CARTONERAS · CONSUMEN PAPEL</a:t>
            </a:r>
            <a:endParaRPr lang="es-ES" sz="850" dirty="0"/>
          </a:p>
        </p:txBody>
      </p:sp>
      <p:sp>
        <p:nvSpPr>
          <p:cNvPr id="6" name="Shape 6"/>
          <p:cNvSpPr txBox="1"/>
          <p:nvPr/>
        </p:nvSpPr>
        <p:spPr>
          <a:xfrm>
            <a:off x="8805672" y="221284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850" b="1" i="0" spc="120" dirty="0">
                <a:solidFill>
                  <a:srgbClr val="244C5A"/>
                </a:solidFill>
                <a:latin typeface="Montserrat"/>
                <a:cs typeface="Montserrat"/>
              </a:rPr>
              <a:t>PAPELERAS · SUMINISTRAN</a:t>
            </a:r>
            <a:endParaRPr lang="es-ES" sz="850" dirty="0"/>
          </a:p>
        </p:txBody>
      </p:sp>
      <p:sp>
        <p:nvSpPr>
          <p:cNvPr id="7" name="Shape 7"/>
          <p:cNvSpPr/>
          <p:nvPr/>
        </p:nvSpPr>
        <p:spPr>
          <a:xfrm>
            <a:off x="548640" y="2487168"/>
            <a:ext cx="2834640" cy="685800"/>
          </a:xfrm>
          <a:prstGeom prst="roundRect">
            <a:avLst>
              <a:gd name="adj" fmla="val 10666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8" name="Shape 8"/>
          <p:cNvSpPr/>
          <p:nvPr/>
        </p:nvSpPr>
        <p:spPr>
          <a:xfrm>
            <a:off x="685800" y="2610612"/>
            <a:ext cx="438912" cy="43891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9" name="Icono 9" descr="Icono boxop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720340"/>
            <a:ext cx="219456" cy="219456"/>
          </a:xfrm>
          <a:prstGeom prst="rect">
            <a:avLst/>
          </a:prstGeom>
        </p:spPr>
      </p:pic>
      <p:sp>
        <p:nvSpPr>
          <p:cNvPr id="10" name="Shape 10"/>
          <p:cNvSpPr txBox="1"/>
          <p:nvPr/>
        </p:nvSpPr>
        <p:spPr>
          <a:xfrm>
            <a:off x="1261872" y="2596896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50" b="1" i="0" dirty="0">
                <a:solidFill>
                  <a:srgbClr val="00263A"/>
                </a:solidFill>
                <a:latin typeface="Montserrat"/>
                <a:cs typeface="Montserrat"/>
              </a:rPr>
              <a:t>Ondupack Almendralejo</a:t>
            </a:r>
            <a:endParaRPr lang="es-ES" sz="1150" dirty="0"/>
          </a:p>
        </p:txBody>
      </p:sp>
      <p:sp>
        <p:nvSpPr>
          <p:cNvPr id="11" name="Shape 11"/>
          <p:cNvSpPr txBox="1"/>
          <p:nvPr/>
        </p:nvSpPr>
        <p:spPr>
          <a:xfrm>
            <a:off x="1261872" y="28712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Cartonera</a:t>
            </a:r>
            <a:endParaRPr lang="es-ES" sz="850" dirty="0"/>
          </a:p>
        </p:txBody>
      </p:sp>
      <p:sp>
        <p:nvSpPr>
          <p:cNvPr id="12" name="Shape 12"/>
          <p:cNvSpPr/>
          <p:nvPr/>
        </p:nvSpPr>
        <p:spPr>
          <a:xfrm>
            <a:off x="548640" y="3310128"/>
            <a:ext cx="2834640" cy="685800"/>
          </a:xfrm>
          <a:prstGeom prst="roundRect">
            <a:avLst>
              <a:gd name="adj" fmla="val 10666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3" name="Shape 13"/>
          <p:cNvSpPr/>
          <p:nvPr/>
        </p:nvSpPr>
        <p:spPr>
          <a:xfrm>
            <a:off x="685800" y="3433572"/>
            <a:ext cx="438912" cy="43891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14" name="Icono 14" descr="Icono boxop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543300"/>
            <a:ext cx="219456" cy="219456"/>
          </a:xfrm>
          <a:prstGeom prst="rect">
            <a:avLst/>
          </a:prstGeom>
        </p:spPr>
      </p:pic>
      <p:sp>
        <p:nvSpPr>
          <p:cNvPr id="15" name="Shape 15"/>
          <p:cNvSpPr txBox="1"/>
          <p:nvPr/>
        </p:nvSpPr>
        <p:spPr>
          <a:xfrm>
            <a:off x="1261872" y="3419856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50" b="1" i="0" dirty="0">
                <a:solidFill>
                  <a:srgbClr val="00263A"/>
                </a:solidFill>
                <a:latin typeface="Montserrat"/>
                <a:cs typeface="Montserrat"/>
              </a:rPr>
              <a:t>Ondupack Navalmoral</a:t>
            </a:r>
            <a:endParaRPr lang="es-ES" sz="1150" dirty="0"/>
          </a:p>
        </p:txBody>
      </p:sp>
      <p:sp>
        <p:nvSpPr>
          <p:cNvPr id="16" name="Shape 16"/>
          <p:cNvSpPr txBox="1"/>
          <p:nvPr/>
        </p:nvSpPr>
        <p:spPr>
          <a:xfrm>
            <a:off x="1261872" y="369417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Cartonera</a:t>
            </a:r>
            <a:endParaRPr lang="es-ES" sz="850" dirty="0"/>
          </a:p>
        </p:txBody>
      </p:sp>
      <p:sp>
        <p:nvSpPr>
          <p:cNvPr id="17" name="Shape 17"/>
          <p:cNvSpPr/>
          <p:nvPr/>
        </p:nvSpPr>
        <p:spPr>
          <a:xfrm>
            <a:off x="8805672" y="2487168"/>
            <a:ext cx="2834640" cy="685800"/>
          </a:xfrm>
          <a:prstGeom prst="roundRect">
            <a:avLst>
              <a:gd name="adj" fmla="val 10666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8" name="Shape 18"/>
          <p:cNvSpPr/>
          <p:nvPr/>
        </p:nvSpPr>
        <p:spPr>
          <a:xfrm>
            <a:off x="8942832" y="2610612"/>
            <a:ext cx="438912" cy="43891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19" name="Icono 19" descr="Icono indus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720340"/>
            <a:ext cx="219456" cy="219456"/>
          </a:xfrm>
          <a:prstGeom prst="rect">
            <a:avLst/>
          </a:prstGeom>
        </p:spPr>
      </p:pic>
      <p:sp>
        <p:nvSpPr>
          <p:cNvPr id="20" name="Shape 20"/>
          <p:cNvSpPr txBox="1"/>
          <p:nvPr/>
        </p:nvSpPr>
        <p:spPr>
          <a:xfrm>
            <a:off x="9518904" y="2596896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50" b="1" i="0" dirty="0">
                <a:solidFill>
                  <a:srgbClr val="00263A"/>
                </a:solidFill>
                <a:latin typeface="Montserrat"/>
                <a:cs typeface="Montserrat"/>
              </a:rPr>
              <a:t>MGT</a:t>
            </a:r>
            <a:endParaRPr lang="es-ES" sz="1150" dirty="0"/>
          </a:p>
        </p:txBody>
      </p:sp>
      <p:sp>
        <p:nvSpPr>
          <p:cNvPr id="21" name="Shape 21"/>
          <p:cNvSpPr txBox="1"/>
          <p:nvPr/>
        </p:nvSpPr>
        <p:spPr>
          <a:xfrm>
            <a:off x="9518904" y="287121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Papelera</a:t>
            </a:r>
            <a:endParaRPr lang="es-ES" sz="850" dirty="0"/>
          </a:p>
        </p:txBody>
      </p:sp>
      <p:sp>
        <p:nvSpPr>
          <p:cNvPr id="22" name="Shape 22"/>
          <p:cNvSpPr/>
          <p:nvPr/>
        </p:nvSpPr>
        <p:spPr>
          <a:xfrm>
            <a:off x="8805672" y="3310128"/>
            <a:ext cx="2834640" cy="685800"/>
          </a:xfrm>
          <a:prstGeom prst="roundRect">
            <a:avLst>
              <a:gd name="adj" fmla="val 10666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3" name="Shape 23"/>
          <p:cNvSpPr/>
          <p:nvPr/>
        </p:nvSpPr>
        <p:spPr>
          <a:xfrm>
            <a:off x="8942832" y="3433572"/>
            <a:ext cx="438912" cy="43891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24" name="Icono 24" descr="Icono indus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543300"/>
            <a:ext cx="219456" cy="219456"/>
          </a:xfrm>
          <a:prstGeom prst="rect">
            <a:avLst/>
          </a:prstGeom>
        </p:spPr>
      </p:pic>
      <p:sp>
        <p:nvSpPr>
          <p:cNvPr id="25" name="Shape 25"/>
          <p:cNvSpPr txBox="1"/>
          <p:nvPr/>
        </p:nvSpPr>
        <p:spPr>
          <a:xfrm>
            <a:off x="9518904" y="3419856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50" b="1" i="0" dirty="0">
                <a:solidFill>
                  <a:srgbClr val="00263A"/>
                </a:solidFill>
                <a:latin typeface="Montserrat"/>
                <a:cs typeface="Montserrat"/>
              </a:rPr>
              <a:t>PDA</a:t>
            </a:r>
            <a:endParaRPr lang="es-ES" sz="1150" dirty="0"/>
          </a:p>
        </p:txBody>
      </p:sp>
      <p:sp>
        <p:nvSpPr>
          <p:cNvPr id="26" name="Shape 26"/>
          <p:cNvSpPr txBox="1"/>
          <p:nvPr/>
        </p:nvSpPr>
        <p:spPr>
          <a:xfrm>
            <a:off x="9518904" y="3694176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Papelera</a:t>
            </a:r>
            <a:endParaRPr lang="es-ES" sz="850" dirty="0"/>
          </a:p>
        </p:txBody>
      </p:sp>
      <p:sp>
        <p:nvSpPr>
          <p:cNvPr id="27" name="Shape 27"/>
          <p:cNvSpPr/>
          <p:nvPr/>
        </p:nvSpPr>
        <p:spPr>
          <a:xfrm>
            <a:off x="4206240" y="2487168"/>
            <a:ext cx="3776472" cy="1508760"/>
          </a:xfrm>
          <a:prstGeom prst="roundRect">
            <a:avLst>
              <a:gd name="adj" fmla="val 4848"/>
            </a:avLst>
          </a:prstGeom>
          <a:solidFill>
            <a:srgbClr val="00263A"/>
          </a:solidFill>
          <a:ln w="9525">
            <a:solidFill>
              <a:srgbClr val="00263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8" name="Shape 28"/>
          <p:cNvSpPr/>
          <p:nvPr/>
        </p:nvSpPr>
        <p:spPr>
          <a:xfrm>
            <a:off x="4434840" y="2670048"/>
            <a:ext cx="457200" cy="457200"/>
          </a:xfrm>
          <a:prstGeom prst="ellipse">
            <a:avLst/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29" name="Icono 29" descr="Icono syn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2784348"/>
            <a:ext cx="228600" cy="228600"/>
          </a:xfrm>
          <a:prstGeom prst="rect">
            <a:avLst/>
          </a:prstGeom>
        </p:spPr>
      </p:pic>
      <p:sp>
        <p:nvSpPr>
          <p:cNvPr id="30" name="Shape 30"/>
          <p:cNvSpPr txBox="1"/>
          <p:nvPr/>
        </p:nvSpPr>
        <p:spPr>
          <a:xfrm>
            <a:off x="5029200" y="2670048"/>
            <a:ext cx="277063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200" b="1" i="0" dirty="0">
                <a:solidFill>
                  <a:srgbClr val="FFFFFF"/>
                </a:solidFill>
                <a:latin typeface="Montserrat"/>
                <a:cs typeface="Montserrat"/>
              </a:rPr>
              <a:t>SAP · Integración de necesidades</a:t>
            </a:r>
            <a:endParaRPr lang="es-ES" sz="1200" dirty="0"/>
          </a:p>
        </p:txBody>
      </p:sp>
      <p:sp>
        <p:nvSpPr>
          <p:cNvPr id="31" name="Shape 31"/>
          <p:cNvSpPr txBox="1"/>
          <p:nvPr/>
        </p:nvSpPr>
        <p:spPr>
          <a:xfrm>
            <a:off x="4480560" y="3236976"/>
            <a:ext cx="3319272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105000"/>
              </a:lnSpc>
              <a:spcAft>
                <a:spcPts val="200"/>
              </a:spcAft>
              <a:buClr>
                <a:srgbClr val="98C9EB"/>
              </a:buClr>
              <a:buFont typeface="Arial"/>
              <a:buChar char="•"/>
            </a:pPr>
            <a:r>
              <a:rPr lang="es-ES" sz="950" b="0" i="0" dirty="0">
                <a:solidFill>
                  <a:srgbClr val="DCE7EF"/>
                </a:solidFill>
                <a:latin typeface="Montserrat"/>
                <a:cs typeface="Montserrat"/>
              </a:rPr>
              <a:t>Mapeo de materiales y mínimos/máximos</a:t>
            </a:r>
            <a:endParaRPr lang="es-ES" sz="950" dirty="0"/>
          </a:p>
          <a:p>
            <a:pPr marL="171450" indent="-171450" algn="l">
              <a:lnSpc>
                <a:spcPct val="105000"/>
              </a:lnSpc>
              <a:spcAft>
                <a:spcPts val="200"/>
              </a:spcAft>
              <a:buClr>
                <a:srgbClr val="98C9EB"/>
              </a:buClr>
              <a:buFont typeface="Arial"/>
              <a:buChar char="•"/>
            </a:pPr>
            <a:r>
              <a:rPr lang="es-ES" sz="950" b="0" i="0" dirty="0">
                <a:solidFill>
                  <a:srgbClr val="DCE7EF"/>
                </a:solidFill>
                <a:latin typeface="Montserrat"/>
                <a:cs typeface="Montserrat"/>
              </a:rPr>
              <a:t>Trigger automático de necesidad</a:t>
            </a:r>
            <a:endParaRPr lang="es-ES" sz="950" dirty="0"/>
          </a:p>
          <a:p>
            <a:pPr marL="171450" indent="-171450" algn="l">
              <a:lnSpc>
                <a:spcPct val="105000"/>
              </a:lnSpc>
              <a:spcAft>
                <a:spcPts val="200"/>
              </a:spcAft>
              <a:buClr>
                <a:srgbClr val="98C9EB"/>
              </a:buClr>
              <a:buFont typeface="Arial"/>
              <a:buChar char="•"/>
            </a:pPr>
            <a:r>
              <a:rPr lang="es-ES" sz="950" b="0" i="0" dirty="0">
                <a:solidFill>
                  <a:srgbClr val="DCE7EF"/>
                </a:solidFill>
                <a:latin typeface="Montserrat"/>
                <a:cs typeface="Montserrat"/>
              </a:rPr>
              <a:t>Pedidos de compra y venta automáticos y mapeados</a:t>
            </a:r>
            <a:endParaRPr lang="es-ES" sz="950" dirty="0"/>
          </a:p>
        </p:txBody>
      </p:sp>
      <p:cxnSp>
        <p:nvCxnSpPr>
          <p:cNvPr id="32" name="Conector 32"/>
          <p:cNvCxnSpPr/>
          <p:nvPr/>
        </p:nvCxnSpPr>
        <p:spPr>
          <a:xfrm>
            <a:off x="3383280" y="283006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3" name="Conector 33"/>
          <p:cNvCxnSpPr/>
          <p:nvPr/>
        </p:nvCxnSpPr>
        <p:spPr>
          <a:xfrm>
            <a:off x="3794760" y="2830068"/>
            <a:ext cx="0" cy="41148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4" name="Conector 34"/>
          <p:cNvCxnSpPr/>
          <p:nvPr/>
        </p:nvCxnSpPr>
        <p:spPr>
          <a:xfrm>
            <a:off x="3794760" y="324154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35" name="Conector 35"/>
          <p:cNvCxnSpPr/>
          <p:nvPr/>
        </p:nvCxnSpPr>
        <p:spPr>
          <a:xfrm>
            <a:off x="7982712" y="324154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6" name="Conector 36"/>
          <p:cNvCxnSpPr/>
          <p:nvPr/>
        </p:nvCxnSpPr>
        <p:spPr>
          <a:xfrm flipV="1">
            <a:off x="8394192" y="2830068"/>
            <a:ext cx="0" cy="41148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7" name="Conector 37"/>
          <p:cNvCxnSpPr/>
          <p:nvPr/>
        </p:nvCxnSpPr>
        <p:spPr>
          <a:xfrm>
            <a:off x="8394192" y="283006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38" name="Conector 38"/>
          <p:cNvCxnSpPr/>
          <p:nvPr/>
        </p:nvCxnSpPr>
        <p:spPr>
          <a:xfrm>
            <a:off x="3383280" y="365302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9" name="Conector 39"/>
          <p:cNvCxnSpPr/>
          <p:nvPr/>
        </p:nvCxnSpPr>
        <p:spPr>
          <a:xfrm flipV="1">
            <a:off x="3794760" y="3241548"/>
            <a:ext cx="0" cy="41148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0" name="Conector 40"/>
          <p:cNvCxnSpPr/>
          <p:nvPr/>
        </p:nvCxnSpPr>
        <p:spPr>
          <a:xfrm>
            <a:off x="3794760" y="324154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41" name="Conector 41"/>
          <p:cNvCxnSpPr/>
          <p:nvPr/>
        </p:nvCxnSpPr>
        <p:spPr>
          <a:xfrm>
            <a:off x="7982712" y="324154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2" name="Conector 42"/>
          <p:cNvCxnSpPr/>
          <p:nvPr/>
        </p:nvCxnSpPr>
        <p:spPr>
          <a:xfrm>
            <a:off x="8394192" y="3241548"/>
            <a:ext cx="0" cy="41148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3" name="Conector 43"/>
          <p:cNvCxnSpPr/>
          <p:nvPr/>
        </p:nvCxnSpPr>
        <p:spPr>
          <a:xfrm>
            <a:off x="8394192" y="3653028"/>
            <a:ext cx="411480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44" name="Conector 44"/>
          <p:cNvCxnSpPr/>
          <p:nvPr/>
        </p:nvCxnSpPr>
        <p:spPr>
          <a:xfrm flipH="1">
            <a:off x="3520440" y="4224528"/>
            <a:ext cx="5148072" cy="0"/>
          </a:xfrm>
          <a:prstGeom prst="straightConnector1">
            <a:avLst/>
          </a:prstGeom>
          <a:ln w="25400" cap="rnd">
            <a:solidFill>
              <a:srgbClr val="00263A"/>
            </a:solidFill>
            <a:tailEnd type="triangle" w="med" len="med"/>
          </a:ln>
        </p:spPr>
      </p:cxnSp>
      <p:sp>
        <p:nvSpPr>
          <p:cNvPr id="45" name="Shape 45"/>
          <p:cNvSpPr txBox="1"/>
          <p:nvPr/>
        </p:nvSpPr>
        <p:spPr>
          <a:xfrm>
            <a:off x="3383280" y="4279392"/>
            <a:ext cx="54223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0" i="1" dirty="0">
                <a:solidFill>
                  <a:srgbClr val="244C5A"/>
                </a:solidFill>
                <a:latin typeface="Montserrat"/>
                <a:cs typeface="Montserrat"/>
              </a:rPr>
              <a:t>Suministro de papel contra pedido</a:t>
            </a:r>
            <a:endParaRPr lang="es-ES" sz="900" dirty="0"/>
          </a:p>
        </p:txBody>
      </p:sp>
      <p:sp>
        <p:nvSpPr>
          <p:cNvPr id="46" name="Shape 46"/>
          <p:cNvSpPr/>
          <p:nvPr/>
        </p:nvSpPr>
        <p:spPr>
          <a:xfrm>
            <a:off x="548640" y="4645152"/>
            <a:ext cx="3544824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7" name="Shape 47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48" name="Icono 48" descr="Icono 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942332"/>
            <a:ext cx="228600" cy="228600"/>
          </a:xfrm>
          <a:prstGeom prst="rect">
            <a:avLst/>
          </a:prstGeom>
        </p:spPr>
      </p:pic>
      <p:sp>
        <p:nvSpPr>
          <p:cNvPr id="49" name="Shape 49"/>
          <p:cNvSpPr txBox="1"/>
          <p:nvPr/>
        </p:nvSpPr>
        <p:spPr>
          <a:xfrm>
            <a:off x="1325880" y="4754880"/>
            <a:ext cx="26304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Visibilidad completa</a:t>
            </a:r>
            <a:endParaRPr lang="es-ES" sz="1100" dirty="0"/>
          </a:p>
        </p:txBody>
      </p:sp>
      <p:sp>
        <p:nvSpPr>
          <p:cNvPr id="50" name="Shape 50"/>
          <p:cNvSpPr txBox="1"/>
          <p:nvPr/>
        </p:nvSpPr>
        <p:spPr>
          <a:xfrm>
            <a:off x="1325880" y="5029200"/>
            <a:ext cx="2630424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Stock propio y externo, mínimos, máximos y propuestas de carga por material.</a:t>
            </a:r>
            <a:endParaRPr lang="es-ES" sz="850" dirty="0"/>
          </a:p>
        </p:txBody>
      </p:sp>
      <p:sp>
        <p:nvSpPr>
          <p:cNvPr id="51" name="Shape 51"/>
          <p:cNvSpPr/>
          <p:nvPr/>
        </p:nvSpPr>
        <p:spPr>
          <a:xfrm>
            <a:off x="4322064" y="4645152"/>
            <a:ext cx="3544824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2" name="Shape 52"/>
          <p:cNvSpPr/>
          <p:nvPr/>
        </p:nvSpPr>
        <p:spPr>
          <a:xfrm>
            <a:off x="4504944" y="4828032"/>
            <a:ext cx="457200" cy="457200"/>
          </a:xfrm>
          <a:prstGeom prst="ellipse">
            <a:avLst/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53" name="Icono 53" descr="Icono lin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244" y="4942332"/>
            <a:ext cx="228600" cy="228600"/>
          </a:xfrm>
          <a:prstGeom prst="rect">
            <a:avLst/>
          </a:prstGeom>
        </p:spPr>
      </p:pic>
      <p:sp>
        <p:nvSpPr>
          <p:cNvPr id="54" name="Shape 54"/>
          <p:cNvSpPr txBox="1"/>
          <p:nvPr/>
        </p:nvSpPr>
        <p:spPr>
          <a:xfrm>
            <a:off x="5099304" y="4754880"/>
            <a:ext cx="26304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Pedidos automáticos y trazables</a:t>
            </a:r>
            <a:endParaRPr lang="es-ES" sz="1100" dirty="0"/>
          </a:p>
        </p:txBody>
      </p:sp>
      <p:sp>
        <p:nvSpPr>
          <p:cNvPr id="55" name="Shape 55"/>
          <p:cNvSpPr txBox="1"/>
          <p:nvPr/>
        </p:nvSpPr>
        <p:spPr>
          <a:xfrm>
            <a:off x="5099304" y="5029200"/>
            <a:ext cx="2630424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Compra y venta se generan solos, mapeados entre plantas y visibles en Salesforce.</a:t>
            </a:r>
            <a:endParaRPr lang="es-ES" sz="850" dirty="0"/>
          </a:p>
        </p:txBody>
      </p:sp>
      <p:sp>
        <p:nvSpPr>
          <p:cNvPr id="56" name="Shape 56"/>
          <p:cNvSpPr/>
          <p:nvPr/>
        </p:nvSpPr>
        <p:spPr>
          <a:xfrm>
            <a:off x="8095488" y="4645152"/>
            <a:ext cx="3544824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7" name="Shape 57"/>
          <p:cNvSpPr/>
          <p:nvPr/>
        </p:nvSpPr>
        <p:spPr>
          <a:xfrm>
            <a:off x="8278368" y="4828032"/>
            <a:ext cx="457200" cy="457200"/>
          </a:xfrm>
          <a:prstGeom prst="ellipse">
            <a:avLst/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58" name="Icono 58" descr="Icono warehou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2668" y="4942332"/>
            <a:ext cx="228600" cy="228600"/>
          </a:xfrm>
          <a:prstGeom prst="rect">
            <a:avLst/>
          </a:prstGeom>
        </p:spPr>
      </p:pic>
      <p:sp>
        <p:nvSpPr>
          <p:cNvPr id="59" name="Shape 59"/>
          <p:cNvSpPr txBox="1"/>
          <p:nvPr/>
        </p:nvSpPr>
        <p:spPr>
          <a:xfrm>
            <a:off x="8872728" y="4754880"/>
            <a:ext cx="26304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100" b="1" i="0" dirty="0">
                <a:solidFill>
                  <a:srgbClr val="00263A"/>
                </a:solidFill>
                <a:latin typeface="Montserrat"/>
                <a:cs typeface="Montserrat"/>
              </a:rPr>
              <a:t>Papeleras que se anticipan</a:t>
            </a:r>
            <a:endParaRPr lang="es-ES" sz="1100" dirty="0"/>
          </a:p>
        </p:txBody>
      </p:sp>
      <p:sp>
        <p:nvSpPr>
          <p:cNvPr id="60" name="Shape 60"/>
          <p:cNvSpPr txBox="1"/>
          <p:nvPr/>
        </p:nvSpPr>
        <p:spPr>
          <a:xfrm>
            <a:off x="8872728" y="5029200"/>
            <a:ext cx="2630424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Planifican contra pedidos de stock y reservan el material para las cartoneras.</a:t>
            </a:r>
            <a:endParaRPr lang="es-ES" sz="850" dirty="0"/>
          </a:p>
        </p:txBody>
      </p:sp>
      <p:sp>
        <p:nvSpPr>
          <p:cNvPr id="61" name="Shape 61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8</a:t>
            </a:r>
            <a:endParaRPr lang="es-ES" sz="900" dirty="0"/>
          </a:p>
        </p:txBody>
      </p:sp>
      <p:sp>
        <p:nvSpPr>
          <p:cNvPr id="301" name="Shape 301"/>
          <p:cNvSpPr txBox="1"/>
          <p:nvPr/>
        </p:nvSpPr>
        <p:spPr>
          <a:xfrm>
            <a:off x="548640" y="5632704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1" i="1" dirty="0">
                <a:solidFill>
                  <a:srgbClr val="5B6B78"/>
                </a:solidFill>
                <a:latin typeface="Montserrat"/>
                <a:cs typeface="Montserrat"/>
              </a:rPr>
              <a:t>Nota: </a:t>
            </a:r>
            <a:r>
              <a:rPr lang="es-ES" sz="850" b="0" i="1" dirty="0">
                <a:solidFill>
                  <a:srgbClr val="5B6B78"/>
                </a:solidFill>
                <a:latin typeface="Montserrat"/>
                <a:cs typeface="Montserrat"/>
              </a:rPr>
              <a:t>este flujo intercompany todavía no está en uso.</a:t>
            </a:r>
            <a:endParaRPr lang="es-E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MGT + PDA · Hitos y objetivos</a:t>
            </a:r>
          </a:p>
        </p:txBody>
      </p:sp>
      <p:sp>
        <p:nvSpPr>
          <p:cNvPr id="3" name="Shape 3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0263A"/>
          </a:solidFill>
          <a:ln w="9525">
            <a:solidFill>
              <a:srgbClr val="00263A"/>
            </a:solidFill>
          </a:ln>
        </p:spPr>
        <p:txBody>
          <a:bodyPr wrap="square" lIns="274320" tIns="45720" rIns="274320" bIns="45720" rtlCol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1200" b="1" i="0" dirty="0">
                <a:solidFill>
                  <a:srgbClr val="98C9EB"/>
                </a:solidFill>
                <a:latin typeface="Montserrat"/>
                <a:cs typeface="Montserrat"/>
              </a:rPr>
              <a:t>Objetivo estratégico:  </a:t>
            </a:r>
            <a:r>
              <a:rPr lang="es-ES" sz="1200" b="1" i="0" dirty="0">
                <a:solidFill>
                  <a:srgbClr val="FFFFFF"/>
                </a:solidFill>
                <a:latin typeface="Montserrat"/>
                <a:cs typeface="Montserrat"/>
              </a:rPr>
              <a:t>que todos los pedidos de Ondupack, al menos de SQ y DU, se sirvan desde MGT, PDA o Papresa.</a:t>
            </a:r>
            <a:endParaRPr lang="es-ES" sz="1200" dirty="0"/>
          </a:p>
        </p:txBody>
      </p:sp>
      <p:sp>
        <p:nvSpPr>
          <p:cNvPr id="4" name="Shape 4"/>
          <p:cNvSpPr/>
          <p:nvPr/>
        </p:nvSpPr>
        <p:spPr>
          <a:xfrm>
            <a:off x="548640" y="219456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" name="Shape 5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6" name="Icono 6" descr="Icono glob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491740"/>
            <a:ext cx="228600" cy="228600"/>
          </a:xfrm>
          <a:prstGeom prst="rect">
            <a:avLst/>
          </a:prstGeom>
        </p:spPr>
      </p:pic>
      <p:sp>
        <p:nvSpPr>
          <p:cNvPr id="7" name="Shape 7"/>
          <p:cNvSpPr txBox="1"/>
          <p:nvPr/>
        </p:nvSpPr>
        <p:spPr>
          <a:xfrm>
            <a:off x="1371600" y="2377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250" b="1" i="0" dirty="0">
                <a:solidFill>
                  <a:srgbClr val="00263A"/>
                </a:solidFill>
                <a:latin typeface="Montserrat"/>
                <a:cs typeface="Montserrat"/>
              </a:rPr>
              <a:t>SIGPA · Planificación en web</a:t>
            </a:r>
            <a:endParaRPr lang="es-ES" sz="1250" dirty="0"/>
          </a:p>
        </p:txBody>
      </p:sp>
      <p:sp>
        <p:nvSpPr>
          <p:cNvPr id="8" name="Shape 8"/>
          <p:cNvSpPr txBox="1"/>
          <p:nvPr/>
        </p:nvSpPr>
        <p:spPr>
          <a:xfrm>
            <a:off x="777240" y="29443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5B6B78"/>
                </a:solidFill>
                <a:latin typeface="Montserrat"/>
                <a:cs typeface="Montserrat"/>
              </a:rPr>
              <a:t>Toda la planificación de MGT y PDA migrada de GIO (escritorio) a SIGPA (web).</a:t>
            </a:r>
            <a:endParaRPr lang="es-ES" sz="950" dirty="0"/>
          </a:p>
        </p:txBody>
      </p:sp>
      <p:sp>
        <p:nvSpPr>
          <p:cNvPr id="9" name="Shape 9"/>
          <p:cNvSpPr txBox="1"/>
          <p:nvPr/>
        </p:nvSpPr>
        <p:spPr>
          <a:xfrm>
            <a:off x="777240" y="341071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Algoritmo de combinación integrado</a:t>
            </a:r>
            <a:endParaRPr lang="es-ES" sz="950" dirty="0"/>
          </a:p>
        </p:txBody>
      </p:sp>
      <p:sp>
        <p:nvSpPr>
          <p:cNvPr id="10" name="Shape 10"/>
          <p:cNvSpPr/>
          <p:nvPr/>
        </p:nvSpPr>
        <p:spPr>
          <a:xfrm>
            <a:off x="3291840" y="34290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EN PRUEBAS</a:t>
            </a:r>
            <a:endParaRPr lang="es-ES" sz="750" dirty="0"/>
          </a:p>
        </p:txBody>
      </p:sp>
      <p:sp>
        <p:nvSpPr>
          <p:cNvPr id="11" name="Shape 11"/>
          <p:cNvSpPr/>
          <p:nvPr/>
        </p:nvSpPr>
        <p:spPr>
          <a:xfrm>
            <a:off x="548640" y="3977640"/>
            <a:ext cx="4206240" cy="1691640"/>
          </a:xfrm>
          <a:prstGeom prst="roundRect">
            <a:avLst>
              <a:gd name="adj" fmla="val 4324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2" name="Shape 12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13" name="Icono 13" descr="Icono indus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274820"/>
            <a:ext cx="228600" cy="228600"/>
          </a:xfrm>
          <a:prstGeom prst="rect">
            <a:avLst/>
          </a:prstGeom>
        </p:spPr>
      </p:pic>
      <p:sp>
        <p:nvSpPr>
          <p:cNvPr id="14" name="Shape 14"/>
          <p:cNvSpPr txBox="1"/>
          <p:nvPr/>
        </p:nvSpPr>
        <p:spPr>
          <a:xfrm>
            <a:off x="1371600" y="41605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250" b="1" i="0" dirty="0">
                <a:solidFill>
                  <a:srgbClr val="00263A"/>
                </a:solidFill>
                <a:latin typeface="Montserrat"/>
                <a:cs typeface="Montserrat"/>
              </a:rPr>
              <a:t>Papresa · Nueva papelera</a:t>
            </a:r>
            <a:endParaRPr lang="es-ES" sz="1250" dirty="0"/>
          </a:p>
        </p:txBody>
      </p:sp>
      <p:sp>
        <p:nvSpPr>
          <p:cNvPr id="15" name="Shape 15"/>
          <p:cNvSpPr txBox="1"/>
          <p:nvPr/>
        </p:nvSpPr>
        <p:spPr>
          <a:xfrm>
            <a:off x="777240" y="472744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5B6B78"/>
                </a:solidFill>
                <a:latin typeface="Montserrat"/>
                <a:cs typeface="Montserrat"/>
              </a:rPr>
              <a:t>Entra en el mismo flujo intercompany. Sin SAP, la trazabilidad compra-venta se cruza hoy en un HTML conectado a los distintos ERP.</a:t>
            </a:r>
            <a:endParaRPr lang="es-ES" sz="950" dirty="0"/>
          </a:p>
        </p:txBody>
      </p:sp>
      <p:sp>
        <p:nvSpPr>
          <p:cNvPr id="16" name="Shape 16"/>
          <p:cNvSpPr txBox="1"/>
          <p:nvPr/>
        </p:nvSpPr>
        <p:spPr>
          <a:xfrm>
            <a:off x="777240" y="5285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Objetivo de integración</a:t>
            </a:r>
            <a:endParaRPr lang="es-ES" sz="950" dirty="0"/>
          </a:p>
        </p:txBody>
      </p:sp>
      <p:sp>
        <p:nvSpPr>
          <p:cNvPr id="17" name="Shape 17"/>
          <p:cNvSpPr/>
          <p:nvPr/>
        </p:nvSpPr>
        <p:spPr>
          <a:xfrm>
            <a:off x="2788920" y="530352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98C9EB"/>
                </a:solidFill>
                <a:latin typeface="Montserrat"/>
                <a:cs typeface="Montserrat"/>
              </a:rPr>
              <a:t>EN SAP · 01/01/2027</a:t>
            </a:r>
            <a:endParaRPr lang="es-ES" sz="750" dirty="0"/>
          </a:p>
        </p:txBody>
      </p:sp>
      <p:sp>
        <p:nvSpPr>
          <p:cNvPr id="18" name="Shape 18"/>
          <p:cNvSpPr/>
          <p:nvPr/>
        </p:nvSpPr>
        <p:spPr>
          <a:xfrm>
            <a:off x="4983480" y="2194560"/>
            <a:ext cx="6656832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9" name="Shape 19"/>
          <p:cNvSpPr txBox="1"/>
          <p:nvPr/>
        </p:nvSpPr>
        <p:spPr>
          <a:xfrm>
            <a:off x="5212080" y="2359152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200" b="1" i="0" dirty="0">
                <a:solidFill>
                  <a:srgbClr val="00263A"/>
                </a:solidFill>
                <a:latin typeface="Montserrat"/>
                <a:cs typeface="Montserrat"/>
              </a:rPr>
              <a:t>% de integración en Ondupack</a:t>
            </a:r>
            <a:endParaRPr lang="es-ES" sz="1200" dirty="0"/>
          </a:p>
        </p:txBody>
      </p:sp>
      <p:sp>
        <p:nvSpPr>
          <p:cNvPr id="20" name="Shape 20"/>
          <p:cNvSpPr txBox="1"/>
          <p:nvPr/>
        </p:nvSpPr>
        <p:spPr>
          <a:xfrm>
            <a:off x="5212080" y="2633472"/>
            <a:ext cx="427939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50" b="0" i="0" dirty="0">
                <a:solidFill>
                  <a:srgbClr val="5B6B78"/>
                </a:solidFill>
                <a:latin typeface="Montserrat"/>
                <a:cs typeface="Montserrat"/>
              </a:rPr>
              <a:t>Recepciones servidas por MGT, PDA y Papresa · evolución mensual</a:t>
            </a:r>
            <a:endParaRPr lang="es-ES" sz="850" dirty="0"/>
          </a:p>
        </p:txBody>
      </p:sp>
      <p:sp>
        <p:nvSpPr>
          <p:cNvPr id="21" name="Shape 21"/>
          <p:cNvSpPr/>
          <p:nvPr/>
        </p:nvSpPr>
        <p:spPr>
          <a:xfrm>
            <a:off x="9674352" y="24231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800" b="1" i="0" spc="40" dirty="0">
                <a:solidFill>
                  <a:srgbClr val="244C5A"/>
                </a:solidFill>
                <a:latin typeface="Montserrat"/>
                <a:cs typeface="Montserrat"/>
              </a:rPr>
              <a:t>META OCT-26: ≈ 100%</a:t>
            </a:r>
            <a:endParaRPr lang="es-ES" sz="800" dirty="0"/>
          </a:p>
        </p:txBody>
      </p:sp>
      <p:sp>
        <p:nvSpPr>
          <p:cNvPr id="22" name="Shape 22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9</a:t>
            </a:r>
            <a:endParaRPr lang="es-ES" sz="900" dirty="0"/>
          </a:p>
        </p:txBody>
      </p:sp>
      <p:graphicFrame>
        <p:nvGraphicFramePr>
          <p:cNvPr id="23" name="Grafico integracion"/>
          <p:cNvGraphicFramePr>
            <a:graphicFrameLocks noGrp="1"/>
          </p:cNvGraphicFramePr>
          <p:nvPr/>
        </p:nvGraphicFramePr>
        <p:xfrm>
          <a:off x="5074920" y="2926080"/>
          <a:ext cx="6428232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29984" cy="6858000"/>
          </a:xfrm>
          <a:prstGeom prst="rect">
            <a:avLst/>
          </a:prstGeom>
          <a:solidFill>
            <a:srgbClr val="98C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29984" y="0"/>
            <a:ext cx="4526280" cy="6858000"/>
          </a:xfrm>
          <a:prstGeom prst="rect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56264" y="0"/>
            <a:ext cx="941832" cy="6858000"/>
          </a:xfrm>
          <a:prstGeom prst="rect">
            <a:avLst/>
          </a:prstGeom>
          <a:solidFill>
            <a:srgbClr val="D2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97280"/>
            <a:ext cx="2145550" cy="93268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" y="2788920"/>
            <a:ext cx="713232" cy="713232"/>
          </a:xfrm>
          <a:prstGeom prst="ellipse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  <a:buNone/>
            </a:pPr>
            <a:r>
              <a:rPr sz="2000" b="1" i="0">
                <a:solidFill>
                  <a:srgbClr val="98C9EB"/>
                </a:solidFill>
                <a:latin typeface="Montserrat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67328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00263A"/>
                </a:solidFill>
                <a:latin typeface="Montserrat"/>
              </a:rPr>
              <a:t>Proyectos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81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350" b="0" i="1">
                <a:solidFill>
                  <a:srgbClr val="244C5A"/>
                </a:solidFill>
                <a:latin typeface="Montserrat"/>
              </a:rPr>
              <a:t>Propuestas para todas las plantas</a:t>
            </a:r>
          </a:p>
        </p:txBody>
      </p:sp>
      <p:sp>
        <p:nvSpPr>
          <p:cNvPr id="51" name="Shape 51"/>
          <p:cNvSpPr/>
          <p:nvPr/>
        </p:nvSpPr>
        <p:spPr>
          <a:xfrm>
            <a:off x="868680" y="507492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spc="40" dirty="0">
                <a:solidFill>
                  <a:srgbClr val="98C9EB"/>
                </a:solidFill>
                <a:latin typeface="Montserrat"/>
                <a:cs typeface="Montserrat"/>
              </a:rPr>
              <a:t>POR VALIDAR CON NEGOCIO</a:t>
            </a:r>
            <a:endParaRPr lang="es-E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Proyectos 2027</a:t>
            </a:r>
          </a:p>
        </p:txBody>
      </p:sp>
      <p:sp>
        <p:nvSpPr>
          <p:cNvPr id="3" name="Shape 3"/>
          <p:cNvSpPr/>
          <p:nvPr/>
        </p:nvSpPr>
        <p:spPr>
          <a:xfrm>
            <a:off x="73609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850" b="1" i="0" spc="40" dirty="0">
                <a:solidFill>
                  <a:srgbClr val="00263A"/>
                </a:solidFill>
                <a:latin typeface="Montserrat"/>
                <a:cs typeface="Montserrat"/>
              </a:rPr>
              <a:t>POR VALIDAR CON NEGOCIO</a:t>
            </a:r>
            <a:endParaRPr lang="es-ES" sz="850" dirty="0"/>
          </a:p>
        </p:txBody>
      </p:sp>
      <p:sp>
        <p:nvSpPr>
          <p:cNvPr id="4" name="Shape 4"/>
          <p:cNvSpPr/>
          <p:nvPr/>
        </p:nvSpPr>
        <p:spPr>
          <a:xfrm>
            <a:off x="548640" y="132588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" name="Shape 5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6" name="Icono 6" descr="Icono glob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2767584" y="1691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ONDUPACK</a:t>
            </a:r>
            <a:endParaRPr lang="es-ES" sz="750" dirty="0"/>
          </a:p>
        </p:txBody>
      </p:sp>
      <p:sp>
        <p:nvSpPr>
          <p:cNvPr id="8" name="Shape 8"/>
          <p:cNvSpPr/>
          <p:nvPr/>
        </p:nvSpPr>
        <p:spPr>
          <a:xfrm>
            <a:off x="1578864" y="1691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ONDUPET</a:t>
            </a:r>
            <a:endParaRPr lang="es-ES" sz="750" dirty="0"/>
          </a:p>
        </p:txBody>
      </p:sp>
      <p:sp>
        <p:nvSpPr>
          <p:cNvPr id="9" name="Shape 9"/>
          <p:cNvSpPr txBox="1"/>
          <p:nvPr/>
        </p:nvSpPr>
        <p:spPr>
          <a:xfrm>
            <a:off x="777240" y="2240280"/>
            <a:ext cx="30876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350" b="1" i="0" dirty="0">
                <a:solidFill>
                  <a:srgbClr val="00263A"/>
                </a:solidFill>
                <a:latin typeface="Montserrat"/>
                <a:cs typeface="Montserrat"/>
              </a:rPr>
              <a:t>Migración a aplicación web</a:t>
            </a:r>
            <a:endParaRPr lang="es-ES" sz="1350" dirty="0"/>
          </a:p>
        </p:txBody>
      </p:sp>
      <p:sp>
        <p:nvSpPr>
          <p:cNvPr id="10" name="Shape 10"/>
          <p:cNvSpPr txBox="1"/>
          <p:nvPr/>
        </p:nvSpPr>
        <p:spPr>
          <a:xfrm>
            <a:off x="777240" y="2651760"/>
            <a:ext cx="308762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ES</a:t>
            </a:r>
            <a:endParaRPr lang="es-ES" sz="800" dirty="0"/>
          </a:p>
        </p:txBody>
      </p:sp>
      <p:sp>
        <p:nvSpPr>
          <p:cNvPr id="11" name="Shape 11"/>
          <p:cNvSpPr txBox="1"/>
          <p:nvPr/>
        </p:nvSpPr>
        <p:spPr>
          <a:xfrm>
            <a:off x="777240" y="2862072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00263A"/>
                </a:solidFill>
                <a:latin typeface="Montserrat"/>
                <a:cs typeface="Montserrat"/>
              </a:rPr>
              <a:t>Pasar las pantallas de planificación de la aplicación de escritorio a una aplicación web.</a:t>
            </a:r>
            <a:endParaRPr lang="es-ES" sz="950" dirty="0"/>
          </a:p>
        </p:txBody>
      </p:sp>
      <p:sp>
        <p:nvSpPr>
          <p:cNvPr id="12" name="Shape 12"/>
          <p:cNvSpPr txBox="1"/>
          <p:nvPr/>
        </p:nvSpPr>
        <p:spPr>
          <a:xfrm>
            <a:off x="777240" y="3337560"/>
            <a:ext cx="308762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APORTA</a:t>
            </a:r>
            <a:endParaRPr lang="es-ES" sz="800" dirty="0"/>
          </a:p>
        </p:txBody>
      </p:sp>
      <p:sp>
        <p:nvSpPr>
          <p:cNvPr id="13" name="Shape 13"/>
          <p:cNvSpPr txBox="1"/>
          <p:nvPr/>
        </p:nvSpPr>
        <p:spPr>
          <a:xfrm>
            <a:off x="777240" y="3538728"/>
            <a:ext cx="30876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Acceso desde el navegador, despliegue más sencillo, base común para las plantas, bases de datos separadas y mayor velocidad.</a:t>
            </a:r>
            <a:endParaRPr lang="es-ES" sz="950" dirty="0"/>
          </a:p>
        </p:txBody>
      </p:sp>
      <p:sp>
        <p:nvSpPr>
          <p:cNvPr id="14" name="Shape 14"/>
          <p:cNvSpPr/>
          <p:nvPr/>
        </p:nvSpPr>
        <p:spPr>
          <a:xfrm>
            <a:off x="4322064" y="132588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5" name="Shape 15"/>
          <p:cNvSpPr/>
          <p:nvPr/>
        </p:nvSpPr>
        <p:spPr>
          <a:xfrm>
            <a:off x="4550664" y="1554480"/>
            <a:ext cx="548640" cy="54864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16" name="Icono 16" descr="Icono puzz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24" y="1691640"/>
            <a:ext cx="274320" cy="274320"/>
          </a:xfrm>
          <a:prstGeom prst="rect">
            <a:avLst/>
          </a:prstGeom>
        </p:spPr>
      </p:pic>
      <p:sp>
        <p:nvSpPr>
          <p:cNvPr id="17" name="Shape 17"/>
          <p:cNvSpPr/>
          <p:nvPr/>
        </p:nvSpPr>
        <p:spPr>
          <a:xfrm>
            <a:off x="6541008" y="1691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ONDUPACK</a:t>
            </a:r>
            <a:endParaRPr lang="es-ES" sz="750" dirty="0"/>
          </a:p>
        </p:txBody>
      </p:sp>
      <p:sp>
        <p:nvSpPr>
          <p:cNvPr id="18" name="Shape 18"/>
          <p:cNvSpPr txBox="1"/>
          <p:nvPr/>
        </p:nvSpPr>
        <p:spPr>
          <a:xfrm>
            <a:off x="4550664" y="2240280"/>
            <a:ext cx="30876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350" b="1" i="0" dirty="0">
                <a:solidFill>
                  <a:srgbClr val="00263A"/>
                </a:solidFill>
                <a:latin typeface="Montserrat"/>
                <a:cs typeface="Montserrat"/>
              </a:rPr>
              <a:t>Algoritmo de combinación</a:t>
            </a:r>
            <a:endParaRPr lang="es-ES" sz="1350" dirty="0"/>
          </a:p>
        </p:txBody>
      </p:sp>
      <p:sp>
        <p:nvSpPr>
          <p:cNvPr id="19" name="Shape 19"/>
          <p:cNvSpPr txBox="1"/>
          <p:nvPr/>
        </p:nvSpPr>
        <p:spPr>
          <a:xfrm>
            <a:off x="4550664" y="2651760"/>
            <a:ext cx="308762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ES</a:t>
            </a:r>
            <a:endParaRPr lang="es-ES" sz="800" dirty="0"/>
          </a:p>
        </p:txBody>
      </p:sp>
      <p:sp>
        <p:nvSpPr>
          <p:cNvPr id="20" name="Shape 20"/>
          <p:cNvSpPr txBox="1"/>
          <p:nvPr/>
        </p:nvSpPr>
        <p:spPr>
          <a:xfrm>
            <a:off x="4550664" y="2862072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00263A"/>
                </a:solidFill>
                <a:latin typeface="Montserrat"/>
                <a:cs typeface="Montserrat"/>
              </a:rPr>
              <a:t>Combinación automática de pedidos que mejora la planificación sin intervención manual.</a:t>
            </a:r>
            <a:endParaRPr lang="es-ES" sz="950" dirty="0"/>
          </a:p>
        </p:txBody>
      </p:sp>
      <p:sp>
        <p:nvSpPr>
          <p:cNvPr id="21" name="Shape 21"/>
          <p:cNvSpPr txBox="1"/>
          <p:nvPr/>
        </p:nvSpPr>
        <p:spPr>
          <a:xfrm>
            <a:off x="4550664" y="3337560"/>
            <a:ext cx="308762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APORTA</a:t>
            </a:r>
            <a:endParaRPr lang="es-ES" sz="800" dirty="0"/>
          </a:p>
        </p:txBody>
      </p:sp>
      <p:sp>
        <p:nvSpPr>
          <p:cNvPr id="22" name="Shape 22"/>
          <p:cNvSpPr txBox="1"/>
          <p:nvPr/>
        </p:nvSpPr>
        <p:spPr>
          <a:xfrm>
            <a:off x="4550664" y="3538728"/>
            <a:ext cx="30876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Mejores combinaciones en menos tiempo y menos trabajo manual en Combiplan.</a:t>
            </a:r>
            <a:endParaRPr lang="es-ES" sz="950" dirty="0"/>
          </a:p>
        </p:txBody>
      </p:sp>
      <p:sp>
        <p:nvSpPr>
          <p:cNvPr id="23" name="Shape 23"/>
          <p:cNvSpPr/>
          <p:nvPr/>
        </p:nvSpPr>
        <p:spPr>
          <a:xfrm>
            <a:off x="8095488" y="1325880"/>
            <a:ext cx="3544824" cy="2926080"/>
          </a:xfrm>
          <a:prstGeom prst="roundRect">
            <a:avLst>
              <a:gd name="adj" fmla="val 2500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4" name="Shape 24"/>
          <p:cNvSpPr/>
          <p:nvPr/>
        </p:nvSpPr>
        <p:spPr>
          <a:xfrm>
            <a:off x="8324088" y="1554480"/>
            <a:ext cx="548640" cy="54864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25" name="Icono 25" descr="Icono users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248" y="1691640"/>
            <a:ext cx="274320" cy="274320"/>
          </a:xfrm>
          <a:prstGeom prst="rect">
            <a:avLst/>
          </a:prstGeom>
        </p:spPr>
      </p:pic>
      <p:sp>
        <p:nvSpPr>
          <p:cNvPr id="26" name="Shape 26"/>
          <p:cNvSpPr/>
          <p:nvPr/>
        </p:nvSpPr>
        <p:spPr>
          <a:xfrm>
            <a:off x="10314432" y="1691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ONDUPET</a:t>
            </a:r>
            <a:endParaRPr lang="es-ES" sz="750" dirty="0"/>
          </a:p>
        </p:txBody>
      </p:sp>
      <p:sp>
        <p:nvSpPr>
          <p:cNvPr id="27" name="Shape 27"/>
          <p:cNvSpPr txBox="1"/>
          <p:nvPr/>
        </p:nvSpPr>
        <p:spPr>
          <a:xfrm>
            <a:off x="8324088" y="2240280"/>
            <a:ext cx="308762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350" b="1" dirty="0">
                <a:solidFill>
                  <a:srgbClr val="00263A"/>
                </a:solidFill>
                <a:latin typeface="Montserrat"/>
              </a:rPr>
              <a:t>Optimización Recursos Internos</a:t>
            </a:r>
            <a:endParaRPr lang="es-ES" sz="1350" dirty="0"/>
          </a:p>
        </p:txBody>
      </p:sp>
      <p:sp>
        <p:nvSpPr>
          <p:cNvPr id="28" name="Shape 28"/>
          <p:cNvSpPr txBox="1"/>
          <p:nvPr/>
        </p:nvSpPr>
        <p:spPr>
          <a:xfrm>
            <a:off x="8324088" y="2651760"/>
            <a:ext cx="308762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ES</a:t>
            </a:r>
            <a:endParaRPr lang="es-ES" sz="800" dirty="0"/>
          </a:p>
        </p:txBody>
      </p:sp>
      <p:sp>
        <p:nvSpPr>
          <p:cNvPr id="29" name="Shape 29"/>
          <p:cNvSpPr txBox="1"/>
          <p:nvPr/>
        </p:nvSpPr>
        <p:spPr>
          <a:xfrm>
            <a:off x="8324088" y="2862072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00263A"/>
                </a:solidFill>
                <a:latin typeface="Montserrat"/>
                <a:cs typeface="Montserrat"/>
              </a:rPr>
              <a:t>Asignación de personas, con nombre y apellidos, a turnos y máquinas.</a:t>
            </a:r>
            <a:endParaRPr lang="es-ES" sz="950" dirty="0"/>
          </a:p>
        </p:txBody>
      </p:sp>
      <p:sp>
        <p:nvSpPr>
          <p:cNvPr id="30" name="Shape 30"/>
          <p:cNvSpPr txBox="1"/>
          <p:nvPr/>
        </p:nvSpPr>
        <p:spPr>
          <a:xfrm>
            <a:off x="8324088" y="3337560"/>
            <a:ext cx="308762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APORTA</a:t>
            </a:r>
            <a:endParaRPr lang="es-ES" sz="800" dirty="0"/>
          </a:p>
        </p:txBody>
      </p:sp>
      <p:sp>
        <p:nvSpPr>
          <p:cNvPr id="31" name="Shape 31"/>
          <p:cNvSpPr txBox="1"/>
          <p:nvPr/>
        </p:nvSpPr>
        <p:spPr>
          <a:xfrm>
            <a:off x="8324088" y="3538728"/>
            <a:ext cx="308762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Planificar también la mano de obra: quién está en cada turno y en cada máquina.</a:t>
            </a:r>
            <a:endParaRPr lang="es-ES" sz="950" dirty="0"/>
          </a:p>
        </p:txBody>
      </p:sp>
      <p:sp>
        <p:nvSpPr>
          <p:cNvPr id="32" name="Shape 32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33" name="Shape 33"/>
          <p:cNvSpPr txBox="1"/>
          <p:nvPr/>
        </p:nvSpPr>
        <p:spPr>
          <a:xfrm>
            <a:off x="2926080" y="4544568"/>
            <a:ext cx="28133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244C5A"/>
                </a:solidFill>
                <a:latin typeface="Montserrat"/>
                <a:cs typeface="Montserrat"/>
              </a:rPr>
              <a:t>Migración a aplicación web</a:t>
            </a:r>
            <a:endParaRPr lang="es-ES" sz="900" dirty="0"/>
          </a:p>
        </p:txBody>
      </p:sp>
      <p:sp>
        <p:nvSpPr>
          <p:cNvPr id="34" name="Shape 34"/>
          <p:cNvSpPr txBox="1"/>
          <p:nvPr/>
        </p:nvSpPr>
        <p:spPr>
          <a:xfrm>
            <a:off x="5739384" y="4544568"/>
            <a:ext cx="28133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244C5A"/>
                </a:solidFill>
                <a:latin typeface="Montserrat"/>
                <a:cs typeface="Montserrat"/>
              </a:rPr>
              <a:t>Algoritmo de combinación</a:t>
            </a:r>
            <a:endParaRPr lang="es-ES" sz="900" dirty="0"/>
          </a:p>
        </p:txBody>
      </p:sp>
      <p:sp>
        <p:nvSpPr>
          <p:cNvPr id="35" name="Shape 35"/>
          <p:cNvSpPr txBox="1"/>
          <p:nvPr/>
        </p:nvSpPr>
        <p:spPr>
          <a:xfrm>
            <a:off x="8552688" y="4544568"/>
            <a:ext cx="28133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244C5A"/>
                </a:solidFill>
                <a:latin typeface="Montserrat"/>
                <a:cs typeface="Montserrat"/>
              </a:rPr>
              <a:t>Optimización Recursos Internos</a:t>
            </a:r>
            <a:endParaRPr lang="es-ES" sz="900" dirty="0"/>
          </a:p>
        </p:txBody>
      </p:sp>
      <p:sp>
        <p:nvSpPr>
          <p:cNvPr id="36" name="Shape 36"/>
          <p:cNvSpPr txBox="1"/>
          <p:nvPr/>
        </p:nvSpPr>
        <p:spPr>
          <a:xfrm>
            <a:off x="822960" y="48188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50" b="1" i="0" dirty="0">
                <a:solidFill>
                  <a:srgbClr val="00263A"/>
                </a:solidFill>
                <a:latin typeface="Montserrat"/>
                <a:cs typeface="Montserrat"/>
              </a:rPr>
              <a:t>Ondupet</a:t>
            </a:r>
            <a:endParaRPr lang="es-ES" sz="1050" dirty="0"/>
          </a:p>
        </p:txBody>
      </p:sp>
      <p:sp>
        <p:nvSpPr>
          <p:cNvPr id="37" name="Shape 37"/>
          <p:cNvSpPr/>
          <p:nvPr/>
        </p:nvSpPr>
        <p:spPr>
          <a:xfrm>
            <a:off x="4204716" y="4828032"/>
            <a:ext cx="256032" cy="25603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38" name="Icono 38" descr="Icono 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323" y="4885639"/>
            <a:ext cx="140818" cy="140818"/>
          </a:xfrm>
          <a:prstGeom prst="rect">
            <a:avLst/>
          </a:prstGeom>
        </p:spPr>
      </p:pic>
      <p:sp>
        <p:nvSpPr>
          <p:cNvPr id="39" name="Shape 39"/>
          <p:cNvSpPr/>
          <p:nvPr/>
        </p:nvSpPr>
        <p:spPr>
          <a:xfrm>
            <a:off x="7100316" y="4910328"/>
            <a:ext cx="91440" cy="91440"/>
          </a:xfrm>
          <a:prstGeom prst="ellipse">
            <a:avLst/>
          </a:prstGeom>
          <a:solidFill>
            <a:srgbClr val="D7DF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0" name="Shape 40"/>
          <p:cNvSpPr/>
          <p:nvPr/>
        </p:nvSpPr>
        <p:spPr>
          <a:xfrm>
            <a:off x="9831324" y="4828032"/>
            <a:ext cx="256032" cy="25603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41" name="Icono 41" descr="Icono 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8931" y="4885639"/>
            <a:ext cx="140818" cy="140818"/>
          </a:xfrm>
          <a:prstGeom prst="rect">
            <a:avLst/>
          </a:prstGeom>
        </p:spPr>
      </p:pic>
      <p:sp>
        <p:nvSpPr>
          <p:cNvPr id="42" name="Shape 42"/>
          <p:cNvSpPr txBox="1"/>
          <p:nvPr/>
        </p:nvSpPr>
        <p:spPr>
          <a:xfrm>
            <a:off x="822960" y="51206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50" b="1" i="0" dirty="0">
                <a:solidFill>
                  <a:srgbClr val="00263A"/>
                </a:solidFill>
                <a:latin typeface="Montserrat"/>
                <a:cs typeface="Montserrat"/>
              </a:rPr>
              <a:t>Ondupack</a:t>
            </a:r>
            <a:endParaRPr lang="es-ES" sz="1050" dirty="0"/>
          </a:p>
        </p:txBody>
      </p:sp>
      <p:sp>
        <p:nvSpPr>
          <p:cNvPr id="43" name="Shape 43"/>
          <p:cNvSpPr/>
          <p:nvPr/>
        </p:nvSpPr>
        <p:spPr>
          <a:xfrm>
            <a:off x="4204716" y="5129784"/>
            <a:ext cx="256032" cy="25603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44" name="Icono 44" descr="Icono 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323" y="5187391"/>
            <a:ext cx="140818" cy="140818"/>
          </a:xfrm>
          <a:prstGeom prst="rect">
            <a:avLst/>
          </a:prstGeom>
        </p:spPr>
      </p:pic>
      <p:sp>
        <p:nvSpPr>
          <p:cNvPr id="45" name="Shape 45"/>
          <p:cNvSpPr/>
          <p:nvPr/>
        </p:nvSpPr>
        <p:spPr>
          <a:xfrm>
            <a:off x="7018020" y="5129784"/>
            <a:ext cx="256032" cy="256032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46" name="Icono 46" descr="Icono 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627" y="5187391"/>
            <a:ext cx="140818" cy="140818"/>
          </a:xfrm>
          <a:prstGeom prst="rect">
            <a:avLst/>
          </a:prstGeom>
        </p:spPr>
      </p:pic>
      <p:sp>
        <p:nvSpPr>
          <p:cNvPr id="47" name="Shape 47"/>
          <p:cNvSpPr/>
          <p:nvPr/>
        </p:nvSpPr>
        <p:spPr>
          <a:xfrm>
            <a:off x="9913620" y="5212080"/>
            <a:ext cx="91440" cy="91440"/>
          </a:xfrm>
          <a:prstGeom prst="ellipse">
            <a:avLst/>
          </a:prstGeom>
          <a:solidFill>
            <a:srgbClr val="D7DF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8" name="Shape 48"/>
          <p:cNvSpPr txBox="1"/>
          <p:nvPr/>
        </p:nvSpPr>
        <p:spPr>
          <a:xfrm>
            <a:off x="822960" y="54223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50" b="1" i="0" dirty="0">
                <a:solidFill>
                  <a:srgbClr val="00263A"/>
                </a:solidFill>
                <a:latin typeface="Montserrat"/>
                <a:cs typeface="Montserrat"/>
              </a:rPr>
              <a:t>MGT + PDA</a:t>
            </a:r>
            <a:endParaRPr lang="es-ES" sz="1050" dirty="0"/>
          </a:p>
        </p:txBody>
      </p:sp>
      <p:sp>
        <p:nvSpPr>
          <p:cNvPr id="49" name="Shape 49"/>
          <p:cNvSpPr txBox="1"/>
          <p:nvPr/>
        </p:nvSpPr>
        <p:spPr>
          <a:xfrm>
            <a:off x="2926080" y="5422392"/>
            <a:ext cx="8439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50" b="1" i="0" dirty="0">
                <a:solidFill>
                  <a:srgbClr val="244C5A"/>
                </a:solidFill>
                <a:latin typeface="Montserrat"/>
                <a:cs typeface="Montserrat"/>
              </a:rPr>
              <a:t>Ya en SIGPA (web)</a:t>
            </a:r>
            <a:r>
              <a:rPr lang="es-ES" sz="950" b="0" i="1" dirty="0">
                <a:solidFill>
                  <a:srgbClr val="244C5A"/>
                </a:solidFill>
                <a:latin typeface="Montserrat"/>
                <a:cs typeface="Montserrat"/>
              </a:rPr>
              <a:t>  ·  algoritmo de combinación en pruebas</a:t>
            </a:r>
            <a:endParaRPr lang="es-ES" sz="950" dirty="0"/>
          </a:p>
        </p:txBody>
      </p:sp>
      <p:sp>
        <p:nvSpPr>
          <p:cNvPr id="50" name="Shape 50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11</a:t>
            </a:r>
            <a:endParaRPr lang="es-E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729984" cy="6858000"/>
          </a:xfrm>
          <a:prstGeom prst="rect">
            <a:avLst/>
          </a:prstGeom>
          <a:solidFill>
            <a:srgbClr val="98C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729984" y="0"/>
            <a:ext cx="4526280" cy="6858000"/>
          </a:xfrm>
          <a:prstGeom prst="rect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56264" y="0"/>
            <a:ext cx="941832" cy="6858000"/>
          </a:xfrm>
          <a:prstGeom prst="rect">
            <a:avLst/>
          </a:prstGeom>
          <a:solidFill>
            <a:srgbClr val="D2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97280"/>
            <a:ext cx="2145550" cy="93268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" y="2788920"/>
            <a:ext cx="713232" cy="713232"/>
          </a:xfrm>
          <a:prstGeom prst="ellipse">
            <a:avLst/>
          </a:prstGeom>
          <a:solidFill>
            <a:srgbClr val="00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  <a:buNone/>
            </a:pPr>
            <a:r>
              <a:rPr sz="2000" b="1" i="0">
                <a:solidFill>
                  <a:srgbClr val="98C9EB"/>
                </a:solidFill>
                <a:latin typeface="Montserrat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67328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00263A"/>
                </a:solidFill>
                <a:latin typeface="Montserrat"/>
              </a:rPr>
              <a:t>Anexo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81728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350" b="0" i="1">
                <a:solidFill>
                  <a:srgbClr val="244C5A"/>
                </a:solidFill>
                <a:latin typeface="Montserrat"/>
              </a:rPr>
              <a:t>Próximos pasos de Ondupet y flujo intercompany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Ondupet · Próximos pasos</a:t>
            </a:r>
          </a:p>
        </p:txBody>
      </p:sp>
      <p:sp>
        <p:nvSpPr>
          <p:cNvPr id="3" name="Shape 3"/>
          <p:cNvSpPr/>
          <p:nvPr/>
        </p:nvSpPr>
        <p:spPr>
          <a:xfrm>
            <a:off x="73609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850" b="1" i="0" spc="40" dirty="0">
                <a:solidFill>
                  <a:srgbClr val="00263A"/>
                </a:solidFill>
                <a:latin typeface="Montserrat"/>
                <a:cs typeface="Montserrat"/>
              </a:rPr>
              <a:t>4 DESARROLLOS</a:t>
            </a:r>
            <a:endParaRPr lang="es-ES" sz="850" dirty="0"/>
          </a:p>
        </p:txBody>
      </p:sp>
      <p:sp>
        <p:nvSpPr>
          <p:cNvPr id="4" name="Shape 4"/>
          <p:cNvSpPr/>
          <p:nvPr/>
        </p:nvSpPr>
        <p:spPr>
          <a:xfrm>
            <a:off x="548640" y="1325880"/>
            <a:ext cx="2601468" cy="2788920"/>
          </a:xfrm>
          <a:prstGeom prst="roundRect">
            <a:avLst>
              <a:gd name="adj" fmla="val 2811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" name="Shape 5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6" name="Icono 6" descr="Icono sca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1869948" y="16733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CONTROL</a:t>
            </a:r>
            <a:endParaRPr lang="es-ES" sz="750" dirty="0"/>
          </a:p>
        </p:txBody>
      </p:sp>
      <p:sp>
        <p:nvSpPr>
          <p:cNvPr id="8" name="Shape 8"/>
          <p:cNvSpPr txBox="1"/>
          <p:nvPr/>
        </p:nvSpPr>
        <p:spPr>
          <a:xfrm>
            <a:off x="777240" y="2240280"/>
            <a:ext cx="21442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350" b="1" i="0" dirty="0">
                <a:solidFill>
                  <a:srgbClr val="00263A"/>
                </a:solidFill>
                <a:latin typeface="Montserrat"/>
                <a:cs typeface="Montserrat"/>
              </a:rPr>
              <a:t>Balance de masas</a:t>
            </a:r>
            <a:endParaRPr lang="es-ES" sz="1350" dirty="0"/>
          </a:p>
        </p:txBody>
      </p:sp>
      <p:sp>
        <p:nvSpPr>
          <p:cNvPr id="9" name="Shape 9"/>
          <p:cNvSpPr txBox="1"/>
          <p:nvPr/>
        </p:nvSpPr>
        <p:spPr>
          <a:xfrm>
            <a:off x="777240" y="26517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ES</a:t>
            </a:r>
            <a:endParaRPr lang="es-ES" sz="800" dirty="0"/>
          </a:p>
        </p:txBody>
      </p:sp>
      <p:sp>
        <p:nvSpPr>
          <p:cNvPr id="10" name="Shape 10"/>
          <p:cNvSpPr txBox="1"/>
          <p:nvPr/>
        </p:nvSpPr>
        <p:spPr>
          <a:xfrm>
            <a:off x="777240" y="286207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00263A"/>
                </a:solidFill>
                <a:latin typeface="Montserrat"/>
                <a:cs typeface="Montserrat"/>
              </a:rPr>
              <a:t>Consumo real frente a teórico, por pedido.</a:t>
            </a:r>
            <a:endParaRPr lang="es-ES" sz="950" dirty="0"/>
          </a:p>
        </p:txBody>
      </p:sp>
      <p:sp>
        <p:nvSpPr>
          <p:cNvPr id="11" name="Shape 11"/>
          <p:cNvSpPr txBox="1"/>
          <p:nvPr/>
        </p:nvSpPr>
        <p:spPr>
          <a:xfrm>
            <a:off x="777240" y="33832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APORTA</a:t>
            </a:r>
            <a:endParaRPr lang="es-ES" sz="800" dirty="0"/>
          </a:p>
        </p:txBody>
      </p:sp>
      <p:sp>
        <p:nvSpPr>
          <p:cNvPr id="12" name="Shape 12"/>
          <p:cNvSpPr txBox="1"/>
          <p:nvPr/>
        </p:nvSpPr>
        <p:spPr>
          <a:xfrm>
            <a:off x="777240" y="359359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Detectar desviaciones y errores que descuadran el stock.</a:t>
            </a:r>
            <a:endParaRPr lang="es-ES" sz="950" dirty="0"/>
          </a:p>
        </p:txBody>
      </p:sp>
      <p:sp>
        <p:nvSpPr>
          <p:cNvPr id="13" name="Shape 13"/>
          <p:cNvSpPr/>
          <p:nvPr/>
        </p:nvSpPr>
        <p:spPr>
          <a:xfrm>
            <a:off x="3378708" y="1325880"/>
            <a:ext cx="2601468" cy="2788920"/>
          </a:xfrm>
          <a:prstGeom prst="roundRect">
            <a:avLst>
              <a:gd name="adj" fmla="val 2811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4" name="Shape 14"/>
          <p:cNvSpPr/>
          <p:nvPr/>
        </p:nvSpPr>
        <p:spPr>
          <a:xfrm>
            <a:off x="3607308" y="1554480"/>
            <a:ext cx="548640" cy="54864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15" name="Icono 15" descr="Icono hourgla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468" y="1691640"/>
            <a:ext cx="274320" cy="274320"/>
          </a:xfrm>
          <a:prstGeom prst="rect">
            <a:avLst/>
          </a:prstGeom>
        </p:spPr>
      </p:pic>
      <p:sp>
        <p:nvSpPr>
          <p:cNvPr id="16" name="Shape 16"/>
          <p:cNvSpPr/>
          <p:nvPr/>
        </p:nvSpPr>
        <p:spPr>
          <a:xfrm>
            <a:off x="4700016" y="16733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ENTREGA</a:t>
            </a:r>
            <a:endParaRPr lang="es-ES" sz="750" dirty="0"/>
          </a:p>
        </p:txBody>
      </p:sp>
      <p:sp>
        <p:nvSpPr>
          <p:cNvPr id="17" name="Shape 17"/>
          <p:cNvSpPr txBox="1"/>
          <p:nvPr/>
        </p:nvSpPr>
        <p:spPr>
          <a:xfrm>
            <a:off x="3607308" y="2240280"/>
            <a:ext cx="21442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350" b="1" i="0" dirty="0">
                <a:solidFill>
                  <a:srgbClr val="00263A"/>
                </a:solidFill>
                <a:latin typeface="Montserrat"/>
                <a:cs typeface="Montserrat"/>
              </a:rPr>
              <a:t>Atraso de pedidos</a:t>
            </a:r>
            <a:endParaRPr lang="es-ES" sz="1350" dirty="0"/>
          </a:p>
        </p:txBody>
      </p:sp>
      <p:sp>
        <p:nvSpPr>
          <p:cNvPr id="18" name="Shape 18"/>
          <p:cNvSpPr txBox="1"/>
          <p:nvPr/>
        </p:nvSpPr>
        <p:spPr>
          <a:xfrm>
            <a:off x="3607308" y="26517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ES</a:t>
            </a:r>
            <a:endParaRPr lang="es-ES" sz="800" dirty="0"/>
          </a:p>
        </p:txBody>
      </p:sp>
      <p:sp>
        <p:nvSpPr>
          <p:cNvPr id="19" name="Shape 19"/>
          <p:cNvSpPr txBox="1"/>
          <p:nvPr/>
        </p:nvSpPr>
        <p:spPr>
          <a:xfrm>
            <a:off x="3607308" y="286207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00263A"/>
                </a:solidFill>
                <a:latin typeface="Montserrat"/>
                <a:cs typeface="Montserrat"/>
              </a:rPr>
              <a:t>Fecha de disponibilidad para cada pedido según lo planificado.</a:t>
            </a:r>
            <a:endParaRPr lang="es-ES" sz="950" dirty="0"/>
          </a:p>
        </p:txBody>
      </p:sp>
      <p:sp>
        <p:nvSpPr>
          <p:cNvPr id="20" name="Shape 20"/>
          <p:cNvSpPr txBox="1"/>
          <p:nvPr/>
        </p:nvSpPr>
        <p:spPr>
          <a:xfrm>
            <a:off x="3607308" y="33832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APORTA</a:t>
            </a:r>
            <a:endParaRPr lang="es-ES" sz="800" dirty="0"/>
          </a:p>
        </p:txBody>
      </p:sp>
      <p:sp>
        <p:nvSpPr>
          <p:cNvPr id="21" name="Shape 21"/>
          <p:cNvSpPr txBox="1"/>
          <p:nvPr/>
        </p:nvSpPr>
        <p:spPr>
          <a:xfrm>
            <a:off x="3607308" y="359359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Anticipar retrasos y avisar al cliente antes de que ocurran.</a:t>
            </a:r>
            <a:endParaRPr lang="es-ES" sz="950" dirty="0"/>
          </a:p>
        </p:txBody>
      </p:sp>
      <p:sp>
        <p:nvSpPr>
          <p:cNvPr id="22" name="Shape 22"/>
          <p:cNvSpPr/>
          <p:nvPr/>
        </p:nvSpPr>
        <p:spPr>
          <a:xfrm>
            <a:off x="6208776" y="1325880"/>
            <a:ext cx="2601468" cy="2788920"/>
          </a:xfrm>
          <a:prstGeom prst="roundRect">
            <a:avLst>
              <a:gd name="adj" fmla="val 2811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3" name="Shape 23"/>
          <p:cNvSpPr/>
          <p:nvPr/>
        </p:nvSpPr>
        <p:spPr>
          <a:xfrm>
            <a:off x="6437376" y="1554480"/>
            <a:ext cx="548640" cy="54864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24" name="Icono 24" descr="Icono 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691640"/>
            <a:ext cx="274320" cy="274320"/>
          </a:xfrm>
          <a:prstGeom prst="rect">
            <a:avLst/>
          </a:prstGeom>
        </p:spPr>
      </p:pic>
      <p:sp>
        <p:nvSpPr>
          <p:cNvPr id="25" name="Shape 25"/>
          <p:cNvSpPr/>
          <p:nvPr/>
        </p:nvSpPr>
        <p:spPr>
          <a:xfrm>
            <a:off x="7530084" y="16733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ENTREGA</a:t>
            </a:r>
            <a:endParaRPr lang="es-ES" sz="750" dirty="0"/>
          </a:p>
        </p:txBody>
      </p:sp>
      <p:sp>
        <p:nvSpPr>
          <p:cNvPr id="26" name="Shape 26"/>
          <p:cNvSpPr txBox="1"/>
          <p:nvPr/>
        </p:nvSpPr>
        <p:spPr>
          <a:xfrm>
            <a:off x="6437376" y="2240280"/>
            <a:ext cx="21442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350" b="1" i="0" dirty="0">
                <a:solidFill>
                  <a:srgbClr val="00263A"/>
                </a:solidFill>
                <a:latin typeface="Montserrat"/>
                <a:cs typeface="Montserrat"/>
              </a:rPr>
              <a:t>Sistema de reservas</a:t>
            </a:r>
            <a:endParaRPr lang="es-ES" sz="1350" dirty="0"/>
          </a:p>
        </p:txBody>
      </p:sp>
      <p:sp>
        <p:nvSpPr>
          <p:cNvPr id="27" name="Shape 27"/>
          <p:cNvSpPr txBox="1"/>
          <p:nvPr/>
        </p:nvSpPr>
        <p:spPr>
          <a:xfrm>
            <a:off x="6437376" y="26517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ES</a:t>
            </a:r>
            <a:endParaRPr lang="es-ES" sz="800" dirty="0"/>
          </a:p>
        </p:txBody>
      </p:sp>
      <p:sp>
        <p:nvSpPr>
          <p:cNvPr id="28" name="Shape 28"/>
          <p:cNvSpPr txBox="1"/>
          <p:nvPr/>
        </p:nvSpPr>
        <p:spPr>
          <a:xfrm>
            <a:off x="6437376" y="286207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00263A"/>
                </a:solidFill>
                <a:latin typeface="Montserrat"/>
                <a:cs typeface="Montserrat"/>
              </a:rPr>
              <a:t>Stock asignado a cada pedido por fechas, con ajuste manual.</a:t>
            </a:r>
            <a:endParaRPr lang="es-ES" sz="950" dirty="0"/>
          </a:p>
        </p:txBody>
      </p:sp>
      <p:sp>
        <p:nvSpPr>
          <p:cNvPr id="29" name="Shape 29"/>
          <p:cNvSpPr txBox="1"/>
          <p:nvPr/>
        </p:nvSpPr>
        <p:spPr>
          <a:xfrm>
            <a:off x="6437376" y="33832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APORTA</a:t>
            </a:r>
            <a:endParaRPr lang="es-ES" sz="800" dirty="0"/>
          </a:p>
        </p:txBody>
      </p:sp>
      <p:sp>
        <p:nvSpPr>
          <p:cNvPr id="30" name="Shape 30"/>
          <p:cNvSpPr txBox="1"/>
          <p:nvPr/>
        </p:nvSpPr>
        <p:spPr>
          <a:xfrm>
            <a:off x="6437376" y="359359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Saber qué stock está comprometido y con qué pedido.</a:t>
            </a:r>
            <a:endParaRPr lang="es-ES" sz="950" dirty="0"/>
          </a:p>
        </p:txBody>
      </p:sp>
      <p:sp>
        <p:nvSpPr>
          <p:cNvPr id="31" name="Shape 31"/>
          <p:cNvSpPr/>
          <p:nvPr/>
        </p:nvSpPr>
        <p:spPr>
          <a:xfrm>
            <a:off x="9038844" y="1325880"/>
            <a:ext cx="2601468" cy="2788920"/>
          </a:xfrm>
          <a:prstGeom prst="roundRect">
            <a:avLst>
              <a:gd name="adj" fmla="val 2811"/>
            </a:avLst>
          </a:prstGeom>
          <a:solidFill>
            <a:srgbClr val="F5F7F8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32" name="Shape 32"/>
          <p:cNvSpPr/>
          <p:nvPr/>
        </p:nvSpPr>
        <p:spPr>
          <a:xfrm>
            <a:off x="9267444" y="1554480"/>
            <a:ext cx="548640" cy="54864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pic>
        <p:nvPicPr>
          <p:cNvPr id="33" name="Icono 33" descr="Icono gau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604" y="1691640"/>
            <a:ext cx="274320" cy="274320"/>
          </a:xfrm>
          <a:prstGeom prst="rect">
            <a:avLst/>
          </a:prstGeom>
        </p:spPr>
      </p:pic>
      <p:sp>
        <p:nvSpPr>
          <p:cNvPr id="34" name="Shape 34"/>
          <p:cNvSpPr/>
          <p:nvPr/>
        </p:nvSpPr>
        <p:spPr>
          <a:xfrm>
            <a:off x="10360152" y="16733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spc="40" dirty="0">
                <a:solidFill>
                  <a:srgbClr val="00263A"/>
                </a:solidFill>
                <a:latin typeface="Montserrat"/>
                <a:cs typeface="Montserrat"/>
              </a:rPr>
              <a:t>CAPACIDAD</a:t>
            </a:r>
            <a:endParaRPr lang="es-ES" sz="750" dirty="0"/>
          </a:p>
        </p:txBody>
      </p:sp>
      <p:sp>
        <p:nvSpPr>
          <p:cNvPr id="35" name="Shape 35"/>
          <p:cNvSpPr txBox="1"/>
          <p:nvPr/>
        </p:nvSpPr>
        <p:spPr>
          <a:xfrm>
            <a:off x="9267444" y="2240280"/>
            <a:ext cx="214426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350" b="1" i="0" dirty="0">
                <a:solidFill>
                  <a:srgbClr val="00263A"/>
                </a:solidFill>
                <a:latin typeface="Montserrat"/>
                <a:cs typeface="Montserrat"/>
              </a:rPr>
              <a:t>Carga de capacidad</a:t>
            </a:r>
            <a:endParaRPr lang="es-ES" sz="1350" dirty="0"/>
          </a:p>
        </p:txBody>
      </p:sp>
      <p:sp>
        <p:nvSpPr>
          <p:cNvPr id="36" name="Shape 36"/>
          <p:cNvSpPr txBox="1"/>
          <p:nvPr/>
        </p:nvSpPr>
        <p:spPr>
          <a:xfrm>
            <a:off x="9267444" y="265176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ES</a:t>
            </a:r>
            <a:endParaRPr lang="es-ES" sz="800" dirty="0"/>
          </a:p>
        </p:txBody>
      </p:sp>
      <p:sp>
        <p:nvSpPr>
          <p:cNvPr id="37" name="Shape 37"/>
          <p:cNvSpPr txBox="1"/>
          <p:nvPr/>
        </p:nvSpPr>
        <p:spPr>
          <a:xfrm>
            <a:off x="9267444" y="286207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0" i="0" dirty="0">
                <a:solidFill>
                  <a:srgbClr val="00263A"/>
                </a:solidFill>
                <a:latin typeface="Montserrat"/>
                <a:cs typeface="Montserrat"/>
              </a:rPr>
              <a:t>% de saturación por línea según previsión y órdenes lanzadas.</a:t>
            </a:r>
            <a:endParaRPr lang="es-ES" sz="950" dirty="0"/>
          </a:p>
        </p:txBody>
      </p:sp>
      <p:sp>
        <p:nvSpPr>
          <p:cNvPr id="38" name="Shape 38"/>
          <p:cNvSpPr txBox="1"/>
          <p:nvPr/>
        </p:nvSpPr>
        <p:spPr>
          <a:xfrm>
            <a:off x="9267444" y="33832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800" b="1" i="0" spc="120" dirty="0">
                <a:solidFill>
                  <a:srgbClr val="244C5A"/>
                </a:solidFill>
                <a:latin typeface="Montserrat"/>
                <a:cs typeface="Montserrat"/>
              </a:rPr>
              <a:t>QUÉ APORTA</a:t>
            </a:r>
            <a:endParaRPr lang="es-ES" sz="800" dirty="0"/>
          </a:p>
        </p:txBody>
      </p:sp>
      <p:sp>
        <p:nvSpPr>
          <p:cNvPr id="39" name="Shape 39"/>
          <p:cNvSpPr txBox="1"/>
          <p:nvPr/>
        </p:nvSpPr>
        <p:spPr>
          <a:xfrm>
            <a:off x="9267444" y="3593592"/>
            <a:ext cx="214426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ES" sz="950" b="1" i="0" dirty="0">
                <a:solidFill>
                  <a:srgbClr val="00263A"/>
                </a:solidFill>
                <a:latin typeface="Montserrat"/>
                <a:cs typeface="Montserrat"/>
              </a:rPr>
              <a:t>Detectar cuellos de botella y equilibrar líneas con antelación.</a:t>
            </a:r>
            <a:endParaRPr lang="es-ES" sz="950" dirty="0"/>
          </a:p>
        </p:txBody>
      </p:sp>
      <p:sp>
        <p:nvSpPr>
          <p:cNvPr id="40" name="Shape 40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5925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41" name="Shape 41"/>
          <p:cNvSpPr txBox="1"/>
          <p:nvPr/>
        </p:nvSpPr>
        <p:spPr>
          <a:xfrm>
            <a:off x="2743200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Dato maestro</a:t>
            </a:r>
            <a:endParaRPr lang="es-ES" sz="750" dirty="0"/>
          </a:p>
        </p:txBody>
      </p:sp>
      <p:sp>
        <p:nvSpPr>
          <p:cNvPr id="42" name="Shape 42"/>
          <p:cNvSpPr txBox="1"/>
          <p:nvPr/>
        </p:nvSpPr>
        <p:spPr>
          <a:xfrm>
            <a:off x="3613023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Demanda</a:t>
            </a:r>
            <a:endParaRPr lang="es-ES" sz="750" dirty="0"/>
          </a:p>
        </p:txBody>
      </p:sp>
      <p:sp>
        <p:nvSpPr>
          <p:cNvPr id="43" name="Shape 43"/>
          <p:cNvSpPr txBox="1"/>
          <p:nvPr/>
        </p:nvSpPr>
        <p:spPr>
          <a:xfrm>
            <a:off x="4482846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Cartera</a:t>
            </a:r>
            <a:endParaRPr lang="es-ES" sz="750" dirty="0"/>
          </a:p>
        </p:txBody>
      </p:sp>
      <p:sp>
        <p:nvSpPr>
          <p:cNvPr id="44" name="Shape 44"/>
          <p:cNvSpPr txBox="1"/>
          <p:nvPr/>
        </p:nvSpPr>
        <p:spPr>
          <a:xfrm>
            <a:off x="5352669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Necesidades</a:t>
            </a:r>
            <a:endParaRPr lang="es-ES" sz="750" dirty="0"/>
          </a:p>
        </p:txBody>
      </p:sp>
      <p:sp>
        <p:nvSpPr>
          <p:cNvPr id="45" name="Shape 45"/>
          <p:cNvSpPr txBox="1"/>
          <p:nvPr/>
        </p:nvSpPr>
        <p:spPr>
          <a:xfrm>
            <a:off x="6222492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Capacidad</a:t>
            </a:r>
            <a:endParaRPr lang="es-ES" sz="750" dirty="0"/>
          </a:p>
        </p:txBody>
      </p:sp>
      <p:sp>
        <p:nvSpPr>
          <p:cNvPr id="46" name="Shape 46"/>
          <p:cNvSpPr txBox="1"/>
          <p:nvPr/>
        </p:nvSpPr>
        <p:spPr>
          <a:xfrm>
            <a:off x="7092315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Programación</a:t>
            </a:r>
            <a:endParaRPr lang="es-ES" sz="750" dirty="0"/>
          </a:p>
        </p:txBody>
      </p:sp>
      <p:sp>
        <p:nvSpPr>
          <p:cNvPr id="47" name="Shape 47"/>
          <p:cNvSpPr txBox="1"/>
          <p:nvPr/>
        </p:nvSpPr>
        <p:spPr>
          <a:xfrm>
            <a:off x="7962138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Entrega</a:t>
            </a:r>
            <a:endParaRPr lang="es-ES" sz="750" dirty="0"/>
          </a:p>
        </p:txBody>
      </p:sp>
      <p:sp>
        <p:nvSpPr>
          <p:cNvPr id="48" name="Shape 48"/>
          <p:cNvSpPr txBox="1"/>
          <p:nvPr/>
        </p:nvSpPr>
        <p:spPr>
          <a:xfrm>
            <a:off x="8831961" y="4453128"/>
            <a:ext cx="90639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750" b="1" i="0" dirty="0">
                <a:solidFill>
                  <a:srgbClr val="244C5A"/>
                </a:solidFill>
                <a:latin typeface="Montserrat"/>
                <a:cs typeface="Montserrat"/>
              </a:rPr>
              <a:t>Control</a:t>
            </a:r>
            <a:endParaRPr lang="es-ES" sz="750" dirty="0"/>
          </a:p>
        </p:txBody>
      </p:sp>
      <p:sp>
        <p:nvSpPr>
          <p:cNvPr id="49" name="Shape 49"/>
          <p:cNvSpPr txBox="1"/>
          <p:nvPr/>
        </p:nvSpPr>
        <p:spPr>
          <a:xfrm>
            <a:off x="822960" y="469087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1" i="0" dirty="0">
                <a:solidFill>
                  <a:srgbClr val="00263A"/>
                </a:solidFill>
                <a:latin typeface="Montserrat"/>
                <a:cs typeface="Montserrat"/>
              </a:rPr>
              <a:t>Hoy</a:t>
            </a:r>
            <a:endParaRPr lang="es-ES" sz="1000" dirty="0"/>
          </a:p>
        </p:txBody>
      </p:sp>
      <p:sp>
        <p:nvSpPr>
          <p:cNvPr id="50" name="Shape 50"/>
          <p:cNvSpPr/>
          <p:nvPr/>
        </p:nvSpPr>
        <p:spPr>
          <a:xfrm>
            <a:off x="2788920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1" name="Shape 51"/>
          <p:cNvSpPr/>
          <p:nvPr/>
        </p:nvSpPr>
        <p:spPr>
          <a:xfrm>
            <a:off x="3658743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2" name="Shape 52"/>
          <p:cNvSpPr/>
          <p:nvPr/>
        </p:nvSpPr>
        <p:spPr>
          <a:xfrm>
            <a:off x="4528566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3" name="Shape 53"/>
          <p:cNvSpPr/>
          <p:nvPr/>
        </p:nvSpPr>
        <p:spPr>
          <a:xfrm>
            <a:off x="5398389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4" name="Shape 54"/>
          <p:cNvSpPr/>
          <p:nvPr/>
        </p:nvSpPr>
        <p:spPr>
          <a:xfrm>
            <a:off x="6268212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98C9EB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5" name="Shape 55"/>
          <p:cNvSpPr/>
          <p:nvPr/>
        </p:nvSpPr>
        <p:spPr>
          <a:xfrm>
            <a:off x="7138035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6" name="Shape 56"/>
          <p:cNvSpPr/>
          <p:nvPr/>
        </p:nvSpPr>
        <p:spPr>
          <a:xfrm>
            <a:off x="8007858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7" name="Shape 57"/>
          <p:cNvSpPr/>
          <p:nvPr/>
        </p:nvSpPr>
        <p:spPr>
          <a:xfrm>
            <a:off x="8877681" y="472744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98C9EB"/>
            </a:solidFill>
            <a:prstDash val="dash"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8" name="Shape 58"/>
          <p:cNvSpPr txBox="1"/>
          <p:nvPr/>
        </p:nvSpPr>
        <p:spPr>
          <a:xfrm>
            <a:off x="9875520" y="4690872"/>
            <a:ext cx="158191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1" i="0" dirty="0">
                <a:solidFill>
                  <a:srgbClr val="244C5A"/>
                </a:solidFill>
                <a:latin typeface="Montserrat"/>
                <a:cs typeface="Montserrat"/>
              </a:rPr>
              <a:t>5 de 8  ·  1 parcial</a:t>
            </a:r>
            <a:endParaRPr lang="es-ES" sz="1000" dirty="0"/>
          </a:p>
        </p:txBody>
      </p:sp>
      <p:sp>
        <p:nvSpPr>
          <p:cNvPr id="59" name="Shape 59"/>
          <p:cNvSpPr txBox="1"/>
          <p:nvPr/>
        </p:nvSpPr>
        <p:spPr>
          <a:xfrm>
            <a:off x="822960" y="51023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1" i="0" dirty="0">
                <a:solidFill>
                  <a:srgbClr val="00263A"/>
                </a:solidFill>
                <a:latin typeface="Montserrat"/>
                <a:cs typeface="Montserrat"/>
              </a:rPr>
              <a:t>Con los próximos pasos</a:t>
            </a:r>
            <a:endParaRPr lang="es-ES" sz="1000" dirty="0"/>
          </a:p>
        </p:txBody>
      </p:sp>
      <p:sp>
        <p:nvSpPr>
          <p:cNvPr id="60" name="Shape 60"/>
          <p:cNvSpPr/>
          <p:nvPr/>
        </p:nvSpPr>
        <p:spPr>
          <a:xfrm>
            <a:off x="2788920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1" name="Shape 61"/>
          <p:cNvSpPr/>
          <p:nvPr/>
        </p:nvSpPr>
        <p:spPr>
          <a:xfrm>
            <a:off x="3658743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2" name="Shape 62"/>
          <p:cNvSpPr/>
          <p:nvPr/>
        </p:nvSpPr>
        <p:spPr>
          <a:xfrm>
            <a:off x="4528566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3" name="Shape 63"/>
          <p:cNvSpPr/>
          <p:nvPr/>
        </p:nvSpPr>
        <p:spPr>
          <a:xfrm>
            <a:off x="5398389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4" name="Shape 64"/>
          <p:cNvSpPr/>
          <p:nvPr/>
        </p:nvSpPr>
        <p:spPr>
          <a:xfrm>
            <a:off x="6268212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5" name="Shape 65"/>
          <p:cNvSpPr/>
          <p:nvPr/>
        </p:nvSpPr>
        <p:spPr>
          <a:xfrm>
            <a:off x="7138035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6" name="Shape 66"/>
          <p:cNvSpPr/>
          <p:nvPr/>
        </p:nvSpPr>
        <p:spPr>
          <a:xfrm>
            <a:off x="8007858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7" name="Shape 67"/>
          <p:cNvSpPr/>
          <p:nvPr/>
        </p:nvSpPr>
        <p:spPr>
          <a:xfrm>
            <a:off x="8877681" y="5138928"/>
            <a:ext cx="814959" cy="274320"/>
          </a:xfrm>
          <a:prstGeom prst="roundRect">
            <a:avLst>
              <a:gd name="adj" fmla="val 16666"/>
            </a:avLst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8" name="Shape 68"/>
          <p:cNvSpPr txBox="1"/>
          <p:nvPr/>
        </p:nvSpPr>
        <p:spPr>
          <a:xfrm>
            <a:off x="9875520" y="5102352"/>
            <a:ext cx="158191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000" b="1" i="0" dirty="0">
                <a:solidFill>
                  <a:srgbClr val="244C5A"/>
                </a:solidFill>
                <a:latin typeface="Montserrat"/>
                <a:cs typeface="Montserrat"/>
              </a:rPr>
              <a:t>8 de 8  ·  ciclo completo</a:t>
            </a:r>
            <a:endParaRPr lang="es-ES" sz="1000" dirty="0"/>
          </a:p>
        </p:txBody>
      </p:sp>
      <p:sp>
        <p:nvSpPr>
          <p:cNvPr id="69" name="Shape 69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13</a:t>
            </a:r>
            <a:endParaRPr lang="es-E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146304"/>
            <a:ext cx="6766560" cy="731520"/>
          </a:xfrm>
        </p:spPr>
        <p:txBody>
          <a:bodyPr wrap="square" anchor="ctr"/>
          <a:lstStyle/>
          <a:p>
            <a:pPr algn="l">
              <a:lnSpc>
                <a:spcPct val="105000"/>
              </a:lnSpc>
              <a:buNone/>
            </a:pPr>
            <a:r>
              <a:rPr lang="es-ES" sz="2300" b="1" i="0" dirty="0">
                <a:solidFill>
                  <a:srgbClr val="FFFFFF"/>
                </a:solidFill>
                <a:latin typeface="Montserrat"/>
              </a:rPr>
              <a:t>MGT + PDA · Flujo del pull</a:t>
            </a:r>
          </a:p>
        </p:txBody>
      </p:sp>
      <p:sp>
        <p:nvSpPr>
          <p:cNvPr id="3" name="Shape 3"/>
          <p:cNvSpPr/>
          <p:nvPr/>
        </p:nvSpPr>
        <p:spPr>
          <a:xfrm>
            <a:off x="7360920" y="31089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850" b="1" i="0" spc="40" dirty="0">
                <a:solidFill>
                  <a:srgbClr val="00263A"/>
                </a:solidFill>
                <a:latin typeface="Montserrat"/>
                <a:cs typeface="Montserrat"/>
              </a:rPr>
              <a:t>PULL SYSTEM</a:t>
            </a:r>
            <a:endParaRPr lang="es-ES" sz="850" dirty="0"/>
          </a:p>
        </p:txBody>
      </p:sp>
      <p:sp>
        <p:nvSpPr>
          <p:cNvPr id="4" name="Shape 4"/>
          <p:cNvSpPr/>
          <p:nvPr/>
        </p:nvSpPr>
        <p:spPr>
          <a:xfrm>
            <a:off x="548640" y="13258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5" name="Shape 5"/>
          <p:cNvSpPr/>
          <p:nvPr/>
        </p:nvSpPr>
        <p:spPr>
          <a:xfrm>
            <a:off x="548640" y="132588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00263A"/>
          </a:solidFill>
          <a:ln w="9525">
            <a:solidFill>
              <a:srgbClr val="00263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6" name="Shape 6"/>
          <p:cNvSpPr txBox="1"/>
          <p:nvPr/>
        </p:nvSpPr>
        <p:spPr>
          <a:xfrm>
            <a:off x="713232" y="16002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250" b="1" i="0" dirty="0">
                <a:solidFill>
                  <a:srgbClr val="FFFFFF"/>
                </a:solidFill>
                <a:latin typeface="Montserrat"/>
                <a:cs typeface="Montserrat"/>
              </a:rPr>
              <a:t>Cartoneras</a:t>
            </a:r>
            <a:endParaRPr lang="es-ES" sz="1250" dirty="0"/>
          </a:p>
        </p:txBody>
      </p:sp>
      <p:sp>
        <p:nvSpPr>
          <p:cNvPr id="7" name="Shape 7"/>
          <p:cNvSpPr txBox="1"/>
          <p:nvPr/>
        </p:nvSpPr>
        <p:spPr>
          <a:xfrm>
            <a:off x="713232" y="18928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00" b="0" i="0" dirty="0">
                <a:solidFill>
                  <a:srgbClr val="98C9EB"/>
                </a:solidFill>
                <a:latin typeface="Montserrat"/>
                <a:cs typeface="Montserrat"/>
              </a:rPr>
              <a:t>Ondupack Almendralejo · Navalmoral</a:t>
            </a:r>
            <a:endParaRPr lang="es-ES" sz="800" dirty="0"/>
          </a:p>
        </p:txBody>
      </p:sp>
      <p:sp>
        <p:nvSpPr>
          <p:cNvPr id="8" name="Shape 8"/>
          <p:cNvSpPr/>
          <p:nvPr/>
        </p:nvSpPr>
        <p:spPr>
          <a:xfrm>
            <a:off x="548640" y="2542032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9" name="Shape 9"/>
          <p:cNvSpPr/>
          <p:nvPr/>
        </p:nvSpPr>
        <p:spPr>
          <a:xfrm>
            <a:off x="548640" y="2542032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98C9EB"/>
          </a:solidFill>
          <a:ln w="9525">
            <a:solidFill>
              <a:srgbClr val="98C9EB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0" name="Shape 10"/>
          <p:cNvSpPr txBox="1"/>
          <p:nvPr/>
        </p:nvSpPr>
        <p:spPr>
          <a:xfrm>
            <a:off x="713232" y="281635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250" b="1" i="0" dirty="0">
                <a:solidFill>
                  <a:srgbClr val="00263A"/>
                </a:solidFill>
                <a:latin typeface="Montserrat"/>
                <a:cs typeface="Montserrat"/>
              </a:rPr>
              <a:t>SAP</a:t>
            </a:r>
            <a:endParaRPr lang="es-ES" sz="1250" dirty="0"/>
          </a:p>
        </p:txBody>
      </p:sp>
      <p:sp>
        <p:nvSpPr>
          <p:cNvPr id="11" name="Shape 11"/>
          <p:cNvSpPr txBox="1"/>
          <p:nvPr/>
        </p:nvSpPr>
        <p:spPr>
          <a:xfrm>
            <a:off x="713232" y="310896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00" b="0" i="0" dirty="0">
                <a:solidFill>
                  <a:srgbClr val="244C5A"/>
                </a:solidFill>
                <a:latin typeface="Montserrat"/>
                <a:cs typeface="Montserrat"/>
              </a:rPr>
              <a:t>Integración intercompany</a:t>
            </a:r>
            <a:endParaRPr lang="es-ES" sz="800" dirty="0"/>
          </a:p>
        </p:txBody>
      </p:sp>
      <p:sp>
        <p:nvSpPr>
          <p:cNvPr id="12" name="Shape 12"/>
          <p:cNvSpPr/>
          <p:nvPr/>
        </p:nvSpPr>
        <p:spPr>
          <a:xfrm>
            <a:off x="548640" y="3758184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3" name="Shape 13"/>
          <p:cNvSpPr/>
          <p:nvPr/>
        </p:nvSpPr>
        <p:spPr>
          <a:xfrm>
            <a:off x="548640" y="3758184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244C5A"/>
          </a:solidFill>
          <a:ln w="9525">
            <a:solidFill>
              <a:srgbClr val="244C5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4" name="Shape 14"/>
          <p:cNvSpPr txBox="1"/>
          <p:nvPr/>
        </p:nvSpPr>
        <p:spPr>
          <a:xfrm>
            <a:off x="713232" y="40325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ES" sz="1250" b="1" i="0" dirty="0">
                <a:solidFill>
                  <a:srgbClr val="FFFFFF"/>
                </a:solidFill>
                <a:latin typeface="Montserrat"/>
                <a:cs typeface="Montserrat"/>
              </a:rPr>
              <a:t>Papeleras</a:t>
            </a:r>
            <a:endParaRPr lang="es-ES" sz="1250" dirty="0"/>
          </a:p>
        </p:txBody>
      </p:sp>
      <p:sp>
        <p:nvSpPr>
          <p:cNvPr id="15" name="Shape 15"/>
          <p:cNvSpPr txBox="1"/>
          <p:nvPr/>
        </p:nvSpPr>
        <p:spPr>
          <a:xfrm>
            <a:off x="713232" y="432511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00" b="0" i="0" dirty="0">
                <a:solidFill>
                  <a:srgbClr val="DCE7EF"/>
                </a:solidFill>
                <a:latin typeface="Montserrat"/>
                <a:cs typeface="Montserrat"/>
              </a:rPr>
              <a:t>MGT · PDA</a:t>
            </a:r>
            <a:endParaRPr lang="es-ES" sz="800" dirty="0"/>
          </a:p>
        </p:txBody>
      </p:sp>
      <p:sp>
        <p:nvSpPr>
          <p:cNvPr id="16" name="Shape 16"/>
          <p:cNvSpPr/>
          <p:nvPr/>
        </p:nvSpPr>
        <p:spPr>
          <a:xfrm>
            <a:off x="2212848" y="1403604"/>
            <a:ext cx="1242060" cy="987552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17" name="Shape 17"/>
          <p:cNvSpPr/>
          <p:nvPr/>
        </p:nvSpPr>
        <p:spPr>
          <a:xfrm>
            <a:off x="2304288" y="1495044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1</a:t>
            </a:r>
            <a:endParaRPr lang="es-ES" sz="900" dirty="0"/>
          </a:p>
        </p:txBody>
      </p:sp>
      <p:sp>
        <p:nvSpPr>
          <p:cNvPr id="18" name="Shape 18"/>
          <p:cNvSpPr txBox="1"/>
          <p:nvPr/>
        </p:nvSpPr>
        <p:spPr>
          <a:xfrm>
            <a:off x="2304288" y="1815084"/>
            <a:ext cx="10957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50" b="0" i="0" dirty="0">
                <a:solidFill>
                  <a:srgbClr val="00263A"/>
                </a:solidFill>
                <a:latin typeface="Montserrat"/>
                <a:cs typeface="Montserrat"/>
              </a:rPr>
              <a:t>Fijan mínimo y máximo por referencia</a:t>
            </a:r>
            <a:endParaRPr lang="es-ES" sz="850" dirty="0"/>
          </a:p>
        </p:txBody>
      </p:sp>
      <p:sp>
        <p:nvSpPr>
          <p:cNvPr id="19" name="Shape 19"/>
          <p:cNvSpPr/>
          <p:nvPr/>
        </p:nvSpPr>
        <p:spPr>
          <a:xfrm>
            <a:off x="3765804" y="2619756"/>
            <a:ext cx="1242060" cy="987552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0" name="Shape 20"/>
          <p:cNvSpPr/>
          <p:nvPr/>
        </p:nvSpPr>
        <p:spPr>
          <a:xfrm>
            <a:off x="3857244" y="2711196"/>
            <a:ext cx="274320" cy="274320"/>
          </a:xfrm>
          <a:prstGeom prst="ellipse">
            <a:avLst/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2</a:t>
            </a:r>
            <a:endParaRPr lang="es-ES" sz="900" dirty="0"/>
          </a:p>
        </p:txBody>
      </p:sp>
      <p:sp>
        <p:nvSpPr>
          <p:cNvPr id="21" name="Shape 21"/>
          <p:cNvSpPr txBox="1"/>
          <p:nvPr/>
        </p:nvSpPr>
        <p:spPr>
          <a:xfrm>
            <a:off x="3857244" y="3031236"/>
            <a:ext cx="10957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50" b="0" i="0" dirty="0">
                <a:solidFill>
                  <a:srgbClr val="00263A"/>
                </a:solidFill>
                <a:latin typeface="Montserrat"/>
                <a:cs typeface="Montserrat"/>
              </a:rPr>
              <a:t>Stock bajo mínimo: calcula la necesidad y propone la carga</a:t>
            </a:r>
            <a:endParaRPr lang="es-ES" sz="850" dirty="0"/>
          </a:p>
        </p:txBody>
      </p:sp>
      <p:sp>
        <p:nvSpPr>
          <p:cNvPr id="22" name="Shape 22"/>
          <p:cNvSpPr/>
          <p:nvPr/>
        </p:nvSpPr>
        <p:spPr>
          <a:xfrm>
            <a:off x="5318760" y="2619756"/>
            <a:ext cx="1242060" cy="987552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3" name="Shape 23"/>
          <p:cNvSpPr/>
          <p:nvPr/>
        </p:nvSpPr>
        <p:spPr>
          <a:xfrm>
            <a:off x="5410200" y="2711196"/>
            <a:ext cx="274320" cy="274320"/>
          </a:xfrm>
          <a:prstGeom prst="ellipse">
            <a:avLst/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3</a:t>
            </a:r>
            <a:endParaRPr lang="es-ES" sz="900" dirty="0"/>
          </a:p>
        </p:txBody>
      </p:sp>
      <p:sp>
        <p:nvSpPr>
          <p:cNvPr id="24" name="Shape 24"/>
          <p:cNvSpPr txBox="1"/>
          <p:nvPr/>
        </p:nvSpPr>
        <p:spPr>
          <a:xfrm>
            <a:off x="5410200" y="3031236"/>
            <a:ext cx="10957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50" b="0" i="0" dirty="0">
                <a:solidFill>
                  <a:srgbClr val="00263A"/>
                </a:solidFill>
                <a:latin typeface="Montserrat"/>
                <a:cs typeface="Montserrat"/>
              </a:rPr>
              <a:t>Crea pedidos de compra y venta mapeados, en Salesforce</a:t>
            </a:r>
            <a:endParaRPr lang="es-ES" sz="850" dirty="0"/>
          </a:p>
        </p:txBody>
      </p:sp>
      <p:sp>
        <p:nvSpPr>
          <p:cNvPr id="25" name="Shape 25"/>
          <p:cNvSpPr/>
          <p:nvPr/>
        </p:nvSpPr>
        <p:spPr>
          <a:xfrm>
            <a:off x="6871716" y="3835908"/>
            <a:ext cx="1242060" cy="987552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6" name="Shape 26"/>
          <p:cNvSpPr/>
          <p:nvPr/>
        </p:nvSpPr>
        <p:spPr>
          <a:xfrm>
            <a:off x="6963156" y="3927348"/>
            <a:ext cx="274320" cy="274320"/>
          </a:xfrm>
          <a:prstGeom prst="ellipse">
            <a:avLst/>
          </a:prstGeom>
          <a:solidFill>
            <a:srgbClr val="244C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4</a:t>
            </a:r>
            <a:endParaRPr lang="es-ES" sz="900" dirty="0"/>
          </a:p>
        </p:txBody>
      </p:sp>
      <p:sp>
        <p:nvSpPr>
          <p:cNvPr id="27" name="Shape 27"/>
          <p:cNvSpPr txBox="1"/>
          <p:nvPr/>
        </p:nvSpPr>
        <p:spPr>
          <a:xfrm>
            <a:off x="6963156" y="4247388"/>
            <a:ext cx="10957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50" b="0" i="0" dirty="0">
                <a:solidFill>
                  <a:srgbClr val="00263A"/>
                </a:solidFill>
                <a:latin typeface="Montserrat"/>
                <a:cs typeface="Montserrat"/>
              </a:rPr>
              <a:t>Planifican contra pedidos de stock y reservan material</a:t>
            </a:r>
            <a:endParaRPr lang="es-ES" sz="850" dirty="0"/>
          </a:p>
        </p:txBody>
      </p:sp>
      <p:sp>
        <p:nvSpPr>
          <p:cNvPr id="28" name="Shape 28"/>
          <p:cNvSpPr/>
          <p:nvPr/>
        </p:nvSpPr>
        <p:spPr>
          <a:xfrm>
            <a:off x="8424672" y="1403604"/>
            <a:ext cx="1242060" cy="987552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29" name="Shape 29"/>
          <p:cNvSpPr/>
          <p:nvPr/>
        </p:nvSpPr>
        <p:spPr>
          <a:xfrm>
            <a:off x="8516112" y="1495044"/>
            <a:ext cx="274320" cy="274320"/>
          </a:xfrm>
          <a:prstGeom prst="ellipse">
            <a:avLst/>
          </a:prstGeom>
          <a:solidFill>
            <a:srgbClr val="00263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FFFFFF"/>
                </a:solidFill>
                <a:latin typeface="Montserrat"/>
                <a:cs typeface="Montserrat"/>
              </a:rPr>
              <a:t>5</a:t>
            </a:r>
            <a:endParaRPr lang="es-ES" sz="900" dirty="0"/>
          </a:p>
        </p:txBody>
      </p:sp>
      <p:sp>
        <p:nvSpPr>
          <p:cNvPr id="30" name="Shape 30"/>
          <p:cNvSpPr txBox="1"/>
          <p:nvPr/>
        </p:nvSpPr>
        <p:spPr>
          <a:xfrm>
            <a:off x="8516112" y="1815084"/>
            <a:ext cx="10957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50" b="0" i="0" dirty="0">
                <a:solidFill>
                  <a:srgbClr val="00263A"/>
                </a:solidFill>
                <a:latin typeface="Montserrat"/>
                <a:cs typeface="Montserrat"/>
              </a:rPr>
              <a:t>Reciben el material con la recepción mejorada</a:t>
            </a:r>
            <a:endParaRPr lang="es-ES" sz="850" dirty="0"/>
          </a:p>
        </p:txBody>
      </p:sp>
      <p:sp>
        <p:nvSpPr>
          <p:cNvPr id="31" name="Shape 31"/>
          <p:cNvSpPr/>
          <p:nvPr/>
        </p:nvSpPr>
        <p:spPr>
          <a:xfrm>
            <a:off x="9977628" y="2619756"/>
            <a:ext cx="1242060" cy="987552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9525">
            <a:solidFill>
              <a:srgbClr val="D7DFE5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s-ES" dirty="0"/>
          </a:p>
        </p:txBody>
      </p:sp>
      <p:sp>
        <p:nvSpPr>
          <p:cNvPr id="32" name="Shape 32"/>
          <p:cNvSpPr/>
          <p:nvPr/>
        </p:nvSpPr>
        <p:spPr>
          <a:xfrm>
            <a:off x="10069068" y="2711196"/>
            <a:ext cx="274320" cy="274320"/>
          </a:xfrm>
          <a:prstGeom prst="ellipse">
            <a:avLst/>
          </a:prstGeom>
          <a:solidFill>
            <a:srgbClr val="98C9E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s-ES" sz="900" b="1" i="0" dirty="0">
                <a:solidFill>
                  <a:srgbClr val="00263A"/>
                </a:solidFill>
                <a:latin typeface="Montserrat"/>
                <a:cs typeface="Montserrat"/>
              </a:rPr>
              <a:t>6</a:t>
            </a:r>
            <a:endParaRPr lang="es-ES" sz="900" dirty="0"/>
          </a:p>
        </p:txBody>
      </p:sp>
      <p:sp>
        <p:nvSpPr>
          <p:cNvPr id="33" name="Shape 33"/>
          <p:cNvSpPr txBox="1"/>
          <p:nvPr/>
        </p:nvSpPr>
        <p:spPr>
          <a:xfrm>
            <a:off x="10069068" y="3031236"/>
            <a:ext cx="109575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850" b="0" i="0" dirty="0">
                <a:solidFill>
                  <a:srgbClr val="00263A"/>
                </a:solidFill>
                <a:latin typeface="Montserrat"/>
                <a:cs typeface="Montserrat"/>
              </a:rPr>
              <a:t>Controla apertura y cierre de pedidos (cierre manual)</a:t>
            </a:r>
            <a:endParaRPr lang="es-ES" sz="850" dirty="0"/>
          </a:p>
        </p:txBody>
      </p:sp>
      <p:cxnSp>
        <p:nvCxnSpPr>
          <p:cNvPr id="34" name="Conector 34"/>
          <p:cNvCxnSpPr/>
          <p:nvPr/>
        </p:nvCxnSpPr>
        <p:spPr>
          <a:xfrm>
            <a:off x="3454908" y="1897380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5" name="Conector 35"/>
          <p:cNvCxnSpPr/>
          <p:nvPr/>
        </p:nvCxnSpPr>
        <p:spPr>
          <a:xfrm>
            <a:off x="3610356" y="1897380"/>
            <a:ext cx="0" cy="1216152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6" name="Conector 36"/>
          <p:cNvCxnSpPr/>
          <p:nvPr/>
        </p:nvCxnSpPr>
        <p:spPr>
          <a:xfrm>
            <a:off x="3610356" y="3113532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37" name="Conector 37"/>
          <p:cNvCxnSpPr/>
          <p:nvPr/>
        </p:nvCxnSpPr>
        <p:spPr>
          <a:xfrm>
            <a:off x="5007864" y="3113532"/>
            <a:ext cx="310896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38" name="Conector 38"/>
          <p:cNvCxnSpPr/>
          <p:nvPr/>
        </p:nvCxnSpPr>
        <p:spPr>
          <a:xfrm>
            <a:off x="6560820" y="3113532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39" name="Conector 39"/>
          <p:cNvCxnSpPr/>
          <p:nvPr/>
        </p:nvCxnSpPr>
        <p:spPr>
          <a:xfrm>
            <a:off x="6716268" y="3113532"/>
            <a:ext cx="0" cy="1216152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0" name="Conector 40"/>
          <p:cNvCxnSpPr/>
          <p:nvPr/>
        </p:nvCxnSpPr>
        <p:spPr>
          <a:xfrm>
            <a:off x="6716268" y="4329684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41" name="Conector 41"/>
          <p:cNvCxnSpPr/>
          <p:nvPr/>
        </p:nvCxnSpPr>
        <p:spPr>
          <a:xfrm>
            <a:off x="8113776" y="4329684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2" name="Conector 42"/>
          <p:cNvCxnSpPr/>
          <p:nvPr/>
        </p:nvCxnSpPr>
        <p:spPr>
          <a:xfrm flipV="1">
            <a:off x="8269224" y="1897380"/>
            <a:ext cx="0" cy="2432304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3" name="Conector 43"/>
          <p:cNvCxnSpPr/>
          <p:nvPr/>
        </p:nvCxnSpPr>
        <p:spPr>
          <a:xfrm>
            <a:off x="8269224" y="1897380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cxnSp>
        <p:nvCxnSpPr>
          <p:cNvPr id="44" name="Conector 44"/>
          <p:cNvCxnSpPr/>
          <p:nvPr/>
        </p:nvCxnSpPr>
        <p:spPr>
          <a:xfrm>
            <a:off x="9666732" y="1897380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5" name="Conector 45"/>
          <p:cNvCxnSpPr/>
          <p:nvPr/>
        </p:nvCxnSpPr>
        <p:spPr>
          <a:xfrm>
            <a:off x="9822180" y="1897380"/>
            <a:ext cx="0" cy="1216152"/>
          </a:xfrm>
          <a:prstGeom prst="straightConnector1">
            <a:avLst/>
          </a:prstGeom>
          <a:ln w="19050" cap="rnd">
            <a:solidFill>
              <a:srgbClr val="244C5A"/>
            </a:solidFill>
          </a:ln>
        </p:spPr>
      </p:cxnSp>
      <p:cxnSp>
        <p:nvCxnSpPr>
          <p:cNvPr id="46" name="Conector 46"/>
          <p:cNvCxnSpPr/>
          <p:nvPr/>
        </p:nvCxnSpPr>
        <p:spPr>
          <a:xfrm>
            <a:off x="9822180" y="3113532"/>
            <a:ext cx="155448" cy="0"/>
          </a:xfrm>
          <a:prstGeom prst="straightConnector1">
            <a:avLst/>
          </a:prstGeom>
          <a:ln w="19050" cap="rnd">
            <a:solidFill>
              <a:srgbClr val="244C5A"/>
            </a:solidFill>
            <a:tailEnd type="triangle" w="med" len="med"/>
          </a:ln>
        </p:spPr>
      </p:cxnSp>
      <p:sp>
        <p:nvSpPr>
          <p:cNvPr id="47" name="Shape 47"/>
          <p:cNvSpPr/>
          <p:nvPr/>
        </p:nvSpPr>
        <p:spPr>
          <a:xfrm>
            <a:off x="548640" y="5056632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EAF3FA"/>
          </a:solidFill>
          <a:ln w="9525">
            <a:solidFill>
              <a:srgbClr val="98C9EB"/>
            </a:solidFill>
          </a:ln>
        </p:spPr>
        <p:txBody>
          <a:bodyPr wrap="square" lIns="274320" tIns="45720" rIns="274320" bIns="45720" rtlCol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ES" sz="1000" b="1" i="0" dirty="0">
                <a:solidFill>
                  <a:srgbClr val="244C5A"/>
                </a:solidFill>
                <a:latin typeface="Montserrat"/>
                <a:cs typeface="Montserrat"/>
              </a:rPr>
              <a:t>Base del sistema:  </a:t>
            </a:r>
            <a:r>
              <a:rPr lang="es-ES" sz="1000" b="0" i="0" dirty="0">
                <a:solidFill>
                  <a:srgbClr val="00263A"/>
                </a:solidFill>
                <a:latin typeface="Montserrat"/>
                <a:cs typeface="Montserrat"/>
              </a:rPr>
              <a:t>tabla Z de mapeo de materiales entre cartoneras y papeleras, y 4 flujos en SAP con stock propio y externo, mínimos, máximos y propuestas de carga por material.</a:t>
            </a:r>
            <a:endParaRPr lang="es-ES" sz="1000" dirty="0"/>
          </a:p>
        </p:txBody>
      </p:sp>
      <p:sp>
        <p:nvSpPr>
          <p:cNvPr id="48" name="Shape 48"/>
          <p:cNvSpPr txBox="1"/>
          <p:nvPr/>
        </p:nvSpPr>
        <p:spPr>
          <a:xfrm>
            <a:off x="10424160" y="6053328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s-ES" sz="900" b="0" i="0" dirty="0">
                <a:solidFill>
                  <a:srgbClr val="9AA9B4"/>
                </a:solidFill>
                <a:latin typeface="Montserrat"/>
                <a:cs typeface="Montserrat"/>
              </a:rPr>
              <a:t>14</a:t>
            </a:r>
            <a:endParaRPr lang="es-E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1302C4BC-522D-AEDB-38C9-DE461F85C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2669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4_Tema de Office">
  <a:themeElements>
    <a:clrScheme name="Personalizado 3">
      <a:dk1>
        <a:srgbClr val="00263A"/>
      </a:dk1>
      <a:lt1>
        <a:srgbClr val="FFFFFF"/>
      </a:lt1>
      <a:dk2>
        <a:srgbClr val="A7A7A7"/>
      </a:dk2>
      <a:lt2>
        <a:srgbClr val="535353"/>
      </a:lt2>
      <a:accent1>
        <a:srgbClr val="D1DDE6"/>
      </a:accent1>
      <a:accent2>
        <a:srgbClr val="9BCBEB"/>
      </a:accent2>
      <a:accent3>
        <a:srgbClr val="244C5A"/>
      </a:accent3>
      <a:accent4>
        <a:srgbClr val="94B7BB"/>
      </a:accent4>
      <a:accent5>
        <a:srgbClr val="C8D8EB"/>
      </a:accent5>
      <a:accent6>
        <a:srgbClr val="001930"/>
      </a:accent6>
      <a:hlink>
        <a:srgbClr val="244C5A"/>
      </a:hlink>
      <a:folHlink>
        <a:srgbClr val="9BCBEB"/>
      </a:folHlink>
    </a:clrScheme>
    <a:fontScheme name="Tema de Office">
      <a:majorFont>
        <a:latin typeface="Helvetica"/>
        <a:ea typeface="Helvetica"/>
        <a:cs typeface="Helvetica"/>
      </a:majorFont>
      <a:minorFont>
        <a:latin typeface="Montserrat Semi Bold"/>
        <a:ea typeface="Montserrat Semi Bold"/>
        <a:cs typeface="Montserrat Semi Bold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chemeClr val="accent6"/>
            </a:solidFill>
            <a:effectLst/>
            <a:uFillTx/>
            <a:latin typeface="+mn-lt"/>
            <a:ea typeface="+mn-ea"/>
            <a:cs typeface="+mn-cs"/>
            <a:sym typeface="Montserrat S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 dirty="0">
            <a:ln>
              <a:noFill/>
            </a:ln>
            <a:solidFill>
              <a:schemeClr val="accent6"/>
            </a:solidFill>
            <a:effectLst/>
            <a:uFillTx/>
            <a:latin typeface="+mn-lt"/>
            <a:ea typeface="+mn-ea"/>
            <a:cs typeface="+mn-cs"/>
            <a:sym typeface="Montserrat Semi Bold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9A001796EFF641A3FF3E67E9A0118F" ma:contentTypeVersion="0" ma:contentTypeDescription="Crear nuevo documento." ma:contentTypeScope="" ma:versionID="4627a3d8309003ba6818bcb7e833fbb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811a6767019e7426d133b42330215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62DCD97-C284-4F08-8EE7-BA7AA4D3C5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400B80-59EE-4429-9CBF-B44159A31E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4D8A436-2D6F-4EAC-B067-AE32550131D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9728</TotalTime>
  <Words>1168</Words>
  <Application>Microsoft Office PowerPoint</Application>
  <PresentationFormat>Panorámica</PresentationFormat>
  <Paragraphs>262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Montserrat</vt:lpstr>
      <vt:lpstr>Montserrat Semi Bold</vt:lpstr>
      <vt:lpstr>Verdana</vt:lpstr>
      <vt:lpstr>4_Tema de Office</vt:lpstr>
      <vt:lpstr>Office Theme</vt:lpstr>
      <vt:lpstr>Planificación de Packaging Mejoras realizadas y próximos pasos por planta Ondupet  ·  Ondupack  ·  MGT + PDA  |  Octubre 2026</vt:lpstr>
      <vt:lpstr>Índice</vt:lpstr>
      <vt:lpstr>Presentación de PowerPoint</vt:lpstr>
      <vt:lpstr>Ondupet · Matriz de procesos</vt:lpstr>
      <vt:lpstr>Presentación de PowerPoint</vt:lpstr>
      <vt:lpstr>Ondupack · Matriz de procesos</vt:lpstr>
      <vt:lpstr>Presentación de PowerPoint</vt:lpstr>
      <vt:lpstr>MGT + PDA · Integración </vt:lpstr>
      <vt:lpstr>MGT + PDA · Hitos y objetivos</vt:lpstr>
      <vt:lpstr>Presentación de PowerPoint</vt:lpstr>
      <vt:lpstr>Proyectos 2027</vt:lpstr>
      <vt:lpstr>Presentación de PowerPoint</vt:lpstr>
      <vt:lpstr>Ondupet · Próximos pasos</vt:lpstr>
      <vt:lpstr>MGT + PDA · Flujo del pull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Lara Hospital</dc:creator>
  <cp:lastModifiedBy>Tejada Fornieles, Enrique</cp:lastModifiedBy>
  <cp:revision>10</cp:revision>
  <dcterms:created xsi:type="dcterms:W3CDTF">2024-06-09T19:11:53Z</dcterms:created>
  <dcterms:modified xsi:type="dcterms:W3CDTF">2026-10-02T06:35:44Z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2024-06-09T00:00:00Z</vt:filetime>
  </property>
  <property fmtid="{D5CDD505-2E9C-101B-9397-08002B2CF9AE}" pid="5" name="ContentTypeId">
    <vt:lpwstr>0x0101005A9A001796EFF641A3FF3E67E9A0118F</vt:lpwstr>
  </property>
</Properties>
</file>